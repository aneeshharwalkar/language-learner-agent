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3"/>
  </p:normalViewPr>
  <p:slideViewPr>
    <p:cSldViewPr snapToGrid="0" snapToObjects="1">
      <p:cViewPr>
        <p:scale>
          <a:sx n="100" d="100"/>
          <a:sy n="100" d="100"/>
        </p:scale>
        <p:origin x="136" y="45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44928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Preston · 0:15</a:t>
            </a:r>
          </a:p>
          <a:p>
            <a:endParaRPr/>
          </a:p>
          <a:p>
            <a:r>
              <a:t>[AUNT HOOK — told to the room before clicking forward]</a:t>
            </a:r>
          </a:p>
          <a:p>
            <a:endParaRPr/>
          </a:p>
          <a:p>
            <a:r>
              <a:t>"My aunt kept a Duolingo streak for three years. Italian, every day. Last summer she finally went to Italy. She stood in front of her own family. And she couldn't speak to them. Three years of correct answers. No conversation. That gap, right there, is our project."</a:t>
            </a:r>
          </a:p>
          <a:p>
            <a:endParaRPr/>
          </a:p>
          <a:p>
            <a:r>
              <a:t>[Click to slide 2]</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Preston · 0:50</a:t>
            </a:r>
          </a:p>
          <a:p>
            <a:endParaRPr/>
          </a:p>
          <a:p>
            <a:r>
              <a:t>"Duolingo is a human-machine system with over 500 million monthly active users. From Week 1 of class, every system sits under three kinds of stressors.</a:t>
            </a:r>
          </a:p>
          <a:p>
            <a:endParaRPr/>
          </a:p>
          <a:p>
            <a:r>
              <a:t>Internal: cognitive load, and the illusion that seeing a word again means you know it.</a:t>
            </a:r>
          </a:p>
          <a:p>
            <a:endParaRPr/>
          </a:p>
          <a:p>
            <a:r>
              <a:t>External: streaks, XP, the stuff the app makes you feel bad about when you miss a day.</a:t>
            </a:r>
          </a:p>
          <a:p>
            <a:endParaRPr/>
          </a:p>
          <a:p>
            <a:r>
              <a:t>Organizational: Duolingo's business rewards daily active users. Christensen's Innovator's Dilemma — they can't rebuild around real conversation without breaking the metric paying the bills."</a:t>
            </a:r>
          </a:p>
          <a:p>
            <a:endParaRPr/>
          </a:p>
          <a:p>
            <a:r>
              <a:t>[~50 seconds. Hand off to Aneesh.]</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Aneesh · 0:50</a:t>
            </a:r>
          </a:p>
          <a:p>
            <a:endParaRPr/>
          </a:p>
          <a:p>
            <a:r>
              <a:t>"Jiang, Rollinson, and Plonsky put Duolingo learners through the ACTFL proficiency scale. Reading topped out at Intermediate Low. Listening at Novice High. Speaking — speaking was never tested.</a:t>
            </a:r>
          </a:p>
          <a:p>
            <a:endParaRPr/>
          </a:p>
          <a:p>
            <a:r>
              <a:t>In the peer-reviewed outcome research we surveyed, the paper itself says: 'no other skills were assessed.'</a:t>
            </a:r>
          </a:p>
          <a:p>
            <a:endParaRPr/>
          </a:p>
          <a:p>
            <a:r>
              <a:t>So the ceiling is real, it's measurable, and the productive skills, the ones that let you actually have a conversation, are invisible to the system that claims to be teaching you."</a:t>
            </a:r>
          </a:p>
          <a:p>
            <a:endParaRPr/>
          </a:p>
          <a:p>
            <a:r>
              <a:t>[~50 seconds.]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Aneesh · 0:45</a:t>
            </a:r>
          </a:p>
          <a:p>
            <a:endParaRPr/>
          </a:p>
          <a:p>
            <a:r>
              <a:t>"We ran the four HF demand lenses from class.</a:t>
            </a:r>
          </a:p>
          <a:p>
            <a:endParaRPr/>
          </a:p>
          <a:p>
            <a:r>
              <a:t>Attention: the learner's gaze and mental budget go to XP bars and streaks, not to language.</a:t>
            </a:r>
          </a:p>
          <a:p>
            <a:endParaRPr/>
          </a:p>
          <a:p>
            <a:r>
              <a:t>Memory: Duolingo exercises Baddeley's Phonological Loop — verbal rehearsal — but never the Episodic Buffer, the part of working memory that binds words to context.</a:t>
            </a:r>
          </a:p>
          <a:p>
            <a:endParaRPr/>
          </a:p>
          <a:p>
            <a:r>
              <a:t>Workload: over-loaded on gamification. Under-loaded on speech production.</a:t>
            </a:r>
          </a:p>
          <a:p>
            <a:endParaRPr/>
          </a:p>
          <a:p>
            <a:r>
              <a:t>Cognition: the real-world knowledge you need for actual conversation is never built.</a:t>
            </a:r>
          </a:p>
          <a:p>
            <a:endParaRPr/>
          </a:p>
          <a:p>
            <a:r>
              <a:t>The recognition task succeeds. The production task fails."</a:t>
            </a:r>
          </a:p>
          <a:p>
            <a:endParaRPr/>
          </a:p>
          <a:p>
            <a:r>
              <a:t>[~45 seconds.]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Preston · 0:40</a:t>
            </a:r>
          </a:p>
          <a:p>
            <a:endParaRPr/>
          </a:p>
          <a:p>
            <a:r>
              <a:t>"Two-week timeline, so we are upfront: the biggest threat to validity is no primary data.</a:t>
            </a:r>
          </a:p>
          <a:p>
            <a:endParaRPr/>
          </a:p>
          <a:p>
            <a:r>
              <a:t>Our approach is research-and-build. Fifteen peer-reviewed sources. Two meta-analyses carrying the effect-size claims: Bibauw at d = 0.58 for dialogue-based learning, Mayer at d = 1.3 for personalized agents.</a:t>
            </a:r>
          </a:p>
          <a:p>
            <a:endParaRPr/>
          </a:p>
          <a:p>
            <a:r>
              <a:t>For causal evidence, we propose a 24-week randomized controlled trial that extends Wang's 2024 design, with dialect-matched conditions and speaking performance as the dependent measure."</a:t>
            </a:r>
          </a:p>
          <a:p>
            <a:endParaRPr/>
          </a:p>
          <a:p>
            <a:r>
              <a:t>[~40 seconds. Hand off to Aneesh.]</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Aneesh · 0:35</a:t>
            </a:r>
          </a:p>
          <a:p>
            <a:endParaRPr/>
          </a:p>
          <a:p>
            <a:r>
              <a:t>"For the Human Factors analysis itself we used HFACS — the Human Factors Analysis and Classification System, built on Reason's Swiss Cheese model.</a:t>
            </a:r>
          </a:p>
          <a:p>
            <a:endParaRPr/>
          </a:p>
          <a:p>
            <a:r>
              <a:t>Four layers of defense. Level 4: Organizational Influences. Level 3: Unsafe Supervision. Level 2: Preconditions. Level 1: Unsafe Acts at the operator.</a:t>
            </a:r>
          </a:p>
          <a:p>
            <a:endParaRPr/>
          </a:p>
          <a:p>
            <a:r>
              <a:t>The course's core tenet: work backward through all four. When the holes line up, an incident gets through. Don't blame the person — look for where the system failed."</a:t>
            </a:r>
          </a:p>
          <a:p>
            <a:endParaRPr/>
          </a:p>
          <a:p>
            <a:r>
              <a:t>[~35 seconds. Set up the star slide.]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Aneesh · 1:10  ★ STAR SLIDE — earns the Systems Thinking points</a:t>
            </a:r>
          </a:p>
          <a:p>
            <a:endParaRPr/>
          </a:p>
          <a:p>
            <a:r>
              <a:t>"Walk it with me, top to bottom.</a:t>
            </a:r>
          </a:p>
          <a:p>
            <a:endParaRPr/>
          </a:p>
          <a:p>
            <a:r>
              <a:t>Level 1: the learner acts on the only signal available, which is XP. In Signal Detection terms, every streak is a False Alarm on the variable that matters.</a:t>
            </a:r>
          </a:p>
          <a:p>
            <a:endParaRPr/>
          </a:p>
          <a:p>
            <a:r>
              <a:t>Level 2: without a supervisor asking for speech, the environment never engages the Episodic Buffer, and words never bind to context. Essoe's working-memory study showed this cleanly: distinct contexts produced 92% retention versus 76% in uniform contexts.</a:t>
            </a:r>
          </a:p>
          <a:p>
            <a:endParaRPr/>
          </a:p>
          <a:p>
            <a:r>
              <a:t>Level 3: Birdbrain, Duolingo's own algorithm, optimizes item-correctness. By TADMUS principles, the supervisor's sensitivity, d-prime, on conversational failure is effectively zero.</a:t>
            </a:r>
          </a:p>
          <a:p>
            <a:endParaRPr/>
          </a:p>
          <a:p>
            <a:r>
              <a:t>Level 4: the organization measures Daily Active Users, which explicitly excludes speaking.</a:t>
            </a:r>
          </a:p>
          <a:p>
            <a:endParaRPr/>
          </a:p>
          <a:p>
            <a:r>
              <a:t>The holes line up. This isn't a user mistake. The incident is structurally predicted."</a:t>
            </a:r>
          </a:p>
          <a:p>
            <a:endParaRPr/>
          </a:p>
          <a:p>
            <a:r>
              <a:t>[~70 seconds. This is the rigor + systems-thinking slide.]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Preston · 0:40</a:t>
            </a:r>
          </a:p>
          <a:p>
            <a:endParaRPr/>
          </a:p>
          <a:p>
            <a:r>
              <a:t>"The course says: name the enemy. Rosling, Tufte, Musk. So here they are, named.</a:t>
            </a:r>
          </a:p>
          <a:p>
            <a:endParaRPr/>
          </a:p>
          <a:p>
            <a:r>
              <a:t>One: the Isolated Drill. Vocabulary taught as isolated items, not embedded in any real situation.</a:t>
            </a:r>
          </a:p>
          <a:p>
            <a:endParaRPr/>
          </a:p>
          <a:p>
            <a:r>
              <a:t>Two: the Wrong Signal. Confident feedback about XP and streaks. The wrong variable, amplified.</a:t>
            </a:r>
          </a:p>
          <a:p>
            <a:endParaRPr/>
          </a:p>
          <a:p>
            <a:r>
              <a:t>Three: the Receptive-Only Evidence Base. Duolingo's own research measures reading and listening. Speaking is unsupervised by design.</a:t>
            </a:r>
          </a:p>
          <a:p>
            <a:endParaRPr/>
          </a:p>
          <a:p>
            <a:r>
              <a:t>Four: the Aligned Holes. Fix any single layer in isolation and the cheese still lines up. Our redesign has to span levels."</a:t>
            </a:r>
          </a:p>
          <a:p>
            <a:endParaRPr/>
          </a:p>
          <a:p>
            <a:r>
              <a:t>[~40 seconds. Hand back to Preston for redesign.]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Preston · 1:10  ★ DESIGN / ARCHITECTURAL INSIGHT slide</a:t>
            </a:r>
          </a:p>
          <a:p>
            <a:endParaRPr/>
          </a:p>
          <a:p>
            <a:r>
              <a:t>"Here's the proof-of-concept. A dialect-specific conversational agent — Carlos, Mexican Spanish, and Elena, Castilian — that scaffolds the interaction rather than just responding.</a:t>
            </a:r>
          </a:p>
          <a:p>
            <a:endParaRPr/>
          </a:p>
          <a:p>
            <a:r>
              <a:t>It rests on three findings.</a:t>
            </a:r>
          </a:p>
          <a:p>
            <a:endParaRPr/>
          </a:p>
          <a:p>
            <a:r>
              <a:t>One: Bibauw's 2022 meta-analysis across seventeen studies. Dialogue-based learning produces a medium effect, d equals point-five-eight, on second-language proficiency.</a:t>
            </a:r>
          </a:p>
          <a:p>
            <a:endParaRPr/>
          </a:p>
          <a:p>
            <a:r>
              <a:t>Two: Mayer's Personalization Principle. d equals one-point-three across ten of ten experiments. Embodiment and conversational style aren't UX decoration — they're the mechanism.</a:t>
            </a:r>
          </a:p>
          <a:p>
            <a:endParaRPr/>
          </a:p>
          <a:p>
            <a:r>
              <a:t>Three: Geeslin and Long. Communicative competence requires acquiring real regional speech patterns. Classrooms don't provide that. Duolingo doesn't provide that. That's our wedge."</a:t>
            </a:r>
          </a:p>
          <a:p>
            <a:endParaRPr/>
          </a:p>
          <a:p>
            <a:r>
              <a:t>[~70 seconds. Hand off to Aneesh.]</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Aneesh · 0:55</a:t>
            </a:r>
          </a:p>
          <a:p>
            <a:endParaRPr/>
          </a:p>
          <a:p>
            <a:r>
              <a:t>"Here's the system map. Before, Duolingo's loop runs learner to item to XP, and the loop closes on the wrong variable. After, the agent sits in the middle, dialogue scaffolds context, and feedback is about production — speaking — not recognition.</a:t>
            </a:r>
          </a:p>
          <a:p>
            <a:endParaRPr/>
          </a:p>
          <a:p>
            <a:r>
              <a:t>Three honest gaps. No primary data. No A/B comparing dialect-specific to generic agents. And Wang 2024 — the closest adult-learner GenAI chatbot study — moved willingness to communicate over twelve weeks, but it did not move measured speaking performance.</a:t>
            </a:r>
          </a:p>
          <a:p>
            <a:endParaRPr/>
          </a:p>
          <a:p>
            <a:r>
              <a:t>A proof-of-concept is proof of plausibility, not proof of effect. Our next step is an eye-tracking study at UT's IX Lab to turn the Level 1 attention claim from conceptual to measurable."</a:t>
            </a:r>
          </a:p>
          <a:p>
            <a:endParaRPr/>
          </a:p>
          <a:p>
            <a:r>
              <a:t>[~55 seconds. Hand back to Preston for close.]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Preston · 0:25</a:t>
            </a:r>
          </a:p>
          <a:p>
            <a:endParaRPr/>
          </a:p>
          <a:p>
            <a:r>
              <a:t>"The course taught us one tenet above all: error is a system property, not a human shortcoming.</a:t>
            </a:r>
          </a:p>
          <a:p>
            <a:endParaRPr/>
          </a:p>
          <a:p>
            <a:r>
              <a:t>Duolingo's learners aren't failing. The system is measuring the wrong thing, so it's teaching the wrong thing.</a:t>
            </a:r>
          </a:p>
          <a:p>
            <a:endParaRPr/>
          </a:p>
          <a:p>
            <a:r>
              <a:t>We built a piece that measures what matters. Thank you."</a:t>
            </a:r>
          </a:p>
          <a:p>
            <a:endParaRPr/>
          </a:p>
          <a:p>
            <a:r>
              <a:t>[~25 seconds. End at 8:00.]</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7315200" cy="274320"/>
          </a:xfrm>
          <a:prstGeom prst="rect">
            <a:avLst/>
          </a:prstGeom>
          <a:noFill/>
        </p:spPr>
        <p:txBody>
          <a:bodyPr wrap="square" lIns="0" tIns="0" rIns="0" bIns="0" anchor="t">
            <a:spAutoFit/>
          </a:bodyPr>
          <a:lstStyle/>
          <a:p>
            <a:pPr algn="l"/>
            <a:r>
              <a:rPr sz="1000" b="1" i="0">
                <a:solidFill>
                  <a:srgbClr val="9AA1AB"/>
                </a:solidFill>
                <a:latin typeface="Helvetica Neue"/>
              </a:rPr>
              <a:t>APPLIED HUMAN FACTORS · SPRING 2026</a:t>
            </a:r>
          </a:p>
        </p:txBody>
      </p:sp>
      <p:sp>
        <p:nvSpPr>
          <p:cNvPr id="3" name="Rectangle 2"/>
          <p:cNvSpPr/>
          <p:nvPr/>
        </p:nvSpPr>
        <p:spPr>
          <a:xfrm>
            <a:off x="6766560" y="512064"/>
            <a:ext cx="4937760" cy="9144"/>
          </a:xfrm>
          <a:prstGeom prst="rect">
            <a:avLst/>
          </a:prstGeom>
          <a:solidFill>
            <a:srgbClr val="282C3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548640" y="2331720"/>
            <a:ext cx="11091672" cy="738664"/>
          </a:xfrm>
          <a:prstGeom prst="rect">
            <a:avLst/>
          </a:prstGeom>
          <a:noFill/>
        </p:spPr>
        <p:txBody>
          <a:bodyPr wrap="square" lIns="0" tIns="0" rIns="0" bIns="0" anchor="t">
            <a:spAutoFit/>
          </a:bodyPr>
          <a:lstStyle/>
          <a:p>
            <a:pPr algn="ctr"/>
            <a:r>
              <a:rPr sz="4800" b="1" i="0" dirty="0">
                <a:solidFill>
                  <a:srgbClr val="F2F3F5"/>
                </a:solidFill>
                <a:latin typeface="Helvetica Neue"/>
              </a:rPr>
              <a:t>Bridging the Learning-Transfer Gap</a:t>
            </a:r>
          </a:p>
        </p:txBody>
      </p:sp>
      <p:sp>
        <p:nvSpPr>
          <p:cNvPr id="5" name="TextBox 4"/>
          <p:cNvSpPr txBox="1"/>
          <p:nvPr/>
        </p:nvSpPr>
        <p:spPr>
          <a:xfrm>
            <a:off x="548640" y="3429000"/>
            <a:ext cx="11091672" cy="430887"/>
          </a:xfrm>
          <a:prstGeom prst="rect">
            <a:avLst/>
          </a:prstGeom>
          <a:noFill/>
        </p:spPr>
        <p:txBody>
          <a:bodyPr wrap="square" lIns="0" tIns="0" rIns="0" bIns="0" anchor="t">
            <a:spAutoFit/>
          </a:bodyPr>
          <a:lstStyle/>
          <a:p>
            <a:pPr algn="ctr"/>
            <a:r>
              <a:rPr sz="2800" b="0" i="0" dirty="0">
                <a:solidFill>
                  <a:srgbClr val="9AA1AB"/>
                </a:solidFill>
                <a:latin typeface="Helvetica Neue"/>
              </a:rPr>
              <a:t>Deploying conversational agents in Duolingo.</a:t>
            </a:r>
          </a:p>
        </p:txBody>
      </p:sp>
      <p:sp>
        <p:nvSpPr>
          <p:cNvPr id="6" name="TextBox 5"/>
          <p:cNvSpPr txBox="1"/>
          <p:nvPr/>
        </p:nvSpPr>
        <p:spPr>
          <a:xfrm>
            <a:off x="548576" y="4877430"/>
            <a:ext cx="11091672" cy="307777"/>
          </a:xfrm>
          <a:prstGeom prst="rect">
            <a:avLst/>
          </a:prstGeom>
          <a:noFill/>
        </p:spPr>
        <p:txBody>
          <a:bodyPr wrap="square" lIns="0" tIns="0" rIns="0" bIns="0" anchor="t">
            <a:spAutoFit/>
          </a:bodyPr>
          <a:lstStyle/>
          <a:p>
            <a:pPr algn="ctr"/>
            <a:r>
              <a:rPr sz="2000" b="1" i="0" dirty="0">
                <a:solidFill>
                  <a:srgbClr val="7B9FE0"/>
                </a:solidFill>
                <a:latin typeface="Helvetica Neue"/>
              </a:rPr>
              <a:t>PRESTON CUSICK · ANEESH HARWALKAR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4" name="TextBox 3"/>
          <p:cNvSpPr txBox="1"/>
          <p:nvPr/>
        </p:nvSpPr>
        <p:spPr>
          <a:xfrm>
            <a:off x="548640" y="868680"/>
            <a:ext cx="11091672" cy="1097280"/>
          </a:xfrm>
          <a:prstGeom prst="rect">
            <a:avLst/>
          </a:prstGeom>
          <a:noFill/>
        </p:spPr>
        <p:txBody>
          <a:bodyPr wrap="square" lIns="0" tIns="0" rIns="0" bIns="0" anchor="t">
            <a:spAutoFit/>
          </a:bodyPr>
          <a:lstStyle/>
          <a:p>
            <a:pPr algn="l"/>
            <a:r>
              <a:rPr sz="4400" b="1" i="0">
                <a:solidFill>
                  <a:srgbClr val="F2F3F5"/>
                </a:solidFill>
                <a:latin typeface="Helvetica Neue"/>
              </a:rPr>
              <a:t>500M+ monthly active users.</a:t>
            </a:r>
          </a:p>
        </p:txBody>
      </p:sp>
      <p:sp>
        <p:nvSpPr>
          <p:cNvPr id="5" name="TextBox 4"/>
          <p:cNvSpPr txBox="1"/>
          <p:nvPr/>
        </p:nvSpPr>
        <p:spPr>
          <a:xfrm>
            <a:off x="548640" y="1920240"/>
            <a:ext cx="11091672" cy="307777"/>
          </a:xfrm>
          <a:prstGeom prst="rect">
            <a:avLst/>
          </a:prstGeom>
          <a:noFill/>
        </p:spPr>
        <p:txBody>
          <a:bodyPr wrap="square" lIns="0" tIns="0" rIns="0" bIns="0" anchor="t">
            <a:spAutoFit/>
          </a:bodyPr>
          <a:lstStyle/>
          <a:p>
            <a:pPr algn="l"/>
            <a:r>
              <a:rPr sz="2000" b="0" i="0" dirty="0">
                <a:solidFill>
                  <a:srgbClr val="9AA1AB"/>
                </a:solidFill>
                <a:latin typeface="Helvetica Neue"/>
              </a:rPr>
              <a:t>One of the largest human-machine learning systems on Earth.</a:t>
            </a:r>
          </a:p>
        </p:txBody>
      </p:sp>
      <p:sp>
        <p:nvSpPr>
          <p:cNvPr id="6" name="Rectangle 5"/>
          <p:cNvSpPr/>
          <p:nvPr/>
        </p:nvSpPr>
        <p:spPr>
          <a:xfrm>
            <a:off x="425195" y="3200400"/>
            <a:ext cx="3657600" cy="23774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25195" y="3200400"/>
            <a:ext cx="54864" cy="237744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9515" y="3474720"/>
            <a:ext cx="3200400" cy="215444"/>
          </a:xfrm>
          <a:prstGeom prst="rect">
            <a:avLst/>
          </a:prstGeom>
          <a:noFill/>
        </p:spPr>
        <p:txBody>
          <a:bodyPr wrap="square" lIns="0" tIns="0" rIns="0" bIns="0" anchor="t">
            <a:spAutoFit/>
          </a:bodyPr>
          <a:lstStyle/>
          <a:p>
            <a:pPr algn="l"/>
            <a:r>
              <a:rPr sz="1400" b="1" i="0" dirty="0">
                <a:solidFill>
                  <a:srgbClr val="7B9FE0"/>
                </a:solidFill>
                <a:latin typeface="Helvetica Neue"/>
              </a:rPr>
              <a:t>INTERNAL</a:t>
            </a:r>
            <a:endParaRPr sz="1100" b="1" i="0" dirty="0">
              <a:solidFill>
                <a:srgbClr val="7B9FE0"/>
              </a:solidFill>
              <a:latin typeface="Helvetica Neue"/>
            </a:endParaRPr>
          </a:p>
        </p:txBody>
      </p:sp>
      <p:sp>
        <p:nvSpPr>
          <p:cNvPr id="9" name="TextBox 8"/>
          <p:cNvSpPr txBox="1"/>
          <p:nvPr/>
        </p:nvSpPr>
        <p:spPr>
          <a:xfrm>
            <a:off x="699515" y="3977639"/>
            <a:ext cx="3200400" cy="830997"/>
          </a:xfrm>
          <a:prstGeom prst="rect">
            <a:avLst/>
          </a:prstGeom>
          <a:noFill/>
        </p:spPr>
        <p:txBody>
          <a:bodyPr wrap="square" lIns="0" tIns="0" rIns="0" bIns="0" anchor="t">
            <a:spAutoFit/>
          </a:bodyPr>
          <a:lstStyle/>
          <a:p>
            <a:pPr algn="l"/>
            <a:r>
              <a:rPr b="0" i="0" dirty="0">
                <a:solidFill>
                  <a:srgbClr val="F2F3F5"/>
                </a:solidFill>
                <a:latin typeface="Helvetica Neue"/>
              </a:rPr>
              <a:t>Cognitive load. The illusion that recognizing a word means you know it.</a:t>
            </a:r>
          </a:p>
        </p:txBody>
      </p:sp>
      <p:sp>
        <p:nvSpPr>
          <p:cNvPr id="10" name="Rectangle 9"/>
          <p:cNvSpPr/>
          <p:nvPr/>
        </p:nvSpPr>
        <p:spPr>
          <a:xfrm>
            <a:off x="4265676" y="3200400"/>
            <a:ext cx="3657600" cy="23774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265676" y="3200400"/>
            <a:ext cx="54864" cy="237744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39996" y="3474720"/>
            <a:ext cx="3200400" cy="215444"/>
          </a:xfrm>
          <a:prstGeom prst="rect">
            <a:avLst/>
          </a:prstGeom>
          <a:noFill/>
        </p:spPr>
        <p:txBody>
          <a:bodyPr wrap="square" lIns="0" tIns="0" rIns="0" bIns="0" anchor="t">
            <a:spAutoFit/>
          </a:bodyPr>
          <a:lstStyle/>
          <a:p>
            <a:pPr algn="l"/>
            <a:r>
              <a:rPr sz="1400" b="1" i="0" dirty="0">
                <a:solidFill>
                  <a:srgbClr val="E07BAA"/>
                </a:solidFill>
                <a:latin typeface="Helvetica Neue"/>
              </a:rPr>
              <a:t>EXTERNAL</a:t>
            </a:r>
            <a:endParaRPr sz="1100" b="1" i="0" dirty="0">
              <a:solidFill>
                <a:srgbClr val="E07BAA"/>
              </a:solidFill>
              <a:latin typeface="Helvetica Neue"/>
            </a:endParaRPr>
          </a:p>
        </p:txBody>
      </p:sp>
      <p:sp>
        <p:nvSpPr>
          <p:cNvPr id="13" name="TextBox 12"/>
          <p:cNvSpPr txBox="1"/>
          <p:nvPr/>
        </p:nvSpPr>
        <p:spPr>
          <a:xfrm>
            <a:off x="4539996" y="3977639"/>
            <a:ext cx="3200400" cy="830997"/>
          </a:xfrm>
          <a:prstGeom prst="rect">
            <a:avLst/>
          </a:prstGeom>
          <a:noFill/>
        </p:spPr>
        <p:txBody>
          <a:bodyPr wrap="square" lIns="0" tIns="0" rIns="0" bIns="0" anchor="t">
            <a:spAutoFit/>
          </a:bodyPr>
          <a:lstStyle/>
          <a:p>
            <a:pPr algn="l"/>
            <a:r>
              <a:rPr b="0" i="0">
                <a:solidFill>
                  <a:srgbClr val="F2F3F5"/>
                </a:solidFill>
                <a:latin typeface="Helvetica Neue"/>
              </a:rPr>
              <a:t>Streaks. XP. Gamification that rewards showing up, not speaking.</a:t>
            </a:r>
          </a:p>
        </p:txBody>
      </p:sp>
      <p:sp>
        <p:nvSpPr>
          <p:cNvPr id="14" name="Rectangle 13"/>
          <p:cNvSpPr/>
          <p:nvPr/>
        </p:nvSpPr>
        <p:spPr>
          <a:xfrm>
            <a:off x="8106156" y="3200400"/>
            <a:ext cx="3657600" cy="23774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106156" y="3200400"/>
            <a:ext cx="54864" cy="237744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380476" y="3474720"/>
            <a:ext cx="3200400" cy="215444"/>
          </a:xfrm>
          <a:prstGeom prst="rect">
            <a:avLst/>
          </a:prstGeom>
          <a:noFill/>
        </p:spPr>
        <p:txBody>
          <a:bodyPr wrap="square" lIns="0" tIns="0" rIns="0" bIns="0" anchor="t">
            <a:spAutoFit/>
          </a:bodyPr>
          <a:lstStyle/>
          <a:p>
            <a:pPr algn="l"/>
            <a:r>
              <a:rPr sz="1400" b="1" i="0">
                <a:solidFill>
                  <a:srgbClr val="E0C27B"/>
                </a:solidFill>
                <a:latin typeface="Helvetica Neue"/>
              </a:rPr>
              <a:t>ORGANIZATIONAL</a:t>
            </a:r>
          </a:p>
        </p:txBody>
      </p:sp>
      <p:sp>
        <p:nvSpPr>
          <p:cNvPr id="17" name="TextBox 16"/>
          <p:cNvSpPr txBox="1"/>
          <p:nvPr/>
        </p:nvSpPr>
        <p:spPr>
          <a:xfrm>
            <a:off x="8380476" y="3977639"/>
            <a:ext cx="3200400" cy="830997"/>
          </a:xfrm>
          <a:prstGeom prst="rect">
            <a:avLst/>
          </a:prstGeom>
          <a:noFill/>
        </p:spPr>
        <p:txBody>
          <a:bodyPr wrap="square" lIns="0" tIns="0" rIns="0" bIns="0" anchor="t">
            <a:spAutoFit/>
          </a:bodyPr>
          <a:lstStyle/>
          <a:p>
            <a:pPr algn="l"/>
            <a:r>
              <a:rPr b="0" i="0" dirty="0">
                <a:solidFill>
                  <a:srgbClr val="F2F3F5"/>
                </a:solidFill>
                <a:latin typeface="Helvetica Neue"/>
              </a:rPr>
              <a:t>Daily-active-user incentives. Innovator's Dilemma locks in the wrong metric.</a:t>
            </a:r>
          </a:p>
        </p:txBody>
      </p:sp>
      <p:sp>
        <p:nvSpPr>
          <p:cNvPr id="19" name="TextBox 18">
            <a:extLst>
              <a:ext uri="{FF2B5EF4-FFF2-40B4-BE49-F238E27FC236}">
                <a16:creationId xmlns:a16="http://schemas.microsoft.com/office/drawing/2014/main" id="{60D48785-82E3-0B38-6BCD-54C15B3BBFE4}"/>
              </a:ext>
            </a:extLst>
          </p:cNvPr>
          <p:cNvSpPr txBox="1"/>
          <p:nvPr/>
        </p:nvSpPr>
        <p:spPr>
          <a:xfrm>
            <a:off x="548640" y="411480"/>
            <a:ext cx="6858000" cy="169277"/>
          </a:xfrm>
          <a:prstGeom prst="rect">
            <a:avLst/>
          </a:prstGeom>
          <a:noFill/>
        </p:spPr>
        <p:txBody>
          <a:bodyPr wrap="square" lIns="0" tIns="0" rIns="0" bIns="0" anchor="t">
            <a:spAutoFit/>
          </a:bodyPr>
          <a:lstStyle/>
          <a:p>
            <a:pPr algn="l"/>
            <a:r>
              <a:rPr lang="en-US" sz="1100" b="1" i="0" dirty="0">
                <a:solidFill>
                  <a:srgbClr val="7B9FE0"/>
                </a:solidFill>
                <a:latin typeface="Helvetica Neue"/>
              </a:rPr>
              <a:t>RESEARCH</a:t>
            </a:r>
            <a:endParaRPr sz="1100" b="1" i="0" dirty="0">
              <a:solidFill>
                <a:srgbClr val="7B9FE0"/>
              </a:solidFill>
              <a:latin typeface="Helvetica Neue"/>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169277"/>
          </a:xfrm>
          <a:prstGeom prst="rect">
            <a:avLst/>
          </a:prstGeom>
          <a:noFill/>
        </p:spPr>
        <p:txBody>
          <a:bodyPr wrap="square" lIns="0" tIns="0" rIns="0" bIns="0" anchor="t">
            <a:spAutoFit/>
          </a:bodyPr>
          <a:lstStyle/>
          <a:p>
            <a:pPr algn="l"/>
            <a:r>
              <a:rPr lang="en-US" sz="1100" b="1" i="0" dirty="0">
                <a:solidFill>
                  <a:srgbClr val="7B9FE0"/>
                </a:solidFill>
                <a:latin typeface="Helvetica Neue"/>
              </a:rPr>
              <a:t>RESEARCH</a:t>
            </a:r>
            <a:endParaRPr sz="1100" b="1" i="0" dirty="0">
              <a:solidFill>
                <a:srgbClr val="7B9FE0"/>
              </a:solidFill>
              <a:latin typeface="Helvetica Neue"/>
            </a:endParaRPr>
          </a:p>
        </p:txBody>
      </p:sp>
      <p:sp>
        <p:nvSpPr>
          <p:cNvPr id="4" name="TextBox 3"/>
          <p:cNvSpPr txBox="1"/>
          <p:nvPr/>
        </p:nvSpPr>
        <p:spPr>
          <a:xfrm>
            <a:off x="548640" y="868680"/>
            <a:ext cx="11091672" cy="1005840"/>
          </a:xfrm>
          <a:prstGeom prst="rect">
            <a:avLst/>
          </a:prstGeom>
          <a:noFill/>
        </p:spPr>
        <p:txBody>
          <a:bodyPr wrap="square" lIns="0" tIns="0" rIns="0" bIns="0" anchor="t">
            <a:spAutoFit/>
          </a:bodyPr>
          <a:lstStyle/>
          <a:p>
            <a:pPr algn="l"/>
            <a:r>
              <a:rPr sz="4400" b="1" i="0">
                <a:solidFill>
                  <a:srgbClr val="F2F3F5"/>
                </a:solidFill>
                <a:latin typeface="Helvetica Neue"/>
              </a:rPr>
              <a:t>The measurable ceiling.</a:t>
            </a:r>
          </a:p>
        </p:txBody>
      </p:sp>
      <p:sp>
        <p:nvSpPr>
          <p:cNvPr id="5" name="TextBox 4"/>
          <p:cNvSpPr txBox="1"/>
          <p:nvPr/>
        </p:nvSpPr>
        <p:spPr>
          <a:xfrm>
            <a:off x="548640" y="1874519"/>
            <a:ext cx="11091672" cy="307777"/>
          </a:xfrm>
          <a:prstGeom prst="rect">
            <a:avLst/>
          </a:prstGeom>
          <a:noFill/>
        </p:spPr>
        <p:txBody>
          <a:bodyPr wrap="square" lIns="0" tIns="0" rIns="0" bIns="0" anchor="t">
            <a:spAutoFit/>
          </a:bodyPr>
          <a:lstStyle/>
          <a:p>
            <a:pPr algn="l"/>
            <a:r>
              <a:rPr sz="2000" b="0" i="1">
                <a:solidFill>
                  <a:srgbClr val="9AA1AB"/>
                </a:solidFill>
                <a:latin typeface="Helvetica Neue"/>
              </a:rPr>
              <a:t>Jiang, Rollinson, Plonsky et al. (2021). ACTFL proficiency scale.</a:t>
            </a:r>
          </a:p>
        </p:txBody>
      </p:sp>
      <p:sp>
        <p:nvSpPr>
          <p:cNvPr id="6" name="Rectangle 5"/>
          <p:cNvSpPr/>
          <p:nvPr/>
        </p:nvSpPr>
        <p:spPr>
          <a:xfrm>
            <a:off x="448055" y="2834640"/>
            <a:ext cx="3611880" cy="256032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48055" y="2834640"/>
            <a:ext cx="54864" cy="256032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2375" y="3154680"/>
            <a:ext cx="3154680" cy="215444"/>
          </a:xfrm>
          <a:prstGeom prst="rect">
            <a:avLst/>
          </a:prstGeom>
          <a:noFill/>
        </p:spPr>
        <p:txBody>
          <a:bodyPr wrap="square" lIns="0" tIns="0" rIns="0" bIns="0" anchor="t">
            <a:spAutoFit/>
          </a:bodyPr>
          <a:lstStyle/>
          <a:p>
            <a:pPr algn="l"/>
            <a:r>
              <a:rPr sz="1400" b="1" i="0">
                <a:solidFill>
                  <a:srgbClr val="7B9FE0"/>
                </a:solidFill>
                <a:latin typeface="Helvetica Neue"/>
              </a:rPr>
              <a:t>READING</a:t>
            </a:r>
          </a:p>
        </p:txBody>
      </p:sp>
      <p:sp>
        <p:nvSpPr>
          <p:cNvPr id="9" name="TextBox 8"/>
          <p:cNvSpPr txBox="1"/>
          <p:nvPr/>
        </p:nvSpPr>
        <p:spPr>
          <a:xfrm>
            <a:off x="722375" y="3749039"/>
            <a:ext cx="3154680" cy="777240"/>
          </a:xfrm>
          <a:prstGeom prst="rect">
            <a:avLst/>
          </a:prstGeom>
          <a:noFill/>
        </p:spPr>
        <p:txBody>
          <a:bodyPr wrap="square" lIns="0" tIns="0" rIns="0" bIns="0" anchor="t">
            <a:spAutoFit/>
          </a:bodyPr>
          <a:lstStyle/>
          <a:p>
            <a:pPr algn="l"/>
            <a:r>
              <a:rPr sz="3000" b="1" i="0">
                <a:solidFill>
                  <a:srgbClr val="F2F3F5"/>
                </a:solidFill>
                <a:latin typeface="Helvetica Neue"/>
              </a:rPr>
              <a:t>Intermediate</a:t>
            </a:r>
          </a:p>
        </p:txBody>
      </p:sp>
      <p:sp>
        <p:nvSpPr>
          <p:cNvPr id="10" name="TextBox 9"/>
          <p:cNvSpPr txBox="1"/>
          <p:nvPr/>
        </p:nvSpPr>
        <p:spPr>
          <a:xfrm>
            <a:off x="722375" y="4526280"/>
            <a:ext cx="3154680" cy="502920"/>
          </a:xfrm>
          <a:prstGeom prst="rect">
            <a:avLst/>
          </a:prstGeom>
          <a:noFill/>
        </p:spPr>
        <p:txBody>
          <a:bodyPr wrap="square" lIns="0" tIns="0" rIns="0" bIns="0" anchor="t">
            <a:spAutoFit/>
          </a:bodyPr>
          <a:lstStyle/>
          <a:p>
            <a:pPr algn="l"/>
            <a:r>
              <a:rPr sz="2400" b="0" i="0">
                <a:solidFill>
                  <a:srgbClr val="9AA1AB"/>
                </a:solidFill>
                <a:latin typeface="Helvetica Neue"/>
              </a:rPr>
              <a:t>Low</a:t>
            </a:r>
          </a:p>
        </p:txBody>
      </p:sp>
      <p:sp>
        <p:nvSpPr>
          <p:cNvPr id="11" name="Rectangle 10"/>
          <p:cNvSpPr/>
          <p:nvPr/>
        </p:nvSpPr>
        <p:spPr>
          <a:xfrm>
            <a:off x="4288536" y="2834640"/>
            <a:ext cx="3611880" cy="256032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88536" y="2834640"/>
            <a:ext cx="54864" cy="256032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62855" y="3154680"/>
            <a:ext cx="3154680" cy="215444"/>
          </a:xfrm>
          <a:prstGeom prst="rect">
            <a:avLst/>
          </a:prstGeom>
          <a:noFill/>
        </p:spPr>
        <p:txBody>
          <a:bodyPr wrap="square" lIns="0" tIns="0" rIns="0" bIns="0" anchor="t">
            <a:spAutoFit/>
          </a:bodyPr>
          <a:lstStyle/>
          <a:p>
            <a:pPr algn="l"/>
            <a:r>
              <a:rPr sz="1400" b="1" i="0">
                <a:solidFill>
                  <a:srgbClr val="E0C27B"/>
                </a:solidFill>
                <a:latin typeface="Helvetica Neue"/>
              </a:rPr>
              <a:t>LISTENING</a:t>
            </a:r>
          </a:p>
        </p:txBody>
      </p:sp>
      <p:sp>
        <p:nvSpPr>
          <p:cNvPr id="14" name="TextBox 13"/>
          <p:cNvSpPr txBox="1"/>
          <p:nvPr/>
        </p:nvSpPr>
        <p:spPr>
          <a:xfrm>
            <a:off x="4562855" y="3749039"/>
            <a:ext cx="3154680" cy="777240"/>
          </a:xfrm>
          <a:prstGeom prst="rect">
            <a:avLst/>
          </a:prstGeom>
          <a:noFill/>
        </p:spPr>
        <p:txBody>
          <a:bodyPr wrap="square" lIns="0" tIns="0" rIns="0" bIns="0" anchor="t">
            <a:spAutoFit/>
          </a:bodyPr>
          <a:lstStyle/>
          <a:p>
            <a:pPr algn="l"/>
            <a:r>
              <a:rPr sz="3000" b="1" i="0">
                <a:solidFill>
                  <a:srgbClr val="F2F3F5"/>
                </a:solidFill>
                <a:latin typeface="Helvetica Neue"/>
              </a:rPr>
              <a:t>Novice</a:t>
            </a:r>
          </a:p>
        </p:txBody>
      </p:sp>
      <p:sp>
        <p:nvSpPr>
          <p:cNvPr id="15" name="TextBox 14"/>
          <p:cNvSpPr txBox="1"/>
          <p:nvPr/>
        </p:nvSpPr>
        <p:spPr>
          <a:xfrm>
            <a:off x="4562855" y="4526280"/>
            <a:ext cx="3154680" cy="502920"/>
          </a:xfrm>
          <a:prstGeom prst="rect">
            <a:avLst/>
          </a:prstGeom>
          <a:noFill/>
        </p:spPr>
        <p:txBody>
          <a:bodyPr wrap="square" lIns="0" tIns="0" rIns="0" bIns="0" anchor="t">
            <a:spAutoFit/>
          </a:bodyPr>
          <a:lstStyle/>
          <a:p>
            <a:pPr algn="l"/>
            <a:r>
              <a:rPr sz="2400" b="0" i="0">
                <a:solidFill>
                  <a:srgbClr val="9AA1AB"/>
                </a:solidFill>
                <a:latin typeface="Helvetica Neue"/>
              </a:rPr>
              <a:t>High</a:t>
            </a:r>
          </a:p>
        </p:txBody>
      </p:sp>
      <p:sp>
        <p:nvSpPr>
          <p:cNvPr id="16" name="Rectangle 15"/>
          <p:cNvSpPr/>
          <p:nvPr/>
        </p:nvSpPr>
        <p:spPr>
          <a:xfrm>
            <a:off x="8129016" y="2834640"/>
            <a:ext cx="3611880" cy="256032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29016" y="2834640"/>
            <a:ext cx="54864" cy="256032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403336" y="3154680"/>
            <a:ext cx="3154680" cy="215444"/>
          </a:xfrm>
          <a:prstGeom prst="rect">
            <a:avLst/>
          </a:prstGeom>
          <a:noFill/>
        </p:spPr>
        <p:txBody>
          <a:bodyPr wrap="square" lIns="0" tIns="0" rIns="0" bIns="0" anchor="t">
            <a:spAutoFit/>
          </a:bodyPr>
          <a:lstStyle/>
          <a:p>
            <a:pPr algn="l"/>
            <a:r>
              <a:rPr sz="1400" b="1" i="0">
                <a:solidFill>
                  <a:srgbClr val="E07B7B"/>
                </a:solidFill>
                <a:latin typeface="Helvetica Neue"/>
              </a:rPr>
              <a:t>SPEAKING</a:t>
            </a:r>
          </a:p>
        </p:txBody>
      </p:sp>
      <p:sp>
        <p:nvSpPr>
          <p:cNvPr id="19" name="TextBox 18"/>
          <p:cNvSpPr txBox="1"/>
          <p:nvPr/>
        </p:nvSpPr>
        <p:spPr>
          <a:xfrm>
            <a:off x="8403336" y="3749039"/>
            <a:ext cx="3154680" cy="461665"/>
          </a:xfrm>
          <a:prstGeom prst="rect">
            <a:avLst/>
          </a:prstGeom>
          <a:noFill/>
        </p:spPr>
        <p:txBody>
          <a:bodyPr wrap="square" lIns="0" tIns="0" rIns="0" bIns="0" anchor="t">
            <a:spAutoFit/>
          </a:bodyPr>
          <a:lstStyle/>
          <a:p>
            <a:pPr algn="l"/>
            <a:r>
              <a:rPr lang="en-US" sz="3000" b="1" dirty="0">
                <a:solidFill>
                  <a:srgbClr val="F2F3F5"/>
                </a:solidFill>
                <a:latin typeface="Helvetica Neue"/>
              </a:rPr>
              <a:t>N</a:t>
            </a:r>
            <a:r>
              <a:rPr sz="3000" b="1" i="0" dirty="0">
                <a:solidFill>
                  <a:srgbClr val="F2F3F5"/>
                </a:solidFill>
                <a:latin typeface="Helvetica Neue"/>
              </a:rPr>
              <a:t>ot </a:t>
            </a:r>
            <a:r>
              <a:rPr lang="en-US" sz="3000" b="1" dirty="0">
                <a:solidFill>
                  <a:srgbClr val="F2F3F5"/>
                </a:solidFill>
                <a:latin typeface="Helvetica Neue"/>
              </a:rPr>
              <a:t>A</a:t>
            </a:r>
            <a:r>
              <a:rPr sz="3000" b="1" i="0" dirty="0">
                <a:solidFill>
                  <a:srgbClr val="F2F3F5"/>
                </a:solidFill>
                <a:latin typeface="Helvetica Neue"/>
              </a:rPr>
              <a:t>ssessed</a:t>
            </a:r>
          </a:p>
        </p:txBody>
      </p:sp>
      <p:sp>
        <p:nvSpPr>
          <p:cNvPr id="20" name="TextBox 19"/>
          <p:cNvSpPr txBox="1"/>
          <p:nvPr/>
        </p:nvSpPr>
        <p:spPr>
          <a:xfrm>
            <a:off x="548640" y="5669280"/>
            <a:ext cx="11091672" cy="457200"/>
          </a:xfrm>
          <a:prstGeom prst="rect">
            <a:avLst/>
          </a:prstGeom>
          <a:noFill/>
        </p:spPr>
        <p:txBody>
          <a:bodyPr wrap="square" lIns="0" tIns="0" rIns="0" bIns="0" anchor="t">
            <a:spAutoFit/>
          </a:bodyPr>
          <a:lstStyle/>
          <a:p>
            <a:pPr algn="ctr"/>
            <a:r>
              <a:rPr sz="1800" b="0" i="1">
                <a:solidFill>
                  <a:srgbClr val="9AA1AB"/>
                </a:solidFill>
                <a:latin typeface="Helvetica Neue"/>
              </a:rPr>
              <a:t>"No other skills were assessed."</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169277"/>
          </a:xfrm>
          <a:prstGeom prst="rect">
            <a:avLst/>
          </a:prstGeom>
          <a:noFill/>
        </p:spPr>
        <p:txBody>
          <a:bodyPr wrap="square" lIns="0" tIns="0" rIns="0" bIns="0" anchor="t">
            <a:spAutoFit/>
          </a:bodyPr>
          <a:lstStyle/>
          <a:p>
            <a:pPr algn="l"/>
            <a:r>
              <a:rPr lang="en-US" sz="1100" b="1" i="0" dirty="0">
                <a:solidFill>
                  <a:srgbClr val="E07BAA"/>
                </a:solidFill>
                <a:latin typeface="Helvetica Neue"/>
              </a:rPr>
              <a:t>ANALYSIS</a:t>
            </a:r>
            <a:endParaRPr sz="1100" b="1" i="0" dirty="0">
              <a:solidFill>
                <a:srgbClr val="E07BAA"/>
              </a:solidFill>
              <a:latin typeface="Helvetica Neue"/>
            </a:endParaRPr>
          </a:p>
        </p:txBody>
      </p:sp>
      <p:sp>
        <p:nvSpPr>
          <p:cNvPr id="4" name="TextBox 3"/>
          <p:cNvSpPr txBox="1"/>
          <p:nvPr/>
        </p:nvSpPr>
        <p:spPr>
          <a:xfrm>
            <a:off x="548640" y="868680"/>
            <a:ext cx="11091672" cy="1005840"/>
          </a:xfrm>
          <a:prstGeom prst="rect">
            <a:avLst/>
          </a:prstGeom>
          <a:noFill/>
        </p:spPr>
        <p:txBody>
          <a:bodyPr wrap="square" lIns="0" tIns="0" rIns="0" bIns="0" anchor="t">
            <a:spAutoFit/>
          </a:bodyPr>
          <a:lstStyle/>
          <a:p>
            <a:pPr algn="l"/>
            <a:r>
              <a:rPr sz="4400" b="1" i="0">
                <a:solidFill>
                  <a:srgbClr val="F2F3F5"/>
                </a:solidFill>
                <a:latin typeface="Helvetica Neue"/>
              </a:rPr>
              <a:t>Four lenses on the failure.</a:t>
            </a:r>
          </a:p>
        </p:txBody>
      </p:sp>
      <p:sp>
        <p:nvSpPr>
          <p:cNvPr id="5" name="TextBox 4"/>
          <p:cNvSpPr txBox="1"/>
          <p:nvPr/>
        </p:nvSpPr>
        <p:spPr>
          <a:xfrm>
            <a:off x="548640" y="1874519"/>
            <a:ext cx="11091672" cy="307777"/>
          </a:xfrm>
          <a:prstGeom prst="rect">
            <a:avLst/>
          </a:prstGeom>
          <a:noFill/>
        </p:spPr>
        <p:txBody>
          <a:bodyPr wrap="square" lIns="0" tIns="0" rIns="0" bIns="0" anchor="t">
            <a:spAutoFit/>
          </a:bodyPr>
          <a:lstStyle/>
          <a:p>
            <a:pPr algn="l"/>
            <a:r>
              <a:rPr sz="2000" b="0" i="1" dirty="0">
                <a:solidFill>
                  <a:srgbClr val="9AA1AB"/>
                </a:solidFill>
                <a:latin typeface="Helvetica Neue"/>
              </a:rPr>
              <a:t>The class demand framework: where the system loads and unloads the learner.</a:t>
            </a:r>
          </a:p>
        </p:txBody>
      </p:sp>
      <p:sp>
        <p:nvSpPr>
          <p:cNvPr id="6" name="Rectangle 5"/>
          <p:cNvSpPr/>
          <p:nvPr/>
        </p:nvSpPr>
        <p:spPr>
          <a:xfrm>
            <a:off x="516636" y="2606040"/>
            <a:ext cx="5486400" cy="16916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16636" y="2606040"/>
            <a:ext cx="54864" cy="169164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0956" y="2834640"/>
            <a:ext cx="5029200" cy="215444"/>
          </a:xfrm>
          <a:prstGeom prst="rect">
            <a:avLst/>
          </a:prstGeom>
          <a:noFill/>
        </p:spPr>
        <p:txBody>
          <a:bodyPr wrap="square" lIns="0" tIns="0" rIns="0" bIns="0" anchor="t">
            <a:spAutoFit/>
          </a:bodyPr>
          <a:lstStyle/>
          <a:p>
            <a:pPr algn="l"/>
            <a:r>
              <a:rPr sz="1400" b="1" i="0">
                <a:solidFill>
                  <a:srgbClr val="7B9FE0"/>
                </a:solidFill>
                <a:latin typeface="Helvetica Neue"/>
              </a:rPr>
              <a:t>ATTENTION</a:t>
            </a:r>
          </a:p>
        </p:txBody>
      </p:sp>
      <p:sp>
        <p:nvSpPr>
          <p:cNvPr id="9" name="TextBox 8"/>
          <p:cNvSpPr txBox="1"/>
          <p:nvPr/>
        </p:nvSpPr>
        <p:spPr>
          <a:xfrm>
            <a:off x="790956" y="3291840"/>
            <a:ext cx="5029200" cy="553998"/>
          </a:xfrm>
          <a:prstGeom prst="rect">
            <a:avLst/>
          </a:prstGeom>
          <a:noFill/>
        </p:spPr>
        <p:txBody>
          <a:bodyPr wrap="square" lIns="0" tIns="0" rIns="0" bIns="0" anchor="t">
            <a:spAutoFit/>
          </a:bodyPr>
          <a:lstStyle/>
          <a:p>
            <a:pPr algn="l"/>
            <a:r>
              <a:rPr b="0" i="0" dirty="0">
                <a:solidFill>
                  <a:srgbClr val="F2F3F5"/>
                </a:solidFill>
                <a:latin typeface="Helvetica Neue"/>
              </a:rPr>
              <a:t>Learner gaze fixates on XP and streaks. Inattentional blindness to the linguistic content.</a:t>
            </a:r>
          </a:p>
        </p:txBody>
      </p:sp>
      <p:sp>
        <p:nvSpPr>
          <p:cNvPr id="10" name="Rectangle 9"/>
          <p:cNvSpPr/>
          <p:nvPr/>
        </p:nvSpPr>
        <p:spPr>
          <a:xfrm>
            <a:off x="6185916" y="2606040"/>
            <a:ext cx="5486400" cy="16916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185916" y="2606040"/>
            <a:ext cx="54864" cy="169164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60236" y="2834640"/>
            <a:ext cx="5029200" cy="215444"/>
          </a:xfrm>
          <a:prstGeom prst="rect">
            <a:avLst/>
          </a:prstGeom>
          <a:noFill/>
        </p:spPr>
        <p:txBody>
          <a:bodyPr wrap="square" lIns="0" tIns="0" rIns="0" bIns="0" anchor="t">
            <a:spAutoFit/>
          </a:bodyPr>
          <a:lstStyle/>
          <a:p>
            <a:pPr algn="l"/>
            <a:r>
              <a:rPr sz="1400" b="1" i="0">
                <a:solidFill>
                  <a:srgbClr val="E07BAA"/>
                </a:solidFill>
                <a:latin typeface="Helvetica Neue"/>
              </a:rPr>
              <a:t>MEMORY</a:t>
            </a:r>
          </a:p>
        </p:txBody>
      </p:sp>
      <p:sp>
        <p:nvSpPr>
          <p:cNvPr id="13" name="TextBox 12"/>
          <p:cNvSpPr txBox="1"/>
          <p:nvPr/>
        </p:nvSpPr>
        <p:spPr>
          <a:xfrm>
            <a:off x="6460236" y="3291840"/>
            <a:ext cx="5029200" cy="553998"/>
          </a:xfrm>
          <a:prstGeom prst="rect">
            <a:avLst/>
          </a:prstGeom>
          <a:noFill/>
        </p:spPr>
        <p:txBody>
          <a:bodyPr wrap="square" lIns="0" tIns="0" rIns="0" bIns="0" anchor="t">
            <a:spAutoFit/>
          </a:bodyPr>
          <a:lstStyle/>
          <a:p>
            <a:pPr algn="l"/>
            <a:r>
              <a:rPr b="0" i="0" dirty="0">
                <a:solidFill>
                  <a:srgbClr val="F2F3F5"/>
                </a:solidFill>
                <a:latin typeface="Helvetica Neue"/>
              </a:rPr>
              <a:t>Phonological Loop is exercised. Episodic Buffer is never engaged. Words don't bind to context.</a:t>
            </a:r>
          </a:p>
        </p:txBody>
      </p:sp>
      <p:sp>
        <p:nvSpPr>
          <p:cNvPr id="14" name="Rectangle 13"/>
          <p:cNvSpPr/>
          <p:nvPr/>
        </p:nvSpPr>
        <p:spPr>
          <a:xfrm>
            <a:off x="516636" y="4480560"/>
            <a:ext cx="5486400" cy="16916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516636" y="4480560"/>
            <a:ext cx="54864" cy="169164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90956" y="4709160"/>
            <a:ext cx="5029200" cy="215444"/>
          </a:xfrm>
          <a:prstGeom prst="rect">
            <a:avLst/>
          </a:prstGeom>
          <a:noFill/>
        </p:spPr>
        <p:txBody>
          <a:bodyPr wrap="square" lIns="0" tIns="0" rIns="0" bIns="0" anchor="t">
            <a:spAutoFit/>
          </a:bodyPr>
          <a:lstStyle/>
          <a:p>
            <a:pPr algn="l"/>
            <a:r>
              <a:rPr sz="1400" b="1" i="0">
                <a:solidFill>
                  <a:srgbClr val="E0C27B"/>
                </a:solidFill>
                <a:latin typeface="Helvetica Neue"/>
              </a:rPr>
              <a:t>WORKLOAD</a:t>
            </a:r>
          </a:p>
        </p:txBody>
      </p:sp>
      <p:sp>
        <p:nvSpPr>
          <p:cNvPr id="17" name="TextBox 16"/>
          <p:cNvSpPr txBox="1"/>
          <p:nvPr/>
        </p:nvSpPr>
        <p:spPr>
          <a:xfrm>
            <a:off x="790956" y="5166360"/>
            <a:ext cx="5029200" cy="553998"/>
          </a:xfrm>
          <a:prstGeom prst="rect">
            <a:avLst/>
          </a:prstGeom>
          <a:noFill/>
        </p:spPr>
        <p:txBody>
          <a:bodyPr wrap="square" lIns="0" tIns="0" rIns="0" bIns="0" anchor="t">
            <a:spAutoFit/>
          </a:bodyPr>
          <a:lstStyle/>
          <a:p>
            <a:pPr algn="l"/>
            <a:r>
              <a:rPr b="0" i="0">
                <a:solidFill>
                  <a:srgbClr val="F2F3F5"/>
                </a:solidFill>
                <a:latin typeface="Helvetica Neue"/>
              </a:rPr>
              <a:t>Over-loaded on gamification. Under-loaded on speech production.</a:t>
            </a:r>
          </a:p>
        </p:txBody>
      </p:sp>
      <p:sp>
        <p:nvSpPr>
          <p:cNvPr id="18" name="Rectangle 17"/>
          <p:cNvSpPr/>
          <p:nvPr/>
        </p:nvSpPr>
        <p:spPr>
          <a:xfrm>
            <a:off x="6185916" y="4480560"/>
            <a:ext cx="5486400" cy="16916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185916" y="4480560"/>
            <a:ext cx="54864" cy="169164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460236" y="4709160"/>
            <a:ext cx="5029200" cy="215444"/>
          </a:xfrm>
          <a:prstGeom prst="rect">
            <a:avLst/>
          </a:prstGeom>
          <a:noFill/>
        </p:spPr>
        <p:txBody>
          <a:bodyPr wrap="square" lIns="0" tIns="0" rIns="0" bIns="0" anchor="t">
            <a:spAutoFit/>
          </a:bodyPr>
          <a:lstStyle/>
          <a:p>
            <a:pPr algn="l"/>
            <a:r>
              <a:rPr sz="1400" b="1" i="0">
                <a:solidFill>
                  <a:srgbClr val="7BE0B4"/>
                </a:solidFill>
                <a:latin typeface="Helvetica Neue"/>
              </a:rPr>
              <a:t>COGNITION</a:t>
            </a:r>
          </a:p>
        </p:txBody>
      </p:sp>
      <p:sp>
        <p:nvSpPr>
          <p:cNvPr id="21" name="TextBox 20"/>
          <p:cNvSpPr txBox="1"/>
          <p:nvPr/>
        </p:nvSpPr>
        <p:spPr>
          <a:xfrm>
            <a:off x="6460236" y="5166360"/>
            <a:ext cx="5029200" cy="553998"/>
          </a:xfrm>
          <a:prstGeom prst="rect">
            <a:avLst/>
          </a:prstGeom>
          <a:noFill/>
        </p:spPr>
        <p:txBody>
          <a:bodyPr wrap="square" lIns="0" tIns="0" rIns="0" bIns="0" anchor="t">
            <a:spAutoFit/>
          </a:bodyPr>
          <a:lstStyle/>
          <a:p>
            <a:pPr algn="l"/>
            <a:r>
              <a:rPr b="0" i="0">
                <a:solidFill>
                  <a:srgbClr val="F2F3F5"/>
                </a:solidFill>
                <a:latin typeface="Helvetica Neue"/>
              </a:rPr>
              <a:t>No real-world knowledge built. No regional speech patterns. No conversation skills.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4" name="TextBox 3"/>
          <p:cNvSpPr txBox="1"/>
          <p:nvPr/>
        </p:nvSpPr>
        <p:spPr>
          <a:xfrm>
            <a:off x="548640" y="868680"/>
            <a:ext cx="11091672" cy="1005840"/>
          </a:xfrm>
          <a:prstGeom prst="rect">
            <a:avLst/>
          </a:prstGeom>
          <a:noFill/>
        </p:spPr>
        <p:txBody>
          <a:bodyPr wrap="square" lIns="0" tIns="0" rIns="0" bIns="0" anchor="t">
            <a:spAutoFit/>
          </a:bodyPr>
          <a:lstStyle/>
          <a:p>
            <a:pPr algn="l"/>
            <a:r>
              <a:rPr sz="4400" b="1" i="0">
                <a:solidFill>
                  <a:srgbClr val="F2F3F5"/>
                </a:solidFill>
                <a:latin typeface="Helvetica Neue"/>
              </a:rPr>
              <a:t>How we got here.</a:t>
            </a:r>
          </a:p>
        </p:txBody>
      </p:sp>
      <p:sp>
        <p:nvSpPr>
          <p:cNvPr id="5" name="TextBox 4"/>
          <p:cNvSpPr txBox="1"/>
          <p:nvPr/>
        </p:nvSpPr>
        <p:spPr>
          <a:xfrm>
            <a:off x="548640" y="1874519"/>
            <a:ext cx="11091672" cy="307777"/>
          </a:xfrm>
          <a:prstGeom prst="rect">
            <a:avLst/>
          </a:prstGeom>
          <a:noFill/>
        </p:spPr>
        <p:txBody>
          <a:bodyPr wrap="square" lIns="0" tIns="0" rIns="0" bIns="0" anchor="t">
            <a:spAutoFit/>
          </a:bodyPr>
          <a:lstStyle/>
          <a:p>
            <a:pPr algn="l"/>
            <a:r>
              <a:rPr sz="2000" b="0" i="1">
                <a:solidFill>
                  <a:srgbClr val="9AA1AB"/>
                </a:solidFill>
                <a:latin typeface="Helvetica Neue"/>
              </a:rPr>
              <a:t>Two-week timeline. No primary data. We are upfront about that.</a:t>
            </a:r>
          </a:p>
        </p:txBody>
      </p:sp>
      <p:sp>
        <p:nvSpPr>
          <p:cNvPr id="6" name="Rectangle 5"/>
          <p:cNvSpPr/>
          <p:nvPr/>
        </p:nvSpPr>
        <p:spPr>
          <a:xfrm>
            <a:off x="425195" y="2743200"/>
            <a:ext cx="3657600" cy="2926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25195" y="2743200"/>
            <a:ext cx="54864" cy="292608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99515" y="3017520"/>
            <a:ext cx="3200400" cy="215444"/>
          </a:xfrm>
          <a:prstGeom prst="rect">
            <a:avLst/>
          </a:prstGeom>
          <a:noFill/>
        </p:spPr>
        <p:txBody>
          <a:bodyPr wrap="square" lIns="0" tIns="0" rIns="0" bIns="0" anchor="t">
            <a:spAutoFit/>
          </a:bodyPr>
          <a:lstStyle/>
          <a:p>
            <a:pPr algn="l"/>
            <a:r>
              <a:rPr sz="1400" b="1" i="0">
                <a:solidFill>
                  <a:srgbClr val="7B9FE0"/>
                </a:solidFill>
                <a:latin typeface="Helvetica Neue"/>
              </a:rPr>
              <a:t>EVIDENCE BASE</a:t>
            </a:r>
          </a:p>
        </p:txBody>
      </p:sp>
      <p:sp>
        <p:nvSpPr>
          <p:cNvPr id="9" name="TextBox 8"/>
          <p:cNvSpPr txBox="1"/>
          <p:nvPr/>
        </p:nvSpPr>
        <p:spPr>
          <a:xfrm>
            <a:off x="699515" y="3520440"/>
            <a:ext cx="3200400" cy="914400"/>
          </a:xfrm>
          <a:prstGeom prst="rect">
            <a:avLst/>
          </a:prstGeom>
          <a:noFill/>
        </p:spPr>
        <p:txBody>
          <a:bodyPr wrap="square" lIns="0" tIns="0" rIns="0" bIns="0" anchor="t">
            <a:spAutoFit/>
          </a:bodyPr>
          <a:lstStyle/>
          <a:p>
            <a:pPr algn="l"/>
            <a:r>
              <a:rPr sz="2000" b="1" i="0">
                <a:solidFill>
                  <a:srgbClr val="F2F3F5"/>
                </a:solidFill>
                <a:latin typeface="Helvetica Neue"/>
              </a:rPr>
              <a:t>15 peer-reviewed sources.</a:t>
            </a:r>
          </a:p>
        </p:txBody>
      </p:sp>
      <p:sp>
        <p:nvSpPr>
          <p:cNvPr id="10" name="TextBox 9"/>
          <p:cNvSpPr txBox="1"/>
          <p:nvPr/>
        </p:nvSpPr>
        <p:spPr>
          <a:xfrm>
            <a:off x="699515" y="4526280"/>
            <a:ext cx="3200400" cy="1005840"/>
          </a:xfrm>
          <a:prstGeom prst="rect">
            <a:avLst/>
          </a:prstGeom>
          <a:noFill/>
        </p:spPr>
        <p:txBody>
          <a:bodyPr wrap="square" lIns="0" tIns="0" rIns="0" bIns="0" anchor="t">
            <a:spAutoFit/>
          </a:bodyPr>
          <a:lstStyle/>
          <a:p>
            <a:pPr algn="l"/>
            <a:r>
              <a:rPr sz="1300" b="0" i="0">
                <a:solidFill>
                  <a:srgbClr val="9AA1AB"/>
                </a:solidFill>
                <a:latin typeface="Helvetica Neue"/>
              </a:rPr>
              <a:t>Spans HF, SLA, working memory, and dialogue-based learning.</a:t>
            </a:r>
          </a:p>
        </p:txBody>
      </p:sp>
      <p:sp>
        <p:nvSpPr>
          <p:cNvPr id="11" name="Rectangle 10"/>
          <p:cNvSpPr/>
          <p:nvPr/>
        </p:nvSpPr>
        <p:spPr>
          <a:xfrm>
            <a:off x="4265676" y="2743200"/>
            <a:ext cx="3657600" cy="2926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265676" y="2743200"/>
            <a:ext cx="54864" cy="292608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39996" y="3017520"/>
            <a:ext cx="3200400" cy="215444"/>
          </a:xfrm>
          <a:prstGeom prst="rect">
            <a:avLst/>
          </a:prstGeom>
          <a:noFill/>
        </p:spPr>
        <p:txBody>
          <a:bodyPr wrap="square" lIns="0" tIns="0" rIns="0" bIns="0" anchor="t">
            <a:spAutoFit/>
          </a:bodyPr>
          <a:lstStyle/>
          <a:p>
            <a:pPr algn="l"/>
            <a:r>
              <a:rPr sz="1400" b="1" i="0">
                <a:solidFill>
                  <a:srgbClr val="E07BAA"/>
                </a:solidFill>
                <a:latin typeface="Helvetica Neue"/>
              </a:rPr>
              <a:t>EFFECT SIZES</a:t>
            </a:r>
          </a:p>
        </p:txBody>
      </p:sp>
      <p:sp>
        <p:nvSpPr>
          <p:cNvPr id="14" name="TextBox 13"/>
          <p:cNvSpPr txBox="1"/>
          <p:nvPr/>
        </p:nvSpPr>
        <p:spPr>
          <a:xfrm>
            <a:off x="4539996" y="3520440"/>
            <a:ext cx="3200400" cy="914400"/>
          </a:xfrm>
          <a:prstGeom prst="rect">
            <a:avLst/>
          </a:prstGeom>
          <a:noFill/>
        </p:spPr>
        <p:txBody>
          <a:bodyPr wrap="square" lIns="0" tIns="0" rIns="0" bIns="0" anchor="t">
            <a:spAutoFit/>
          </a:bodyPr>
          <a:lstStyle/>
          <a:p>
            <a:pPr algn="l"/>
            <a:r>
              <a:rPr sz="2000" b="1" i="0">
                <a:solidFill>
                  <a:srgbClr val="F2F3F5"/>
                </a:solidFill>
                <a:latin typeface="Helvetica Neue"/>
              </a:rPr>
              <a:t>Two meta-analyses carry the claims.</a:t>
            </a:r>
          </a:p>
        </p:txBody>
      </p:sp>
      <p:sp>
        <p:nvSpPr>
          <p:cNvPr id="15" name="TextBox 14"/>
          <p:cNvSpPr txBox="1"/>
          <p:nvPr/>
        </p:nvSpPr>
        <p:spPr>
          <a:xfrm>
            <a:off x="4539996" y="4526280"/>
            <a:ext cx="3200400" cy="400110"/>
          </a:xfrm>
          <a:prstGeom prst="rect">
            <a:avLst/>
          </a:prstGeom>
          <a:noFill/>
        </p:spPr>
        <p:txBody>
          <a:bodyPr wrap="square" lIns="0" tIns="0" rIns="0" bIns="0" anchor="t">
            <a:spAutoFit/>
          </a:bodyPr>
          <a:lstStyle/>
          <a:p>
            <a:pPr algn="l"/>
            <a:r>
              <a:rPr sz="1300" b="0" i="0" dirty="0" err="1">
                <a:solidFill>
                  <a:srgbClr val="9AA1AB"/>
                </a:solidFill>
                <a:latin typeface="Helvetica Neue"/>
              </a:rPr>
              <a:t>Bibauw</a:t>
            </a:r>
            <a:r>
              <a:rPr sz="1300" b="0" i="0" dirty="0">
                <a:solidFill>
                  <a:srgbClr val="9AA1AB"/>
                </a:solidFill>
                <a:latin typeface="Helvetica Neue"/>
              </a:rPr>
              <a:t> 2022 · d = 0.58.  </a:t>
            </a:r>
            <a:endParaRPr lang="en-US" sz="1300" b="0" i="0" dirty="0">
              <a:solidFill>
                <a:srgbClr val="9AA1AB"/>
              </a:solidFill>
              <a:latin typeface="Helvetica Neue"/>
            </a:endParaRPr>
          </a:p>
          <a:p>
            <a:pPr algn="l"/>
            <a:r>
              <a:rPr sz="1300" b="0" i="0" dirty="0">
                <a:solidFill>
                  <a:srgbClr val="9AA1AB"/>
                </a:solidFill>
                <a:latin typeface="Helvetica Neue"/>
              </a:rPr>
              <a:t>Mayer 2021 · d = 1.3.</a:t>
            </a:r>
          </a:p>
        </p:txBody>
      </p:sp>
      <p:sp>
        <p:nvSpPr>
          <p:cNvPr id="16" name="Rectangle 15"/>
          <p:cNvSpPr/>
          <p:nvPr/>
        </p:nvSpPr>
        <p:spPr>
          <a:xfrm>
            <a:off x="8106156" y="2743200"/>
            <a:ext cx="3657600" cy="2926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8106156" y="2743200"/>
            <a:ext cx="54864" cy="292608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8380476" y="3017520"/>
            <a:ext cx="3200400" cy="215444"/>
          </a:xfrm>
          <a:prstGeom prst="rect">
            <a:avLst/>
          </a:prstGeom>
          <a:noFill/>
        </p:spPr>
        <p:txBody>
          <a:bodyPr wrap="square" lIns="0" tIns="0" rIns="0" bIns="0" anchor="t">
            <a:spAutoFit/>
          </a:bodyPr>
          <a:lstStyle/>
          <a:p>
            <a:pPr algn="l"/>
            <a:r>
              <a:rPr sz="1400" b="1" i="0">
                <a:solidFill>
                  <a:srgbClr val="7BE0B4"/>
                </a:solidFill>
                <a:latin typeface="Helvetica Neue"/>
              </a:rPr>
              <a:t>PROPOSED RCT</a:t>
            </a:r>
          </a:p>
        </p:txBody>
      </p:sp>
      <p:sp>
        <p:nvSpPr>
          <p:cNvPr id="19" name="TextBox 18"/>
          <p:cNvSpPr txBox="1"/>
          <p:nvPr/>
        </p:nvSpPr>
        <p:spPr>
          <a:xfrm>
            <a:off x="8380476" y="3520440"/>
            <a:ext cx="3200400" cy="914400"/>
          </a:xfrm>
          <a:prstGeom prst="rect">
            <a:avLst/>
          </a:prstGeom>
          <a:noFill/>
        </p:spPr>
        <p:txBody>
          <a:bodyPr wrap="square" lIns="0" tIns="0" rIns="0" bIns="0" anchor="t">
            <a:spAutoFit/>
          </a:bodyPr>
          <a:lstStyle/>
          <a:p>
            <a:pPr algn="l"/>
            <a:r>
              <a:rPr sz="2000" b="1" i="0">
                <a:solidFill>
                  <a:srgbClr val="F2F3F5"/>
                </a:solidFill>
                <a:latin typeface="Helvetica Neue"/>
              </a:rPr>
              <a:t>24-week, dialect-matched.</a:t>
            </a:r>
          </a:p>
        </p:txBody>
      </p:sp>
      <p:sp>
        <p:nvSpPr>
          <p:cNvPr id="20" name="TextBox 19"/>
          <p:cNvSpPr txBox="1"/>
          <p:nvPr/>
        </p:nvSpPr>
        <p:spPr>
          <a:xfrm>
            <a:off x="8380476" y="4526280"/>
            <a:ext cx="3200400" cy="1005840"/>
          </a:xfrm>
          <a:prstGeom prst="rect">
            <a:avLst/>
          </a:prstGeom>
          <a:noFill/>
        </p:spPr>
        <p:txBody>
          <a:bodyPr wrap="square" lIns="0" tIns="0" rIns="0" bIns="0" anchor="t">
            <a:spAutoFit/>
          </a:bodyPr>
          <a:lstStyle/>
          <a:p>
            <a:pPr algn="l"/>
            <a:r>
              <a:rPr sz="1300" b="0" i="0">
                <a:solidFill>
                  <a:srgbClr val="9AA1AB"/>
                </a:solidFill>
                <a:latin typeface="Helvetica Neue"/>
              </a:rPr>
              <a:t>Extends Wang 2024. Speaking performance is the outcome.</a:t>
            </a:r>
          </a:p>
        </p:txBody>
      </p:sp>
      <p:sp>
        <p:nvSpPr>
          <p:cNvPr id="21" name="TextBox 20"/>
          <p:cNvSpPr txBox="1"/>
          <p:nvPr/>
        </p:nvSpPr>
        <p:spPr>
          <a:xfrm>
            <a:off x="548640" y="5943600"/>
            <a:ext cx="11091672" cy="246221"/>
          </a:xfrm>
          <a:prstGeom prst="rect">
            <a:avLst/>
          </a:prstGeom>
          <a:noFill/>
        </p:spPr>
        <p:txBody>
          <a:bodyPr wrap="square" lIns="0" tIns="0" rIns="0" bIns="0" anchor="t">
            <a:spAutoFit/>
          </a:bodyPr>
          <a:lstStyle/>
          <a:p>
            <a:pPr algn="ctr"/>
            <a:r>
              <a:rPr sz="1600" b="0" i="1">
                <a:solidFill>
                  <a:srgbClr val="656B75"/>
                </a:solidFill>
                <a:latin typeface="Helvetica Neue"/>
              </a:rPr>
              <a:t>Cohen's d is a standardized effect size. d = 0.5 is medium, d ≥ 0.8 is large.</a:t>
            </a:r>
          </a:p>
        </p:txBody>
      </p:sp>
      <p:sp>
        <p:nvSpPr>
          <p:cNvPr id="23" name="TextBox 22">
            <a:extLst>
              <a:ext uri="{FF2B5EF4-FFF2-40B4-BE49-F238E27FC236}">
                <a16:creationId xmlns:a16="http://schemas.microsoft.com/office/drawing/2014/main" id="{1CC8D3D7-2F54-44AE-30B2-BCA10C9BA2A2}"/>
              </a:ext>
            </a:extLst>
          </p:cNvPr>
          <p:cNvSpPr txBox="1"/>
          <p:nvPr/>
        </p:nvSpPr>
        <p:spPr>
          <a:xfrm>
            <a:off x="548640" y="411480"/>
            <a:ext cx="6858000" cy="169277"/>
          </a:xfrm>
          <a:prstGeom prst="rect">
            <a:avLst/>
          </a:prstGeom>
          <a:noFill/>
        </p:spPr>
        <p:txBody>
          <a:bodyPr wrap="square" lIns="0" tIns="0" rIns="0" bIns="0" anchor="t">
            <a:spAutoFit/>
          </a:bodyPr>
          <a:lstStyle/>
          <a:p>
            <a:pPr algn="l"/>
            <a:r>
              <a:rPr lang="en-US" sz="1100" b="1" i="0" dirty="0">
                <a:solidFill>
                  <a:srgbClr val="E07BAA"/>
                </a:solidFill>
                <a:latin typeface="Helvetica Neue"/>
              </a:rPr>
              <a:t>ANALYSIS</a:t>
            </a:r>
            <a:endParaRPr sz="1100" b="1" i="0" dirty="0">
              <a:solidFill>
                <a:srgbClr val="E07BAA"/>
              </a:solidFill>
              <a:latin typeface="Helvetica Neue"/>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4" name="TextBox 3"/>
          <p:cNvSpPr txBox="1"/>
          <p:nvPr/>
        </p:nvSpPr>
        <p:spPr>
          <a:xfrm>
            <a:off x="548640" y="868680"/>
            <a:ext cx="11091672" cy="1005840"/>
          </a:xfrm>
          <a:prstGeom prst="rect">
            <a:avLst/>
          </a:prstGeom>
          <a:noFill/>
        </p:spPr>
        <p:txBody>
          <a:bodyPr wrap="square" lIns="0" tIns="0" rIns="0" bIns="0" anchor="t">
            <a:spAutoFit/>
          </a:bodyPr>
          <a:lstStyle/>
          <a:p>
            <a:pPr algn="l"/>
            <a:r>
              <a:rPr sz="4400" b="1" i="0">
                <a:solidFill>
                  <a:srgbClr val="F2F3F5"/>
                </a:solidFill>
                <a:latin typeface="Helvetica Neue"/>
              </a:rPr>
              <a:t>Reason's Swiss Cheese.</a:t>
            </a:r>
          </a:p>
        </p:txBody>
      </p:sp>
      <p:sp>
        <p:nvSpPr>
          <p:cNvPr id="5" name="TextBox 4"/>
          <p:cNvSpPr txBox="1"/>
          <p:nvPr/>
        </p:nvSpPr>
        <p:spPr>
          <a:xfrm>
            <a:off x="548640" y="1874519"/>
            <a:ext cx="11091672" cy="246221"/>
          </a:xfrm>
          <a:prstGeom prst="rect">
            <a:avLst/>
          </a:prstGeom>
          <a:noFill/>
        </p:spPr>
        <p:txBody>
          <a:bodyPr wrap="square" lIns="0" tIns="0" rIns="0" bIns="0" anchor="t">
            <a:spAutoFit/>
          </a:bodyPr>
          <a:lstStyle/>
          <a:p>
            <a:pPr algn="l"/>
            <a:r>
              <a:rPr sz="1600" b="0" i="1">
                <a:solidFill>
                  <a:srgbClr val="9AA1AB"/>
                </a:solidFill>
                <a:latin typeface="Helvetica Neue"/>
              </a:rPr>
              <a:t>Four layers of defense. Don't blame the operator. Work backward through all of them.</a:t>
            </a:r>
          </a:p>
        </p:txBody>
      </p:sp>
      <p:sp>
        <p:nvSpPr>
          <p:cNvPr id="6" name="Rectangle 5"/>
          <p:cNvSpPr/>
          <p:nvPr/>
        </p:nvSpPr>
        <p:spPr>
          <a:xfrm>
            <a:off x="1097280" y="2606040"/>
            <a:ext cx="10058400" cy="640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97280" y="2606040"/>
            <a:ext cx="54864" cy="64008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2818358"/>
            <a:ext cx="6400800" cy="215444"/>
          </a:xfrm>
          <a:prstGeom prst="rect">
            <a:avLst/>
          </a:prstGeom>
          <a:noFill/>
        </p:spPr>
        <p:txBody>
          <a:bodyPr wrap="square" lIns="0" tIns="0" rIns="0" bIns="0" anchor="ctr">
            <a:spAutoFit/>
          </a:bodyPr>
          <a:lstStyle/>
          <a:p>
            <a:pPr algn="l"/>
            <a:r>
              <a:rPr sz="1400" b="1" i="0">
                <a:solidFill>
                  <a:srgbClr val="7B9FE0"/>
                </a:solidFill>
                <a:latin typeface="Helvetica Neue"/>
              </a:rPr>
              <a:t>L4 · ORGANIZATIONAL INFLUENCES</a:t>
            </a:r>
          </a:p>
        </p:txBody>
      </p:sp>
      <p:sp>
        <p:nvSpPr>
          <p:cNvPr id="9" name="Oval 8"/>
          <p:cNvSpPr/>
          <p:nvPr/>
        </p:nvSpPr>
        <p:spPr>
          <a:xfrm>
            <a:off x="4937760" y="2770632"/>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675120" y="2770632"/>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Oval 10"/>
          <p:cNvSpPr/>
          <p:nvPr/>
        </p:nvSpPr>
        <p:spPr>
          <a:xfrm>
            <a:off x="8778240" y="2770632"/>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097280" y="3410712"/>
            <a:ext cx="10058400" cy="640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097280" y="3410712"/>
            <a:ext cx="54864" cy="64008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371600" y="3623030"/>
            <a:ext cx="6400800" cy="215444"/>
          </a:xfrm>
          <a:prstGeom prst="rect">
            <a:avLst/>
          </a:prstGeom>
          <a:noFill/>
        </p:spPr>
        <p:txBody>
          <a:bodyPr wrap="square" lIns="0" tIns="0" rIns="0" bIns="0" anchor="ctr">
            <a:spAutoFit/>
          </a:bodyPr>
          <a:lstStyle/>
          <a:p>
            <a:pPr algn="l"/>
            <a:r>
              <a:rPr sz="1400" b="1" i="0">
                <a:solidFill>
                  <a:srgbClr val="E07BAA"/>
                </a:solidFill>
                <a:latin typeface="Helvetica Neue"/>
              </a:rPr>
              <a:t>L3 · UNSAFE SUPERVISION</a:t>
            </a:r>
          </a:p>
        </p:txBody>
      </p:sp>
      <p:sp>
        <p:nvSpPr>
          <p:cNvPr id="15" name="Oval 14"/>
          <p:cNvSpPr/>
          <p:nvPr/>
        </p:nvSpPr>
        <p:spPr>
          <a:xfrm>
            <a:off x="5669280" y="3575304"/>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8778240" y="3575304"/>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Oval 16"/>
          <p:cNvSpPr/>
          <p:nvPr/>
        </p:nvSpPr>
        <p:spPr>
          <a:xfrm>
            <a:off x="9875519" y="3575304"/>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1097280" y="4215383"/>
            <a:ext cx="10058400" cy="640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97280" y="4215383"/>
            <a:ext cx="54864" cy="6400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71600" y="4427702"/>
            <a:ext cx="6400800" cy="215444"/>
          </a:xfrm>
          <a:prstGeom prst="rect">
            <a:avLst/>
          </a:prstGeom>
          <a:noFill/>
        </p:spPr>
        <p:txBody>
          <a:bodyPr wrap="square" lIns="0" tIns="0" rIns="0" bIns="0" anchor="ctr">
            <a:spAutoFit/>
          </a:bodyPr>
          <a:lstStyle/>
          <a:p>
            <a:pPr algn="l"/>
            <a:r>
              <a:rPr sz="1400" b="1" i="0">
                <a:solidFill>
                  <a:srgbClr val="E0C27B"/>
                </a:solidFill>
                <a:latin typeface="Helvetica Neue"/>
              </a:rPr>
              <a:t>L2 · PRECONDITIONS</a:t>
            </a:r>
          </a:p>
        </p:txBody>
      </p:sp>
      <p:sp>
        <p:nvSpPr>
          <p:cNvPr id="21" name="Oval 20"/>
          <p:cNvSpPr/>
          <p:nvPr/>
        </p:nvSpPr>
        <p:spPr>
          <a:xfrm>
            <a:off x="4206240" y="4379975"/>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Oval 21"/>
          <p:cNvSpPr/>
          <p:nvPr/>
        </p:nvSpPr>
        <p:spPr>
          <a:xfrm>
            <a:off x="8778240" y="4379975"/>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Oval 22"/>
          <p:cNvSpPr/>
          <p:nvPr/>
        </p:nvSpPr>
        <p:spPr>
          <a:xfrm>
            <a:off x="7680960" y="4379975"/>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1097280" y="5020056"/>
            <a:ext cx="10058400" cy="640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1097280" y="5020056"/>
            <a:ext cx="54864" cy="64008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371600" y="5232374"/>
            <a:ext cx="6400800" cy="215444"/>
          </a:xfrm>
          <a:prstGeom prst="rect">
            <a:avLst/>
          </a:prstGeom>
          <a:noFill/>
        </p:spPr>
        <p:txBody>
          <a:bodyPr wrap="square" lIns="0" tIns="0" rIns="0" bIns="0" anchor="ctr">
            <a:spAutoFit/>
          </a:bodyPr>
          <a:lstStyle/>
          <a:p>
            <a:pPr algn="l"/>
            <a:r>
              <a:rPr sz="1400" b="1" i="0">
                <a:solidFill>
                  <a:srgbClr val="E07B7B"/>
                </a:solidFill>
                <a:latin typeface="Helvetica Neue"/>
              </a:rPr>
              <a:t>L1 · UNSAFE ACTS</a:t>
            </a:r>
          </a:p>
        </p:txBody>
      </p:sp>
      <p:sp>
        <p:nvSpPr>
          <p:cNvPr id="27" name="Oval 26"/>
          <p:cNvSpPr/>
          <p:nvPr/>
        </p:nvSpPr>
        <p:spPr>
          <a:xfrm>
            <a:off x="5303520" y="5184648"/>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Oval 27"/>
          <p:cNvSpPr/>
          <p:nvPr/>
        </p:nvSpPr>
        <p:spPr>
          <a:xfrm>
            <a:off x="6949440" y="5184648"/>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Oval 28"/>
          <p:cNvSpPr/>
          <p:nvPr/>
        </p:nvSpPr>
        <p:spPr>
          <a:xfrm>
            <a:off x="8778240" y="5184648"/>
            <a:ext cx="310896" cy="310896"/>
          </a:xfrm>
          <a:prstGeom prst="ellipse">
            <a:avLst/>
          </a:prstGeom>
          <a:solidFill>
            <a:srgbClr val="0B0D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8887521" y="2340864"/>
            <a:ext cx="109729" cy="352044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Isosceles Triangle 30"/>
          <p:cNvSpPr/>
          <p:nvPr/>
        </p:nvSpPr>
        <p:spPr>
          <a:xfrm rot="10800000">
            <a:off x="8732074" y="5861304"/>
            <a:ext cx="402336" cy="274320"/>
          </a:xfrm>
          <a:prstGeom prst="triangle">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027985" y="2024837"/>
            <a:ext cx="1828800" cy="184666"/>
          </a:xfrm>
          <a:prstGeom prst="rect">
            <a:avLst/>
          </a:prstGeom>
          <a:noFill/>
        </p:spPr>
        <p:txBody>
          <a:bodyPr wrap="square" lIns="0" tIns="0" rIns="0" bIns="0" anchor="t">
            <a:spAutoFit/>
          </a:bodyPr>
          <a:lstStyle/>
          <a:p>
            <a:pPr algn="ctr"/>
            <a:r>
              <a:rPr sz="1200" b="1" i="0" dirty="0">
                <a:solidFill>
                  <a:srgbClr val="9AA1AB"/>
                </a:solidFill>
                <a:latin typeface="Helvetica Neue"/>
              </a:rPr>
              <a:t>HAZARD</a:t>
            </a:r>
          </a:p>
        </p:txBody>
      </p:sp>
      <p:sp>
        <p:nvSpPr>
          <p:cNvPr id="33" name="TextBox 32"/>
          <p:cNvSpPr txBox="1"/>
          <p:nvPr/>
        </p:nvSpPr>
        <p:spPr>
          <a:xfrm>
            <a:off x="8019288" y="6254271"/>
            <a:ext cx="1828800" cy="184666"/>
          </a:xfrm>
          <a:prstGeom prst="rect">
            <a:avLst/>
          </a:prstGeom>
          <a:noFill/>
        </p:spPr>
        <p:txBody>
          <a:bodyPr wrap="square" lIns="0" tIns="0" rIns="0" bIns="0" anchor="t">
            <a:spAutoFit/>
          </a:bodyPr>
          <a:lstStyle/>
          <a:p>
            <a:pPr algn="ctr"/>
            <a:r>
              <a:rPr sz="1200" b="1" i="0" dirty="0">
                <a:solidFill>
                  <a:srgbClr val="E07B7B"/>
                </a:solidFill>
                <a:latin typeface="Helvetica Neue"/>
              </a:rPr>
              <a:t>INCIDENT</a:t>
            </a:r>
          </a:p>
        </p:txBody>
      </p:sp>
      <p:sp>
        <p:nvSpPr>
          <p:cNvPr id="35" name="TextBox 34">
            <a:extLst>
              <a:ext uri="{FF2B5EF4-FFF2-40B4-BE49-F238E27FC236}">
                <a16:creationId xmlns:a16="http://schemas.microsoft.com/office/drawing/2014/main" id="{0B6B5A6A-7961-D009-6FA6-4664D791DD99}"/>
              </a:ext>
            </a:extLst>
          </p:cNvPr>
          <p:cNvSpPr txBox="1"/>
          <p:nvPr/>
        </p:nvSpPr>
        <p:spPr>
          <a:xfrm>
            <a:off x="548640" y="411480"/>
            <a:ext cx="6858000" cy="169277"/>
          </a:xfrm>
          <a:prstGeom prst="rect">
            <a:avLst/>
          </a:prstGeom>
          <a:noFill/>
        </p:spPr>
        <p:txBody>
          <a:bodyPr wrap="square" lIns="0" tIns="0" rIns="0" bIns="0" anchor="t">
            <a:spAutoFit/>
          </a:bodyPr>
          <a:lstStyle/>
          <a:p>
            <a:pPr algn="l"/>
            <a:r>
              <a:rPr lang="en-US" sz="1100" b="1" i="0" dirty="0">
                <a:solidFill>
                  <a:srgbClr val="E07BAA"/>
                </a:solidFill>
                <a:latin typeface="Helvetica Neue"/>
              </a:rPr>
              <a:t>ANALYSIS</a:t>
            </a:r>
            <a:endParaRPr sz="1100" b="1" i="0" dirty="0">
              <a:solidFill>
                <a:srgbClr val="E07BAA"/>
              </a:solidFill>
              <a:latin typeface="Helvetica Neue"/>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4" name="TextBox 3"/>
          <p:cNvSpPr txBox="1"/>
          <p:nvPr/>
        </p:nvSpPr>
        <p:spPr>
          <a:xfrm>
            <a:off x="548640" y="868680"/>
            <a:ext cx="11091672" cy="1005840"/>
          </a:xfrm>
          <a:prstGeom prst="rect">
            <a:avLst/>
          </a:prstGeom>
          <a:noFill/>
        </p:spPr>
        <p:txBody>
          <a:bodyPr wrap="square" lIns="0" tIns="0" rIns="0" bIns="0" anchor="t">
            <a:spAutoFit/>
          </a:bodyPr>
          <a:lstStyle/>
          <a:p>
            <a:pPr algn="l"/>
            <a:r>
              <a:rPr sz="4400" b="1" i="0">
                <a:solidFill>
                  <a:srgbClr val="F2F3F5"/>
                </a:solidFill>
                <a:latin typeface="Helvetica Neue"/>
              </a:rPr>
              <a:t>The holes line up.</a:t>
            </a:r>
          </a:p>
        </p:txBody>
      </p:sp>
      <p:sp>
        <p:nvSpPr>
          <p:cNvPr id="5" name="TextBox 4"/>
          <p:cNvSpPr txBox="1"/>
          <p:nvPr/>
        </p:nvSpPr>
        <p:spPr>
          <a:xfrm>
            <a:off x="548640" y="1874519"/>
            <a:ext cx="11091672" cy="307777"/>
          </a:xfrm>
          <a:prstGeom prst="rect">
            <a:avLst/>
          </a:prstGeom>
          <a:noFill/>
        </p:spPr>
        <p:txBody>
          <a:bodyPr wrap="square" lIns="0" tIns="0" rIns="0" bIns="0" anchor="t">
            <a:spAutoFit/>
          </a:bodyPr>
          <a:lstStyle/>
          <a:p>
            <a:pPr algn="l"/>
            <a:r>
              <a:rPr sz="2000" b="0" i="1">
                <a:solidFill>
                  <a:srgbClr val="9AA1AB"/>
                </a:solidFill>
                <a:latin typeface="Helvetica Neue"/>
              </a:rPr>
              <a:t>Each level fails into the next. The incident is structurally predicted.</a:t>
            </a:r>
          </a:p>
        </p:txBody>
      </p:sp>
      <p:sp>
        <p:nvSpPr>
          <p:cNvPr id="6" name="Rectangle 5"/>
          <p:cNvSpPr/>
          <p:nvPr/>
        </p:nvSpPr>
        <p:spPr>
          <a:xfrm>
            <a:off x="1097280" y="2560320"/>
            <a:ext cx="10058400" cy="7772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1097280" y="2560320"/>
            <a:ext cx="54864" cy="77724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371600" y="2841217"/>
            <a:ext cx="3840480" cy="215444"/>
          </a:xfrm>
          <a:prstGeom prst="rect">
            <a:avLst/>
          </a:prstGeom>
          <a:noFill/>
        </p:spPr>
        <p:txBody>
          <a:bodyPr wrap="square" lIns="0" tIns="0" rIns="0" bIns="0" anchor="ctr">
            <a:spAutoFit/>
          </a:bodyPr>
          <a:lstStyle/>
          <a:p>
            <a:pPr algn="l"/>
            <a:r>
              <a:rPr sz="1400" b="1" i="0">
                <a:solidFill>
                  <a:srgbClr val="E07B7B"/>
                </a:solidFill>
                <a:latin typeface="Helvetica Neue"/>
              </a:rPr>
              <a:t>L1 · UNSAFE ACTS</a:t>
            </a:r>
          </a:p>
        </p:txBody>
      </p:sp>
      <p:sp>
        <p:nvSpPr>
          <p:cNvPr id="9" name="TextBox 8"/>
          <p:cNvSpPr txBox="1"/>
          <p:nvPr/>
        </p:nvSpPr>
        <p:spPr>
          <a:xfrm>
            <a:off x="5303520" y="2810439"/>
            <a:ext cx="5577840" cy="276999"/>
          </a:xfrm>
          <a:prstGeom prst="rect">
            <a:avLst/>
          </a:prstGeom>
          <a:noFill/>
        </p:spPr>
        <p:txBody>
          <a:bodyPr wrap="square" lIns="0" tIns="0" rIns="0" bIns="0" anchor="ctr">
            <a:spAutoFit/>
          </a:bodyPr>
          <a:lstStyle/>
          <a:p>
            <a:pPr algn="l"/>
            <a:r>
              <a:rPr b="0" i="0">
                <a:solidFill>
                  <a:srgbClr val="F2F3F5"/>
                </a:solidFill>
                <a:latin typeface="Helvetica Neue"/>
              </a:rPr>
              <a:t>The learner sees XP. Gets no real signal on speaking.</a:t>
            </a:r>
          </a:p>
        </p:txBody>
      </p:sp>
      <p:sp>
        <p:nvSpPr>
          <p:cNvPr id="10" name="Rectangle 9"/>
          <p:cNvSpPr/>
          <p:nvPr/>
        </p:nvSpPr>
        <p:spPr>
          <a:xfrm>
            <a:off x="1097280" y="3474720"/>
            <a:ext cx="10058400" cy="7772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097280" y="3474720"/>
            <a:ext cx="54864" cy="77724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1371600" y="3755617"/>
            <a:ext cx="3840480" cy="215444"/>
          </a:xfrm>
          <a:prstGeom prst="rect">
            <a:avLst/>
          </a:prstGeom>
          <a:noFill/>
        </p:spPr>
        <p:txBody>
          <a:bodyPr wrap="square" lIns="0" tIns="0" rIns="0" bIns="0" anchor="ctr">
            <a:spAutoFit/>
          </a:bodyPr>
          <a:lstStyle/>
          <a:p>
            <a:pPr algn="l"/>
            <a:r>
              <a:rPr sz="1400" b="1" i="0">
                <a:solidFill>
                  <a:srgbClr val="E0C27B"/>
                </a:solidFill>
                <a:latin typeface="Helvetica Neue"/>
              </a:rPr>
              <a:t>L2 · PRECONDITIONS</a:t>
            </a:r>
          </a:p>
        </p:txBody>
      </p:sp>
      <p:sp>
        <p:nvSpPr>
          <p:cNvPr id="13" name="TextBox 12"/>
          <p:cNvSpPr txBox="1"/>
          <p:nvPr/>
        </p:nvSpPr>
        <p:spPr>
          <a:xfrm>
            <a:off x="5303520" y="3586340"/>
            <a:ext cx="5577840" cy="553998"/>
          </a:xfrm>
          <a:prstGeom prst="rect">
            <a:avLst/>
          </a:prstGeom>
          <a:noFill/>
        </p:spPr>
        <p:txBody>
          <a:bodyPr wrap="square" lIns="0" tIns="0" rIns="0" bIns="0" anchor="ctr">
            <a:spAutoFit/>
          </a:bodyPr>
          <a:lstStyle/>
          <a:p>
            <a:pPr algn="l"/>
            <a:r>
              <a:rPr b="0" i="0">
                <a:solidFill>
                  <a:srgbClr val="F2F3F5"/>
                </a:solidFill>
                <a:latin typeface="Helvetica Neue"/>
              </a:rPr>
              <a:t>Episodic Buffer never engaged. Words don't bind to context.</a:t>
            </a:r>
          </a:p>
        </p:txBody>
      </p:sp>
      <p:sp>
        <p:nvSpPr>
          <p:cNvPr id="14" name="Rectangle 13"/>
          <p:cNvSpPr/>
          <p:nvPr/>
        </p:nvSpPr>
        <p:spPr>
          <a:xfrm>
            <a:off x="1097280" y="4389120"/>
            <a:ext cx="10058400" cy="7772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1097280" y="4389120"/>
            <a:ext cx="54864" cy="77724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371600" y="4670018"/>
            <a:ext cx="3840480" cy="215444"/>
          </a:xfrm>
          <a:prstGeom prst="rect">
            <a:avLst/>
          </a:prstGeom>
          <a:noFill/>
        </p:spPr>
        <p:txBody>
          <a:bodyPr wrap="square" lIns="0" tIns="0" rIns="0" bIns="0" anchor="ctr">
            <a:spAutoFit/>
          </a:bodyPr>
          <a:lstStyle/>
          <a:p>
            <a:pPr algn="l"/>
            <a:r>
              <a:rPr sz="1400" b="1" i="0">
                <a:solidFill>
                  <a:srgbClr val="E07BAA"/>
                </a:solidFill>
                <a:latin typeface="Helvetica Neue"/>
              </a:rPr>
              <a:t>L3 · UNSAFE SUPERVISION</a:t>
            </a:r>
          </a:p>
        </p:txBody>
      </p:sp>
      <p:sp>
        <p:nvSpPr>
          <p:cNvPr id="17" name="TextBox 16"/>
          <p:cNvSpPr txBox="1"/>
          <p:nvPr/>
        </p:nvSpPr>
        <p:spPr>
          <a:xfrm>
            <a:off x="5303520" y="4500741"/>
            <a:ext cx="5577840" cy="553998"/>
          </a:xfrm>
          <a:prstGeom prst="rect">
            <a:avLst/>
          </a:prstGeom>
          <a:noFill/>
        </p:spPr>
        <p:txBody>
          <a:bodyPr wrap="square" lIns="0" tIns="0" rIns="0" bIns="0" anchor="ctr">
            <a:spAutoFit/>
          </a:bodyPr>
          <a:lstStyle/>
          <a:p>
            <a:pPr algn="l"/>
            <a:r>
              <a:rPr b="0" i="0">
                <a:solidFill>
                  <a:srgbClr val="F2F3F5"/>
                </a:solidFill>
                <a:latin typeface="Helvetica Neue"/>
              </a:rPr>
              <a:t>Birdbrain optimizes item-correctness, not conversation.</a:t>
            </a:r>
          </a:p>
        </p:txBody>
      </p:sp>
      <p:sp>
        <p:nvSpPr>
          <p:cNvPr id="18" name="Rectangle 17"/>
          <p:cNvSpPr/>
          <p:nvPr/>
        </p:nvSpPr>
        <p:spPr>
          <a:xfrm>
            <a:off x="1097280" y="5303520"/>
            <a:ext cx="10058400" cy="7772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1097280" y="5303520"/>
            <a:ext cx="54864" cy="77724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1371600" y="5584418"/>
            <a:ext cx="3840480" cy="215444"/>
          </a:xfrm>
          <a:prstGeom prst="rect">
            <a:avLst/>
          </a:prstGeom>
          <a:noFill/>
        </p:spPr>
        <p:txBody>
          <a:bodyPr wrap="square" lIns="0" tIns="0" rIns="0" bIns="0" anchor="ctr">
            <a:spAutoFit/>
          </a:bodyPr>
          <a:lstStyle/>
          <a:p>
            <a:pPr algn="l"/>
            <a:r>
              <a:rPr sz="1400" b="1" i="0">
                <a:solidFill>
                  <a:srgbClr val="7B9FE0"/>
                </a:solidFill>
                <a:latin typeface="Helvetica Neue"/>
              </a:rPr>
              <a:t>L4 · ORGANIZATIONAL INFLUENCES</a:t>
            </a:r>
          </a:p>
        </p:txBody>
      </p:sp>
      <p:sp>
        <p:nvSpPr>
          <p:cNvPr id="21" name="TextBox 20"/>
          <p:cNvSpPr txBox="1"/>
          <p:nvPr/>
        </p:nvSpPr>
        <p:spPr>
          <a:xfrm>
            <a:off x="5303520" y="5553640"/>
            <a:ext cx="5577840" cy="276999"/>
          </a:xfrm>
          <a:prstGeom prst="rect">
            <a:avLst/>
          </a:prstGeom>
          <a:noFill/>
        </p:spPr>
        <p:txBody>
          <a:bodyPr wrap="square" lIns="0" tIns="0" rIns="0" bIns="0" anchor="ctr">
            <a:spAutoFit/>
          </a:bodyPr>
          <a:lstStyle/>
          <a:p>
            <a:pPr algn="l"/>
            <a:r>
              <a:rPr b="0" i="0">
                <a:solidFill>
                  <a:srgbClr val="F2F3F5"/>
                </a:solidFill>
                <a:latin typeface="Helvetica Neue"/>
              </a:rPr>
              <a:t>DAU metric excludes speaking entirely.</a:t>
            </a:r>
          </a:p>
        </p:txBody>
      </p:sp>
      <p:sp>
        <p:nvSpPr>
          <p:cNvPr id="23" name="TextBox 22">
            <a:extLst>
              <a:ext uri="{FF2B5EF4-FFF2-40B4-BE49-F238E27FC236}">
                <a16:creationId xmlns:a16="http://schemas.microsoft.com/office/drawing/2014/main" id="{CC8155A0-9807-E5EF-E6A3-B1E21F13B3E2}"/>
              </a:ext>
            </a:extLst>
          </p:cNvPr>
          <p:cNvSpPr txBox="1"/>
          <p:nvPr/>
        </p:nvSpPr>
        <p:spPr>
          <a:xfrm>
            <a:off x="548640" y="411480"/>
            <a:ext cx="6858000" cy="169277"/>
          </a:xfrm>
          <a:prstGeom prst="rect">
            <a:avLst/>
          </a:prstGeom>
          <a:noFill/>
        </p:spPr>
        <p:txBody>
          <a:bodyPr wrap="square" lIns="0" tIns="0" rIns="0" bIns="0" anchor="t">
            <a:spAutoFit/>
          </a:bodyPr>
          <a:lstStyle/>
          <a:p>
            <a:pPr algn="l"/>
            <a:r>
              <a:rPr lang="en-US" sz="1100" b="1" i="0" dirty="0">
                <a:solidFill>
                  <a:srgbClr val="E07BAA"/>
                </a:solidFill>
                <a:latin typeface="Helvetica Neue"/>
              </a:rPr>
              <a:t>ANALYSIS</a:t>
            </a:r>
            <a:endParaRPr sz="1100" b="1" i="0" dirty="0">
              <a:solidFill>
                <a:srgbClr val="E07BAA"/>
              </a:solidFill>
              <a:latin typeface="Helvetica Neue"/>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4" name="TextBox 3"/>
          <p:cNvSpPr txBox="1"/>
          <p:nvPr/>
        </p:nvSpPr>
        <p:spPr>
          <a:xfrm>
            <a:off x="548640" y="868680"/>
            <a:ext cx="11091672" cy="1005840"/>
          </a:xfrm>
          <a:prstGeom prst="rect">
            <a:avLst/>
          </a:prstGeom>
          <a:noFill/>
        </p:spPr>
        <p:txBody>
          <a:bodyPr wrap="square" lIns="0" tIns="0" rIns="0" bIns="0" anchor="t">
            <a:spAutoFit/>
          </a:bodyPr>
          <a:lstStyle/>
          <a:p>
            <a:pPr algn="l"/>
            <a:r>
              <a:rPr sz="4400" b="1" i="0">
                <a:solidFill>
                  <a:srgbClr val="F2F3F5"/>
                </a:solidFill>
                <a:latin typeface="Helvetica Neue"/>
              </a:rPr>
              <a:t>Name the enemy.</a:t>
            </a:r>
          </a:p>
        </p:txBody>
      </p:sp>
      <p:sp>
        <p:nvSpPr>
          <p:cNvPr id="5" name="TextBox 4"/>
          <p:cNvSpPr txBox="1"/>
          <p:nvPr/>
        </p:nvSpPr>
        <p:spPr>
          <a:xfrm>
            <a:off x="548640" y="1874519"/>
            <a:ext cx="11091672" cy="411480"/>
          </a:xfrm>
          <a:prstGeom prst="rect">
            <a:avLst/>
          </a:prstGeom>
          <a:noFill/>
        </p:spPr>
        <p:txBody>
          <a:bodyPr wrap="square" lIns="0" tIns="0" rIns="0" bIns="0" anchor="t">
            <a:spAutoFit/>
          </a:bodyPr>
          <a:lstStyle/>
          <a:p>
            <a:pPr algn="l"/>
            <a:r>
              <a:rPr sz="1400" b="0" i="1">
                <a:solidFill>
                  <a:srgbClr val="9AA1AB"/>
                </a:solidFill>
                <a:latin typeface="Helvetica Neue"/>
              </a:rPr>
              <a:t>Rosling. Tufte. Musk. Make the failure concrete.</a:t>
            </a:r>
          </a:p>
        </p:txBody>
      </p:sp>
      <p:sp>
        <p:nvSpPr>
          <p:cNvPr id="6" name="Rectangle 5"/>
          <p:cNvSpPr/>
          <p:nvPr/>
        </p:nvSpPr>
        <p:spPr>
          <a:xfrm>
            <a:off x="516636" y="2560320"/>
            <a:ext cx="5486400" cy="1783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16636" y="2560320"/>
            <a:ext cx="54864" cy="178308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90956" y="2834639"/>
            <a:ext cx="731520" cy="502920"/>
          </a:xfrm>
          <a:prstGeom prst="rect">
            <a:avLst/>
          </a:prstGeom>
          <a:noFill/>
        </p:spPr>
        <p:txBody>
          <a:bodyPr wrap="square" lIns="0" tIns="0" rIns="0" bIns="0" anchor="t">
            <a:spAutoFit/>
          </a:bodyPr>
          <a:lstStyle/>
          <a:p>
            <a:pPr algn="l"/>
            <a:r>
              <a:rPr sz="2000" b="1" i="0">
                <a:solidFill>
                  <a:srgbClr val="E07B7B"/>
                </a:solidFill>
                <a:latin typeface="Helvetica Neue"/>
              </a:rPr>
              <a:t>01</a:t>
            </a:r>
          </a:p>
        </p:txBody>
      </p:sp>
      <p:sp>
        <p:nvSpPr>
          <p:cNvPr id="9" name="TextBox 8"/>
          <p:cNvSpPr txBox="1"/>
          <p:nvPr/>
        </p:nvSpPr>
        <p:spPr>
          <a:xfrm>
            <a:off x="1613916" y="2852927"/>
            <a:ext cx="4206240" cy="457200"/>
          </a:xfrm>
          <a:prstGeom prst="rect">
            <a:avLst/>
          </a:prstGeom>
          <a:noFill/>
        </p:spPr>
        <p:txBody>
          <a:bodyPr wrap="square" lIns="0" tIns="0" rIns="0" bIns="0" anchor="t">
            <a:spAutoFit/>
          </a:bodyPr>
          <a:lstStyle/>
          <a:p>
            <a:pPr algn="l"/>
            <a:r>
              <a:rPr sz="1400" b="1" i="0">
                <a:solidFill>
                  <a:srgbClr val="E07B7B"/>
                </a:solidFill>
                <a:latin typeface="Helvetica Neue"/>
              </a:rPr>
              <a:t>THE ISOLATED DRILL</a:t>
            </a:r>
          </a:p>
        </p:txBody>
      </p:sp>
      <p:sp>
        <p:nvSpPr>
          <p:cNvPr id="10" name="TextBox 9"/>
          <p:cNvSpPr txBox="1"/>
          <p:nvPr/>
        </p:nvSpPr>
        <p:spPr>
          <a:xfrm>
            <a:off x="1613916" y="3383279"/>
            <a:ext cx="4206240" cy="868680"/>
          </a:xfrm>
          <a:prstGeom prst="rect">
            <a:avLst/>
          </a:prstGeom>
          <a:noFill/>
        </p:spPr>
        <p:txBody>
          <a:bodyPr wrap="square" lIns="0" tIns="0" rIns="0" bIns="0" anchor="t">
            <a:spAutoFit/>
          </a:bodyPr>
          <a:lstStyle/>
          <a:p>
            <a:pPr algn="l"/>
            <a:r>
              <a:rPr sz="1300" b="0" i="0">
                <a:solidFill>
                  <a:srgbClr val="F2F3F5"/>
                </a:solidFill>
                <a:latin typeface="Helvetica Neue"/>
              </a:rPr>
              <a:t>Vocabulary taught as isolated items, never embedded in a real situation.</a:t>
            </a:r>
          </a:p>
        </p:txBody>
      </p:sp>
      <p:sp>
        <p:nvSpPr>
          <p:cNvPr id="11" name="Rectangle 10"/>
          <p:cNvSpPr/>
          <p:nvPr/>
        </p:nvSpPr>
        <p:spPr>
          <a:xfrm>
            <a:off x="6185916" y="2560320"/>
            <a:ext cx="5486400" cy="1783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6185916" y="2560320"/>
            <a:ext cx="54864" cy="1783080"/>
          </a:xfrm>
          <a:prstGeom prst="rect">
            <a:avLst/>
          </a:prstGeom>
          <a:solidFill>
            <a:srgbClr val="E0C2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460236" y="2834639"/>
            <a:ext cx="731520" cy="502920"/>
          </a:xfrm>
          <a:prstGeom prst="rect">
            <a:avLst/>
          </a:prstGeom>
          <a:noFill/>
        </p:spPr>
        <p:txBody>
          <a:bodyPr wrap="square" lIns="0" tIns="0" rIns="0" bIns="0" anchor="t">
            <a:spAutoFit/>
          </a:bodyPr>
          <a:lstStyle/>
          <a:p>
            <a:pPr algn="l"/>
            <a:r>
              <a:rPr sz="2000" b="1" i="0">
                <a:solidFill>
                  <a:srgbClr val="E0C27B"/>
                </a:solidFill>
                <a:latin typeface="Helvetica Neue"/>
              </a:rPr>
              <a:t>02</a:t>
            </a:r>
          </a:p>
        </p:txBody>
      </p:sp>
      <p:sp>
        <p:nvSpPr>
          <p:cNvPr id="14" name="TextBox 13"/>
          <p:cNvSpPr txBox="1"/>
          <p:nvPr/>
        </p:nvSpPr>
        <p:spPr>
          <a:xfrm>
            <a:off x="7283196" y="2852927"/>
            <a:ext cx="4206240" cy="457200"/>
          </a:xfrm>
          <a:prstGeom prst="rect">
            <a:avLst/>
          </a:prstGeom>
          <a:noFill/>
        </p:spPr>
        <p:txBody>
          <a:bodyPr wrap="square" lIns="0" tIns="0" rIns="0" bIns="0" anchor="t">
            <a:spAutoFit/>
          </a:bodyPr>
          <a:lstStyle/>
          <a:p>
            <a:pPr algn="l"/>
            <a:r>
              <a:rPr sz="1400" b="1" i="0">
                <a:solidFill>
                  <a:srgbClr val="E0C27B"/>
                </a:solidFill>
                <a:latin typeface="Helvetica Neue"/>
              </a:rPr>
              <a:t>THE WRONG SIGNAL</a:t>
            </a:r>
          </a:p>
        </p:txBody>
      </p:sp>
      <p:sp>
        <p:nvSpPr>
          <p:cNvPr id="15" name="TextBox 14"/>
          <p:cNvSpPr txBox="1"/>
          <p:nvPr/>
        </p:nvSpPr>
        <p:spPr>
          <a:xfrm>
            <a:off x="7283196" y="3383279"/>
            <a:ext cx="4206240" cy="868680"/>
          </a:xfrm>
          <a:prstGeom prst="rect">
            <a:avLst/>
          </a:prstGeom>
          <a:noFill/>
        </p:spPr>
        <p:txBody>
          <a:bodyPr wrap="square" lIns="0" tIns="0" rIns="0" bIns="0" anchor="t">
            <a:spAutoFit/>
          </a:bodyPr>
          <a:lstStyle/>
          <a:p>
            <a:pPr algn="l"/>
            <a:r>
              <a:rPr sz="1300" b="0" i="0">
                <a:solidFill>
                  <a:srgbClr val="F2F3F5"/>
                </a:solidFill>
                <a:latin typeface="Helvetica Neue"/>
              </a:rPr>
              <a:t>Confident feedback about XP and streaks. The wrong variable, amplified.</a:t>
            </a:r>
          </a:p>
        </p:txBody>
      </p:sp>
      <p:sp>
        <p:nvSpPr>
          <p:cNvPr id="16" name="Rectangle 15"/>
          <p:cNvSpPr/>
          <p:nvPr/>
        </p:nvSpPr>
        <p:spPr>
          <a:xfrm>
            <a:off x="516636" y="4526279"/>
            <a:ext cx="5486400" cy="1783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16636" y="4526279"/>
            <a:ext cx="54864" cy="178308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90956" y="4800599"/>
            <a:ext cx="731520" cy="502920"/>
          </a:xfrm>
          <a:prstGeom prst="rect">
            <a:avLst/>
          </a:prstGeom>
          <a:noFill/>
        </p:spPr>
        <p:txBody>
          <a:bodyPr wrap="square" lIns="0" tIns="0" rIns="0" bIns="0" anchor="t">
            <a:spAutoFit/>
          </a:bodyPr>
          <a:lstStyle/>
          <a:p>
            <a:pPr algn="l"/>
            <a:r>
              <a:rPr sz="2000" b="1" i="0">
                <a:solidFill>
                  <a:srgbClr val="E07BAA"/>
                </a:solidFill>
                <a:latin typeface="Helvetica Neue"/>
              </a:rPr>
              <a:t>03</a:t>
            </a:r>
          </a:p>
        </p:txBody>
      </p:sp>
      <p:sp>
        <p:nvSpPr>
          <p:cNvPr id="19" name="TextBox 18"/>
          <p:cNvSpPr txBox="1"/>
          <p:nvPr/>
        </p:nvSpPr>
        <p:spPr>
          <a:xfrm>
            <a:off x="1613916" y="4818888"/>
            <a:ext cx="4206240" cy="457200"/>
          </a:xfrm>
          <a:prstGeom prst="rect">
            <a:avLst/>
          </a:prstGeom>
          <a:noFill/>
        </p:spPr>
        <p:txBody>
          <a:bodyPr wrap="square" lIns="0" tIns="0" rIns="0" bIns="0" anchor="t">
            <a:spAutoFit/>
          </a:bodyPr>
          <a:lstStyle/>
          <a:p>
            <a:pPr algn="l"/>
            <a:r>
              <a:rPr sz="1400" b="1" i="0">
                <a:solidFill>
                  <a:srgbClr val="E07BAA"/>
                </a:solidFill>
                <a:latin typeface="Helvetica Neue"/>
              </a:rPr>
              <a:t>THE RECEPTIVE-ONLY EVIDENCE</a:t>
            </a:r>
          </a:p>
        </p:txBody>
      </p:sp>
      <p:sp>
        <p:nvSpPr>
          <p:cNvPr id="20" name="TextBox 19"/>
          <p:cNvSpPr txBox="1"/>
          <p:nvPr/>
        </p:nvSpPr>
        <p:spPr>
          <a:xfrm>
            <a:off x="1613916" y="5349240"/>
            <a:ext cx="4206240" cy="868680"/>
          </a:xfrm>
          <a:prstGeom prst="rect">
            <a:avLst/>
          </a:prstGeom>
          <a:noFill/>
        </p:spPr>
        <p:txBody>
          <a:bodyPr wrap="square" lIns="0" tIns="0" rIns="0" bIns="0" anchor="t">
            <a:spAutoFit/>
          </a:bodyPr>
          <a:lstStyle/>
          <a:p>
            <a:pPr algn="l"/>
            <a:r>
              <a:rPr sz="1300" b="0" i="0">
                <a:solidFill>
                  <a:srgbClr val="F2F3F5"/>
                </a:solidFill>
                <a:latin typeface="Helvetica Neue"/>
              </a:rPr>
              <a:t>Outcome research covers reading and listening. Speaking is unsupervised.</a:t>
            </a:r>
          </a:p>
        </p:txBody>
      </p:sp>
      <p:sp>
        <p:nvSpPr>
          <p:cNvPr id="21" name="Rectangle 20"/>
          <p:cNvSpPr/>
          <p:nvPr/>
        </p:nvSpPr>
        <p:spPr>
          <a:xfrm>
            <a:off x="6185916" y="4526279"/>
            <a:ext cx="5486400" cy="178308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185916" y="4526279"/>
            <a:ext cx="54864" cy="178308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6460236" y="4800599"/>
            <a:ext cx="731520" cy="502920"/>
          </a:xfrm>
          <a:prstGeom prst="rect">
            <a:avLst/>
          </a:prstGeom>
          <a:noFill/>
        </p:spPr>
        <p:txBody>
          <a:bodyPr wrap="square" lIns="0" tIns="0" rIns="0" bIns="0" anchor="t">
            <a:spAutoFit/>
          </a:bodyPr>
          <a:lstStyle/>
          <a:p>
            <a:pPr algn="l"/>
            <a:r>
              <a:rPr sz="2000" b="1" i="0">
                <a:solidFill>
                  <a:srgbClr val="7B9FE0"/>
                </a:solidFill>
                <a:latin typeface="Helvetica Neue"/>
              </a:rPr>
              <a:t>04</a:t>
            </a:r>
          </a:p>
        </p:txBody>
      </p:sp>
      <p:sp>
        <p:nvSpPr>
          <p:cNvPr id="24" name="TextBox 23"/>
          <p:cNvSpPr txBox="1"/>
          <p:nvPr/>
        </p:nvSpPr>
        <p:spPr>
          <a:xfrm>
            <a:off x="7283196" y="4818888"/>
            <a:ext cx="4206240" cy="457200"/>
          </a:xfrm>
          <a:prstGeom prst="rect">
            <a:avLst/>
          </a:prstGeom>
          <a:noFill/>
        </p:spPr>
        <p:txBody>
          <a:bodyPr wrap="square" lIns="0" tIns="0" rIns="0" bIns="0" anchor="t">
            <a:spAutoFit/>
          </a:bodyPr>
          <a:lstStyle/>
          <a:p>
            <a:pPr algn="l"/>
            <a:r>
              <a:rPr sz="1400" b="1" i="0">
                <a:solidFill>
                  <a:srgbClr val="7B9FE0"/>
                </a:solidFill>
                <a:latin typeface="Helvetica Neue"/>
              </a:rPr>
              <a:t>THE ALIGNED HOLES</a:t>
            </a:r>
          </a:p>
        </p:txBody>
      </p:sp>
      <p:sp>
        <p:nvSpPr>
          <p:cNvPr id="25" name="TextBox 24"/>
          <p:cNvSpPr txBox="1"/>
          <p:nvPr/>
        </p:nvSpPr>
        <p:spPr>
          <a:xfrm>
            <a:off x="7283196" y="5349240"/>
            <a:ext cx="4206240" cy="868680"/>
          </a:xfrm>
          <a:prstGeom prst="rect">
            <a:avLst/>
          </a:prstGeom>
          <a:noFill/>
        </p:spPr>
        <p:txBody>
          <a:bodyPr wrap="square" lIns="0" tIns="0" rIns="0" bIns="0" anchor="t">
            <a:spAutoFit/>
          </a:bodyPr>
          <a:lstStyle/>
          <a:p>
            <a:pPr algn="l"/>
            <a:r>
              <a:rPr sz="1300" b="0" i="0">
                <a:solidFill>
                  <a:srgbClr val="F2F3F5"/>
                </a:solidFill>
                <a:latin typeface="Helvetica Neue"/>
              </a:rPr>
              <a:t>Fix one layer alone and the cheese still lines up. The redesign spans levels.</a:t>
            </a:r>
          </a:p>
        </p:txBody>
      </p:sp>
      <p:sp>
        <p:nvSpPr>
          <p:cNvPr id="28" name="TextBox 27">
            <a:extLst>
              <a:ext uri="{FF2B5EF4-FFF2-40B4-BE49-F238E27FC236}">
                <a16:creationId xmlns:a16="http://schemas.microsoft.com/office/drawing/2014/main" id="{5B5D63A5-9FC3-5281-D26B-F31EE9394D14}"/>
              </a:ext>
            </a:extLst>
          </p:cNvPr>
          <p:cNvSpPr txBox="1"/>
          <p:nvPr/>
        </p:nvSpPr>
        <p:spPr>
          <a:xfrm>
            <a:off x="548640" y="411480"/>
            <a:ext cx="6858000" cy="169277"/>
          </a:xfrm>
          <a:prstGeom prst="rect">
            <a:avLst/>
          </a:prstGeom>
          <a:noFill/>
        </p:spPr>
        <p:txBody>
          <a:bodyPr wrap="square" lIns="0" tIns="0" rIns="0" bIns="0" anchor="t">
            <a:spAutoFit/>
          </a:bodyPr>
          <a:lstStyle/>
          <a:p>
            <a:pPr algn="l"/>
            <a:r>
              <a:rPr lang="en-US" sz="1100" b="1" i="0" dirty="0">
                <a:solidFill>
                  <a:srgbClr val="E07BAA"/>
                </a:solidFill>
                <a:latin typeface="Helvetica Neue"/>
              </a:rPr>
              <a:t>ANALYSIS</a:t>
            </a:r>
            <a:endParaRPr sz="1100" b="1" i="0" dirty="0">
              <a:solidFill>
                <a:srgbClr val="E07BAA"/>
              </a:solidFill>
              <a:latin typeface="Helvetica Neue"/>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2" name="TextBox 1"/>
          <p:cNvSpPr txBox="1"/>
          <p:nvPr/>
        </p:nvSpPr>
        <p:spPr>
          <a:xfrm>
            <a:off x="548640" y="411480"/>
            <a:ext cx="6858000" cy="169277"/>
          </a:xfrm>
          <a:prstGeom prst="rect">
            <a:avLst/>
          </a:prstGeom>
          <a:noFill/>
        </p:spPr>
        <p:txBody>
          <a:bodyPr wrap="square" lIns="0" tIns="0" rIns="0" bIns="0" anchor="t">
            <a:spAutoFit/>
          </a:bodyPr>
          <a:lstStyle/>
          <a:p>
            <a:pPr algn="l"/>
            <a:r>
              <a:rPr lang="en-US" sz="1100" b="1" i="0" dirty="0">
                <a:solidFill>
                  <a:srgbClr val="7BE0B4"/>
                </a:solidFill>
                <a:latin typeface="Helvetica Neue"/>
              </a:rPr>
              <a:t>REDESIGN</a:t>
            </a:r>
            <a:endParaRPr sz="1100" b="1" i="0" dirty="0">
              <a:solidFill>
                <a:srgbClr val="7BE0B4"/>
              </a:solidFill>
              <a:latin typeface="Helvetica Neue"/>
            </a:endParaRPr>
          </a:p>
        </p:txBody>
      </p:sp>
      <p:sp>
        <p:nvSpPr>
          <p:cNvPr id="4" name="TextBox 3"/>
          <p:cNvSpPr txBox="1"/>
          <p:nvPr/>
        </p:nvSpPr>
        <p:spPr>
          <a:xfrm>
            <a:off x="548640" y="868680"/>
            <a:ext cx="11091672" cy="1005840"/>
          </a:xfrm>
          <a:prstGeom prst="rect">
            <a:avLst/>
          </a:prstGeom>
          <a:noFill/>
        </p:spPr>
        <p:txBody>
          <a:bodyPr wrap="square" lIns="0" tIns="0" rIns="0" bIns="0" anchor="t">
            <a:spAutoFit/>
          </a:bodyPr>
          <a:lstStyle/>
          <a:p>
            <a:pPr algn="l"/>
            <a:r>
              <a:rPr sz="4000" b="1" i="0">
                <a:solidFill>
                  <a:srgbClr val="F2F3F5"/>
                </a:solidFill>
                <a:latin typeface="Helvetica Neue"/>
              </a:rPr>
              <a:t>Carlos. Elena. Real dialect, real conversation.</a:t>
            </a:r>
          </a:p>
        </p:txBody>
      </p:sp>
      <p:sp>
        <p:nvSpPr>
          <p:cNvPr id="5" name="TextBox 4"/>
          <p:cNvSpPr txBox="1"/>
          <p:nvPr/>
        </p:nvSpPr>
        <p:spPr>
          <a:xfrm>
            <a:off x="548640" y="1874519"/>
            <a:ext cx="11091672" cy="411480"/>
          </a:xfrm>
          <a:prstGeom prst="rect">
            <a:avLst/>
          </a:prstGeom>
          <a:noFill/>
        </p:spPr>
        <p:txBody>
          <a:bodyPr wrap="square" lIns="0" tIns="0" rIns="0" bIns="0" anchor="t">
            <a:spAutoFit/>
          </a:bodyPr>
          <a:lstStyle/>
          <a:p>
            <a:pPr algn="l"/>
            <a:r>
              <a:rPr sz="1400" b="0" i="1">
                <a:solidFill>
                  <a:srgbClr val="9AA1AB"/>
                </a:solidFill>
                <a:latin typeface="Helvetica Neue"/>
              </a:rPr>
              <a:t>A dialect-specific conversational agent that scaffolds the interaction.</a:t>
            </a:r>
          </a:p>
        </p:txBody>
      </p:sp>
      <p:pic>
        <p:nvPicPr>
          <p:cNvPr id="6" name="Picture 5" descr="carlos.png"/>
          <p:cNvPicPr>
            <a:picLocks noChangeAspect="1"/>
          </p:cNvPicPr>
          <p:nvPr/>
        </p:nvPicPr>
        <p:blipFill>
          <a:blip r:embed="rId3"/>
          <a:stretch>
            <a:fillRect/>
          </a:stretch>
        </p:blipFill>
        <p:spPr>
          <a:xfrm>
            <a:off x="731520" y="2423160"/>
            <a:ext cx="2226106" cy="4114800"/>
          </a:xfrm>
          <a:prstGeom prst="rect">
            <a:avLst/>
          </a:prstGeom>
        </p:spPr>
      </p:pic>
      <p:pic>
        <p:nvPicPr>
          <p:cNvPr id="7" name="Picture 6" descr="elena.png"/>
          <p:cNvPicPr>
            <a:picLocks noChangeAspect="1"/>
          </p:cNvPicPr>
          <p:nvPr/>
        </p:nvPicPr>
        <p:blipFill>
          <a:blip r:embed="rId4"/>
          <a:stretch>
            <a:fillRect/>
          </a:stretch>
        </p:blipFill>
        <p:spPr>
          <a:xfrm>
            <a:off x="3231946" y="2423160"/>
            <a:ext cx="2316632" cy="4114800"/>
          </a:xfrm>
          <a:prstGeom prst="rect">
            <a:avLst/>
          </a:prstGeom>
        </p:spPr>
      </p:pic>
      <p:sp>
        <p:nvSpPr>
          <p:cNvPr id="8" name="Rectangle 7"/>
          <p:cNvSpPr/>
          <p:nvPr/>
        </p:nvSpPr>
        <p:spPr>
          <a:xfrm>
            <a:off x="5852160" y="2423160"/>
            <a:ext cx="5760720" cy="12344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5852160" y="2423160"/>
            <a:ext cx="54864" cy="1234440"/>
          </a:xfrm>
          <a:prstGeom prst="rect">
            <a:avLst/>
          </a:prstGeom>
          <a:solidFill>
            <a:srgbClr val="7B9F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126480" y="2651760"/>
            <a:ext cx="5303520" cy="365760"/>
          </a:xfrm>
          <a:prstGeom prst="rect">
            <a:avLst/>
          </a:prstGeom>
          <a:noFill/>
        </p:spPr>
        <p:txBody>
          <a:bodyPr wrap="square" lIns="0" tIns="0" rIns="0" bIns="0" anchor="t">
            <a:spAutoFit/>
          </a:bodyPr>
          <a:lstStyle/>
          <a:p>
            <a:pPr algn="l"/>
            <a:r>
              <a:rPr sz="1200" b="1" i="0">
                <a:solidFill>
                  <a:srgbClr val="7B9FE0"/>
                </a:solidFill>
                <a:latin typeface="Helvetica Neue"/>
              </a:rPr>
              <a:t>DIALOGUE WORKS</a:t>
            </a:r>
          </a:p>
        </p:txBody>
      </p:sp>
      <p:sp>
        <p:nvSpPr>
          <p:cNvPr id="11" name="TextBox 10"/>
          <p:cNvSpPr txBox="1"/>
          <p:nvPr/>
        </p:nvSpPr>
        <p:spPr>
          <a:xfrm>
            <a:off x="6126480" y="3081528"/>
            <a:ext cx="5303520" cy="457200"/>
          </a:xfrm>
          <a:prstGeom prst="rect">
            <a:avLst/>
          </a:prstGeom>
          <a:noFill/>
        </p:spPr>
        <p:txBody>
          <a:bodyPr wrap="square" lIns="0" tIns="0" rIns="0" bIns="0" anchor="t">
            <a:spAutoFit/>
          </a:bodyPr>
          <a:lstStyle/>
          <a:p>
            <a:pPr algn="l"/>
            <a:r>
              <a:rPr sz="1500" b="0" i="0">
                <a:solidFill>
                  <a:srgbClr val="F2F3F5"/>
                </a:solidFill>
                <a:latin typeface="Helvetica Neue"/>
              </a:rPr>
              <a:t>Bibauw 2022. d = 0.58 across 17 studies.</a:t>
            </a:r>
          </a:p>
        </p:txBody>
      </p:sp>
      <p:sp>
        <p:nvSpPr>
          <p:cNvPr id="12" name="Rectangle 11"/>
          <p:cNvSpPr/>
          <p:nvPr/>
        </p:nvSpPr>
        <p:spPr>
          <a:xfrm>
            <a:off x="5852160" y="3794760"/>
            <a:ext cx="5760720" cy="12344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5852160" y="3794760"/>
            <a:ext cx="54864" cy="1234440"/>
          </a:xfrm>
          <a:prstGeom prst="rect">
            <a:avLst/>
          </a:prstGeom>
          <a:solidFill>
            <a:srgbClr val="E07BA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126480" y="4023360"/>
            <a:ext cx="5303520" cy="365760"/>
          </a:xfrm>
          <a:prstGeom prst="rect">
            <a:avLst/>
          </a:prstGeom>
          <a:noFill/>
        </p:spPr>
        <p:txBody>
          <a:bodyPr wrap="square" lIns="0" tIns="0" rIns="0" bIns="0" anchor="t">
            <a:spAutoFit/>
          </a:bodyPr>
          <a:lstStyle/>
          <a:p>
            <a:pPr algn="l"/>
            <a:r>
              <a:rPr sz="1200" b="1" i="0">
                <a:solidFill>
                  <a:srgbClr val="E07BAA"/>
                </a:solidFill>
                <a:latin typeface="Helvetica Neue"/>
              </a:rPr>
              <a:t>PERSONA MATTERS</a:t>
            </a:r>
          </a:p>
        </p:txBody>
      </p:sp>
      <p:sp>
        <p:nvSpPr>
          <p:cNvPr id="15" name="TextBox 14"/>
          <p:cNvSpPr txBox="1"/>
          <p:nvPr/>
        </p:nvSpPr>
        <p:spPr>
          <a:xfrm>
            <a:off x="6126480" y="4453128"/>
            <a:ext cx="5303520" cy="457200"/>
          </a:xfrm>
          <a:prstGeom prst="rect">
            <a:avLst/>
          </a:prstGeom>
          <a:noFill/>
        </p:spPr>
        <p:txBody>
          <a:bodyPr wrap="square" lIns="0" tIns="0" rIns="0" bIns="0" anchor="t">
            <a:spAutoFit/>
          </a:bodyPr>
          <a:lstStyle/>
          <a:p>
            <a:pPr algn="l"/>
            <a:r>
              <a:rPr sz="1500" b="0" i="0">
                <a:solidFill>
                  <a:srgbClr val="F2F3F5"/>
                </a:solidFill>
                <a:latin typeface="Helvetica Neue"/>
              </a:rPr>
              <a:t>Mayer 2021. d = 1.3 across 10 of 10 experiments.</a:t>
            </a:r>
          </a:p>
        </p:txBody>
      </p:sp>
      <p:sp>
        <p:nvSpPr>
          <p:cNvPr id="16" name="Rectangle 15"/>
          <p:cNvSpPr/>
          <p:nvPr/>
        </p:nvSpPr>
        <p:spPr>
          <a:xfrm>
            <a:off x="5852160" y="5166360"/>
            <a:ext cx="5760720" cy="12344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5852160" y="5166360"/>
            <a:ext cx="54864" cy="123444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126480" y="5394960"/>
            <a:ext cx="5303520" cy="365760"/>
          </a:xfrm>
          <a:prstGeom prst="rect">
            <a:avLst/>
          </a:prstGeom>
          <a:noFill/>
        </p:spPr>
        <p:txBody>
          <a:bodyPr wrap="square" lIns="0" tIns="0" rIns="0" bIns="0" anchor="t">
            <a:spAutoFit/>
          </a:bodyPr>
          <a:lstStyle/>
          <a:p>
            <a:pPr algn="l"/>
            <a:r>
              <a:rPr sz="1200" b="1" i="0">
                <a:solidFill>
                  <a:srgbClr val="7BE0B4"/>
                </a:solidFill>
                <a:latin typeface="Helvetica Neue"/>
              </a:rPr>
              <a:t>DIALECT IS INPUT</a:t>
            </a:r>
          </a:p>
        </p:txBody>
      </p:sp>
      <p:sp>
        <p:nvSpPr>
          <p:cNvPr id="19" name="TextBox 18"/>
          <p:cNvSpPr txBox="1"/>
          <p:nvPr/>
        </p:nvSpPr>
        <p:spPr>
          <a:xfrm>
            <a:off x="6126480" y="5824728"/>
            <a:ext cx="5303520" cy="457200"/>
          </a:xfrm>
          <a:prstGeom prst="rect">
            <a:avLst/>
          </a:prstGeom>
          <a:noFill/>
        </p:spPr>
        <p:txBody>
          <a:bodyPr wrap="square" lIns="0" tIns="0" rIns="0" bIns="0" anchor="t">
            <a:spAutoFit/>
          </a:bodyPr>
          <a:lstStyle/>
          <a:p>
            <a:pPr algn="l"/>
            <a:r>
              <a:rPr sz="1500" b="0" i="0">
                <a:solidFill>
                  <a:srgbClr val="F2F3F5"/>
                </a:solidFill>
                <a:latin typeface="Helvetica Neue"/>
              </a:rPr>
              <a:t>Geeslin and Long 2014. Real regional speech patterns matter.</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4" name="TextBox 3"/>
          <p:cNvSpPr txBox="1"/>
          <p:nvPr/>
        </p:nvSpPr>
        <p:spPr>
          <a:xfrm>
            <a:off x="548640" y="868680"/>
            <a:ext cx="11091672" cy="1005840"/>
          </a:xfrm>
          <a:prstGeom prst="rect">
            <a:avLst/>
          </a:prstGeom>
          <a:noFill/>
        </p:spPr>
        <p:txBody>
          <a:bodyPr wrap="square" lIns="0" tIns="0" rIns="0" bIns="0" anchor="t">
            <a:spAutoFit/>
          </a:bodyPr>
          <a:lstStyle/>
          <a:p>
            <a:pPr algn="l"/>
            <a:r>
              <a:rPr sz="4000" b="1" i="0">
                <a:solidFill>
                  <a:srgbClr val="F2F3F5"/>
                </a:solidFill>
                <a:latin typeface="Helvetica Neue"/>
              </a:rPr>
              <a:t>Before. After. What's still missing.</a:t>
            </a:r>
          </a:p>
        </p:txBody>
      </p:sp>
      <p:sp>
        <p:nvSpPr>
          <p:cNvPr id="5" name="Rectangle 4"/>
          <p:cNvSpPr/>
          <p:nvPr/>
        </p:nvSpPr>
        <p:spPr>
          <a:xfrm>
            <a:off x="548640" y="2194560"/>
            <a:ext cx="5486400" cy="173736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48640" y="2194560"/>
            <a:ext cx="54864" cy="1737360"/>
          </a:xfrm>
          <a:prstGeom prst="rect">
            <a:avLst/>
          </a:prstGeom>
          <a:solidFill>
            <a:srgbClr val="E07B7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60" y="2377440"/>
            <a:ext cx="5029200" cy="320040"/>
          </a:xfrm>
          <a:prstGeom prst="rect">
            <a:avLst/>
          </a:prstGeom>
          <a:noFill/>
        </p:spPr>
        <p:txBody>
          <a:bodyPr wrap="square" lIns="0" tIns="0" rIns="0" bIns="0" anchor="t">
            <a:spAutoFit/>
          </a:bodyPr>
          <a:lstStyle/>
          <a:p>
            <a:pPr algn="l"/>
            <a:r>
              <a:rPr sz="1100" b="1" i="0">
                <a:solidFill>
                  <a:srgbClr val="E07B7B"/>
                </a:solidFill>
                <a:latin typeface="Helvetica Neue"/>
              </a:rPr>
              <a:t>BEFORE</a:t>
            </a:r>
          </a:p>
        </p:txBody>
      </p:sp>
      <p:sp>
        <p:nvSpPr>
          <p:cNvPr id="8" name="TextBox 7"/>
          <p:cNvSpPr txBox="1"/>
          <p:nvPr/>
        </p:nvSpPr>
        <p:spPr>
          <a:xfrm>
            <a:off x="822960" y="2834639"/>
            <a:ext cx="5029200" cy="457200"/>
          </a:xfrm>
          <a:prstGeom prst="rect">
            <a:avLst/>
          </a:prstGeom>
          <a:noFill/>
        </p:spPr>
        <p:txBody>
          <a:bodyPr wrap="square" lIns="0" tIns="0" rIns="0" bIns="0" anchor="t">
            <a:spAutoFit/>
          </a:bodyPr>
          <a:lstStyle/>
          <a:p>
            <a:pPr algn="l"/>
            <a:r>
              <a:rPr sz="1800" b="1" i="0">
                <a:solidFill>
                  <a:srgbClr val="F2F3F5"/>
                </a:solidFill>
                <a:latin typeface="Helvetica Neue"/>
              </a:rPr>
              <a:t>Learner  →  Item  →  XP</a:t>
            </a:r>
          </a:p>
        </p:txBody>
      </p:sp>
      <p:sp>
        <p:nvSpPr>
          <p:cNvPr id="9" name="TextBox 8"/>
          <p:cNvSpPr txBox="1"/>
          <p:nvPr/>
        </p:nvSpPr>
        <p:spPr>
          <a:xfrm>
            <a:off x="822960" y="3383280"/>
            <a:ext cx="5029200" cy="411480"/>
          </a:xfrm>
          <a:prstGeom prst="rect">
            <a:avLst/>
          </a:prstGeom>
          <a:noFill/>
        </p:spPr>
        <p:txBody>
          <a:bodyPr wrap="square" lIns="0" tIns="0" rIns="0" bIns="0" anchor="t">
            <a:spAutoFit/>
          </a:bodyPr>
          <a:lstStyle/>
          <a:p>
            <a:pPr algn="l"/>
            <a:r>
              <a:rPr sz="1200" b="0" i="1">
                <a:solidFill>
                  <a:srgbClr val="9AA1AB"/>
                </a:solidFill>
                <a:latin typeface="Helvetica Neue"/>
              </a:rPr>
              <a:t>Loop closes on the wrong variable.</a:t>
            </a:r>
          </a:p>
        </p:txBody>
      </p:sp>
      <p:sp>
        <p:nvSpPr>
          <p:cNvPr id="10" name="Rectangle 9"/>
          <p:cNvSpPr/>
          <p:nvPr/>
        </p:nvSpPr>
        <p:spPr>
          <a:xfrm>
            <a:off x="6217920" y="2194560"/>
            <a:ext cx="5486400" cy="173736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17920" y="2194560"/>
            <a:ext cx="54864" cy="1737360"/>
          </a:xfrm>
          <a:prstGeom prst="rect">
            <a:avLst/>
          </a:prstGeom>
          <a:solidFill>
            <a:srgbClr val="7BE0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92240" y="2377440"/>
            <a:ext cx="5029200" cy="320040"/>
          </a:xfrm>
          <a:prstGeom prst="rect">
            <a:avLst/>
          </a:prstGeom>
          <a:noFill/>
        </p:spPr>
        <p:txBody>
          <a:bodyPr wrap="square" lIns="0" tIns="0" rIns="0" bIns="0" anchor="t">
            <a:spAutoFit/>
          </a:bodyPr>
          <a:lstStyle/>
          <a:p>
            <a:pPr algn="l"/>
            <a:r>
              <a:rPr sz="1100" b="1" i="0">
                <a:solidFill>
                  <a:srgbClr val="7BE0B4"/>
                </a:solidFill>
                <a:latin typeface="Helvetica Neue"/>
              </a:rPr>
              <a:t>AFTER</a:t>
            </a:r>
          </a:p>
        </p:txBody>
      </p:sp>
      <p:sp>
        <p:nvSpPr>
          <p:cNvPr id="13" name="TextBox 12"/>
          <p:cNvSpPr txBox="1"/>
          <p:nvPr/>
        </p:nvSpPr>
        <p:spPr>
          <a:xfrm>
            <a:off x="6492240" y="2834639"/>
            <a:ext cx="5029200" cy="457200"/>
          </a:xfrm>
          <a:prstGeom prst="rect">
            <a:avLst/>
          </a:prstGeom>
          <a:noFill/>
        </p:spPr>
        <p:txBody>
          <a:bodyPr wrap="square" lIns="0" tIns="0" rIns="0" bIns="0" anchor="t">
            <a:spAutoFit/>
          </a:bodyPr>
          <a:lstStyle/>
          <a:p>
            <a:pPr algn="l"/>
            <a:r>
              <a:rPr sz="1800" b="1" i="0">
                <a:solidFill>
                  <a:srgbClr val="F2F3F5"/>
                </a:solidFill>
                <a:latin typeface="Helvetica Neue"/>
              </a:rPr>
              <a:t>Learner  →  Dialect Agent  →  Speaking</a:t>
            </a:r>
          </a:p>
        </p:txBody>
      </p:sp>
      <p:sp>
        <p:nvSpPr>
          <p:cNvPr id="14" name="TextBox 13"/>
          <p:cNvSpPr txBox="1"/>
          <p:nvPr/>
        </p:nvSpPr>
        <p:spPr>
          <a:xfrm>
            <a:off x="6492240" y="3383280"/>
            <a:ext cx="5029200" cy="411480"/>
          </a:xfrm>
          <a:prstGeom prst="rect">
            <a:avLst/>
          </a:prstGeom>
          <a:noFill/>
        </p:spPr>
        <p:txBody>
          <a:bodyPr wrap="square" lIns="0" tIns="0" rIns="0" bIns="0" anchor="t">
            <a:spAutoFit/>
          </a:bodyPr>
          <a:lstStyle/>
          <a:p>
            <a:pPr algn="l"/>
            <a:r>
              <a:rPr sz="1200" b="0" i="1">
                <a:solidFill>
                  <a:srgbClr val="9AA1AB"/>
                </a:solidFill>
                <a:latin typeface="Helvetica Neue"/>
              </a:rPr>
              <a:t>Feedback on production, not recognition.</a:t>
            </a:r>
          </a:p>
        </p:txBody>
      </p:sp>
      <p:sp>
        <p:nvSpPr>
          <p:cNvPr id="15" name="TextBox 14"/>
          <p:cNvSpPr txBox="1"/>
          <p:nvPr/>
        </p:nvSpPr>
        <p:spPr>
          <a:xfrm>
            <a:off x="548640" y="4297680"/>
            <a:ext cx="11091672" cy="411480"/>
          </a:xfrm>
          <a:prstGeom prst="rect">
            <a:avLst/>
          </a:prstGeom>
          <a:noFill/>
        </p:spPr>
        <p:txBody>
          <a:bodyPr wrap="square" lIns="0" tIns="0" rIns="0" bIns="0" anchor="t">
            <a:spAutoFit/>
          </a:bodyPr>
          <a:lstStyle/>
          <a:p>
            <a:pPr algn="l"/>
            <a:r>
              <a:rPr sz="1800" b="1" i="0">
                <a:solidFill>
                  <a:srgbClr val="E0C27B"/>
                </a:solidFill>
                <a:latin typeface="Helvetica Neue"/>
              </a:rPr>
              <a:t>Honest gaps.</a:t>
            </a:r>
          </a:p>
        </p:txBody>
      </p:sp>
      <p:sp>
        <p:nvSpPr>
          <p:cNvPr id="16" name="TextBox 15"/>
          <p:cNvSpPr txBox="1"/>
          <p:nvPr/>
        </p:nvSpPr>
        <p:spPr>
          <a:xfrm>
            <a:off x="548640" y="4800600"/>
            <a:ext cx="274320" cy="502920"/>
          </a:xfrm>
          <a:prstGeom prst="rect">
            <a:avLst/>
          </a:prstGeom>
          <a:noFill/>
        </p:spPr>
        <p:txBody>
          <a:bodyPr wrap="square" lIns="0" tIns="0" rIns="0" bIns="0" anchor="t">
            <a:spAutoFit/>
          </a:bodyPr>
          <a:lstStyle/>
          <a:p>
            <a:pPr algn="l"/>
            <a:r>
              <a:rPr sz="1400" b="1" i="0">
                <a:solidFill>
                  <a:srgbClr val="E0C27B"/>
                </a:solidFill>
                <a:latin typeface="Helvetica Neue"/>
              </a:rPr>
              <a:t>•</a:t>
            </a:r>
          </a:p>
        </p:txBody>
      </p:sp>
      <p:sp>
        <p:nvSpPr>
          <p:cNvPr id="17" name="TextBox 16"/>
          <p:cNvSpPr txBox="1"/>
          <p:nvPr/>
        </p:nvSpPr>
        <p:spPr>
          <a:xfrm>
            <a:off x="868680" y="4800600"/>
            <a:ext cx="5029200" cy="502920"/>
          </a:xfrm>
          <a:prstGeom prst="rect">
            <a:avLst/>
          </a:prstGeom>
          <a:noFill/>
        </p:spPr>
        <p:txBody>
          <a:bodyPr wrap="square" lIns="0" tIns="0" rIns="0" bIns="0" anchor="t">
            <a:spAutoFit/>
          </a:bodyPr>
          <a:lstStyle/>
          <a:p>
            <a:pPr algn="l"/>
            <a:r>
              <a:rPr sz="1400" b="1" i="0">
                <a:solidFill>
                  <a:srgbClr val="F2F3F5"/>
                </a:solidFill>
                <a:latin typeface="Helvetica Neue"/>
              </a:rPr>
              <a:t>No primary data.</a:t>
            </a:r>
          </a:p>
        </p:txBody>
      </p:sp>
      <p:sp>
        <p:nvSpPr>
          <p:cNvPr id="18" name="TextBox 17"/>
          <p:cNvSpPr txBox="1"/>
          <p:nvPr/>
        </p:nvSpPr>
        <p:spPr>
          <a:xfrm>
            <a:off x="5943600" y="4800600"/>
            <a:ext cx="5943600" cy="502920"/>
          </a:xfrm>
          <a:prstGeom prst="rect">
            <a:avLst/>
          </a:prstGeom>
          <a:noFill/>
        </p:spPr>
        <p:txBody>
          <a:bodyPr wrap="square" lIns="0" tIns="0" rIns="0" bIns="0" anchor="t">
            <a:spAutoFit/>
          </a:bodyPr>
          <a:lstStyle/>
          <a:p>
            <a:pPr algn="l"/>
            <a:r>
              <a:rPr sz="1400" b="0" i="0">
                <a:solidFill>
                  <a:srgbClr val="9AA1AB"/>
                </a:solidFill>
                <a:latin typeface="Helvetica Neue"/>
              </a:rPr>
              <a:t>Two-week window.</a:t>
            </a:r>
          </a:p>
        </p:txBody>
      </p:sp>
      <p:sp>
        <p:nvSpPr>
          <p:cNvPr id="19" name="TextBox 18"/>
          <p:cNvSpPr txBox="1"/>
          <p:nvPr/>
        </p:nvSpPr>
        <p:spPr>
          <a:xfrm>
            <a:off x="548640" y="5303520"/>
            <a:ext cx="274320" cy="502920"/>
          </a:xfrm>
          <a:prstGeom prst="rect">
            <a:avLst/>
          </a:prstGeom>
          <a:noFill/>
        </p:spPr>
        <p:txBody>
          <a:bodyPr wrap="square" lIns="0" tIns="0" rIns="0" bIns="0" anchor="t">
            <a:spAutoFit/>
          </a:bodyPr>
          <a:lstStyle/>
          <a:p>
            <a:pPr algn="l"/>
            <a:r>
              <a:rPr sz="1400" b="1" i="0">
                <a:solidFill>
                  <a:srgbClr val="E0C27B"/>
                </a:solidFill>
                <a:latin typeface="Helvetica Neue"/>
              </a:rPr>
              <a:t>•</a:t>
            </a:r>
          </a:p>
        </p:txBody>
      </p:sp>
      <p:sp>
        <p:nvSpPr>
          <p:cNvPr id="20" name="TextBox 19"/>
          <p:cNvSpPr txBox="1"/>
          <p:nvPr/>
        </p:nvSpPr>
        <p:spPr>
          <a:xfrm>
            <a:off x="868680" y="5303520"/>
            <a:ext cx="5029200" cy="502920"/>
          </a:xfrm>
          <a:prstGeom prst="rect">
            <a:avLst/>
          </a:prstGeom>
          <a:noFill/>
        </p:spPr>
        <p:txBody>
          <a:bodyPr wrap="square" lIns="0" tIns="0" rIns="0" bIns="0" anchor="t">
            <a:spAutoFit/>
          </a:bodyPr>
          <a:lstStyle/>
          <a:p>
            <a:pPr algn="l"/>
            <a:r>
              <a:rPr sz="1400" b="1" i="0">
                <a:solidFill>
                  <a:srgbClr val="F2F3F5"/>
                </a:solidFill>
                <a:latin typeface="Helvetica Neue"/>
              </a:rPr>
              <a:t>No A/B vs. a generic agent.</a:t>
            </a:r>
          </a:p>
        </p:txBody>
      </p:sp>
      <p:sp>
        <p:nvSpPr>
          <p:cNvPr id="21" name="TextBox 20"/>
          <p:cNvSpPr txBox="1"/>
          <p:nvPr/>
        </p:nvSpPr>
        <p:spPr>
          <a:xfrm>
            <a:off x="5943600" y="5303520"/>
            <a:ext cx="5943600" cy="502920"/>
          </a:xfrm>
          <a:prstGeom prst="rect">
            <a:avLst/>
          </a:prstGeom>
          <a:noFill/>
        </p:spPr>
        <p:txBody>
          <a:bodyPr wrap="square" lIns="0" tIns="0" rIns="0" bIns="0" anchor="t">
            <a:spAutoFit/>
          </a:bodyPr>
          <a:lstStyle/>
          <a:p>
            <a:pPr algn="l"/>
            <a:r>
              <a:rPr sz="1400" b="0" i="0">
                <a:solidFill>
                  <a:srgbClr val="9AA1AB"/>
                </a:solidFill>
                <a:latin typeface="Helvetica Neue"/>
              </a:rPr>
              <a:t>Dialect-effect is theorized, not tested.</a:t>
            </a:r>
          </a:p>
        </p:txBody>
      </p:sp>
      <p:sp>
        <p:nvSpPr>
          <p:cNvPr id="22" name="TextBox 21"/>
          <p:cNvSpPr txBox="1"/>
          <p:nvPr/>
        </p:nvSpPr>
        <p:spPr>
          <a:xfrm>
            <a:off x="548640" y="5806440"/>
            <a:ext cx="274320" cy="502920"/>
          </a:xfrm>
          <a:prstGeom prst="rect">
            <a:avLst/>
          </a:prstGeom>
          <a:noFill/>
        </p:spPr>
        <p:txBody>
          <a:bodyPr wrap="square" lIns="0" tIns="0" rIns="0" bIns="0" anchor="t">
            <a:spAutoFit/>
          </a:bodyPr>
          <a:lstStyle/>
          <a:p>
            <a:pPr algn="l"/>
            <a:r>
              <a:rPr sz="1400" b="1" i="0">
                <a:solidFill>
                  <a:srgbClr val="E0C27B"/>
                </a:solidFill>
                <a:latin typeface="Helvetica Neue"/>
              </a:rPr>
              <a:t>•</a:t>
            </a:r>
          </a:p>
        </p:txBody>
      </p:sp>
      <p:sp>
        <p:nvSpPr>
          <p:cNvPr id="23" name="TextBox 22"/>
          <p:cNvSpPr txBox="1"/>
          <p:nvPr/>
        </p:nvSpPr>
        <p:spPr>
          <a:xfrm>
            <a:off x="868680" y="5806440"/>
            <a:ext cx="5029200" cy="502920"/>
          </a:xfrm>
          <a:prstGeom prst="rect">
            <a:avLst/>
          </a:prstGeom>
          <a:noFill/>
        </p:spPr>
        <p:txBody>
          <a:bodyPr wrap="square" lIns="0" tIns="0" rIns="0" bIns="0" anchor="t">
            <a:spAutoFit/>
          </a:bodyPr>
          <a:lstStyle/>
          <a:p>
            <a:pPr algn="l"/>
            <a:r>
              <a:rPr sz="1400" b="1" i="0">
                <a:solidFill>
                  <a:srgbClr val="F2F3F5"/>
                </a:solidFill>
                <a:latin typeface="Helvetica Neue"/>
              </a:rPr>
              <a:t>Wang 2024 moved affect, not skill.</a:t>
            </a:r>
          </a:p>
        </p:txBody>
      </p:sp>
      <p:sp>
        <p:nvSpPr>
          <p:cNvPr id="24" name="TextBox 23"/>
          <p:cNvSpPr txBox="1"/>
          <p:nvPr/>
        </p:nvSpPr>
        <p:spPr>
          <a:xfrm>
            <a:off x="5943600" y="5806440"/>
            <a:ext cx="5943600" cy="502920"/>
          </a:xfrm>
          <a:prstGeom prst="rect">
            <a:avLst/>
          </a:prstGeom>
          <a:noFill/>
        </p:spPr>
        <p:txBody>
          <a:bodyPr wrap="square" lIns="0" tIns="0" rIns="0" bIns="0" anchor="t">
            <a:spAutoFit/>
          </a:bodyPr>
          <a:lstStyle/>
          <a:p>
            <a:pPr algn="l"/>
            <a:r>
              <a:rPr sz="1400" b="0" i="0">
                <a:solidFill>
                  <a:srgbClr val="9AA1AB"/>
                </a:solidFill>
                <a:latin typeface="Helvetica Neue"/>
              </a:rPr>
              <a:t>Closest comparable RCT. Plausibility, not proof.</a:t>
            </a:r>
          </a:p>
        </p:txBody>
      </p:sp>
      <p:sp>
        <p:nvSpPr>
          <p:cNvPr id="25" name="TextBox 24"/>
          <p:cNvSpPr txBox="1"/>
          <p:nvPr/>
        </p:nvSpPr>
        <p:spPr>
          <a:xfrm>
            <a:off x="548640" y="6446520"/>
            <a:ext cx="11091672" cy="320040"/>
          </a:xfrm>
          <a:prstGeom prst="rect">
            <a:avLst/>
          </a:prstGeom>
          <a:noFill/>
        </p:spPr>
        <p:txBody>
          <a:bodyPr wrap="square" lIns="0" tIns="0" rIns="0" bIns="0" anchor="t">
            <a:spAutoFit/>
          </a:bodyPr>
          <a:lstStyle/>
          <a:p>
            <a:pPr algn="ctr"/>
            <a:r>
              <a:rPr sz="1200" b="0" i="1">
                <a:solidFill>
                  <a:srgbClr val="7BE0B4"/>
                </a:solidFill>
                <a:latin typeface="Helvetica Neue"/>
              </a:rPr>
              <a:t>NEXT  ·  Eye-tracking at UT's IX Lab to sharpen the Level 1 attention claim.</a:t>
            </a:r>
          </a:p>
        </p:txBody>
      </p:sp>
      <p:sp>
        <p:nvSpPr>
          <p:cNvPr id="29" name="TextBox 28">
            <a:extLst>
              <a:ext uri="{FF2B5EF4-FFF2-40B4-BE49-F238E27FC236}">
                <a16:creationId xmlns:a16="http://schemas.microsoft.com/office/drawing/2014/main" id="{8EDFFDC8-33BC-6562-4581-219F5B52DC26}"/>
              </a:ext>
            </a:extLst>
          </p:cNvPr>
          <p:cNvSpPr txBox="1"/>
          <p:nvPr/>
        </p:nvSpPr>
        <p:spPr>
          <a:xfrm>
            <a:off x="548640" y="411480"/>
            <a:ext cx="6858000" cy="169277"/>
          </a:xfrm>
          <a:prstGeom prst="rect">
            <a:avLst/>
          </a:prstGeom>
          <a:noFill/>
        </p:spPr>
        <p:txBody>
          <a:bodyPr wrap="square" lIns="0" tIns="0" rIns="0" bIns="0" anchor="t">
            <a:spAutoFit/>
          </a:bodyPr>
          <a:lstStyle/>
          <a:p>
            <a:pPr algn="l"/>
            <a:r>
              <a:rPr lang="en-US" sz="1100" b="1" i="0" dirty="0">
                <a:solidFill>
                  <a:srgbClr val="7BE0B4"/>
                </a:solidFill>
                <a:latin typeface="Helvetica Neue"/>
              </a:rPr>
              <a:t>REDESIGN</a:t>
            </a:r>
            <a:endParaRPr sz="1100" b="1" i="0" dirty="0">
              <a:solidFill>
                <a:srgbClr val="7BE0B4"/>
              </a:solidFill>
              <a:latin typeface="Helvetica Neue"/>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0D10"/>
        </a:solidFill>
        <a:effectLst/>
      </p:bgPr>
    </p:bg>
    <p:spTree>
      <p:nvGrpSpPr>
        <p:cNvPr id="1" name=""/>
        <p:cNvGrpSpPr/>
        <p:nvPr/>
      </p:nvGrpSpPr>
      <p:grpSpPr>
        <a:xfrm>
          <a:off x="0" y="0"/>
          <a:ext cx="0" cy="0"/>
          <a:chOff x="0" y="0"/>
          <a:chExt cx="0" cy="0"/>
        </a:xfrm>
      </p:grpSpPr>
      <p:sp>
        <p:nvSpPr>
          <p:cNvPr id="4" name="TextBox 3"/>
          <p:cNvSpPr txBox="1"/>
          <p:nvPr/>
        </p:nvSpPr>
        <p:spPr>
          <a:xfrm>
            <a:off x="548576" y="1679405"/>
            <a:ext cx="11091672" cy="914400"/>
          </a:xfrm>
          <a:prstGeom prst="rect">
            <a:avLst/>
          </a:prstGeom>
          <a:noFill/>
        </p:spPr>
        <p:txBody>
          <a:bodyPr wrap="square" lIns="0" tIns="0" rIns="0" bIns="0" anchor="t">
            <a:spAutoFit/>
          </a:bodyPr>
          <a:lstStyle/>
          <a:p>
            <a:pPr algn="ctr"/>
            <a:r>
              <a:rPr sz="4200" b="1" i="0">
                <a:solidFill>
                  <a:srgbClr val="F2F3F5"/>
                </a:solidFill>
                <a:latin typeface="Helvetica Neue"/>
              </a:rPr>
              <a:t>"Error is a system property,</a:t>
            </a:r>
          </a:p>
        </p:txBody>
      </p:sp>
      <p:sp>
        <p:nvSpPr>
          <p:cNvPr id="5" name="TextBox 4"/>
          <p:cNvSpPr txBox="1"/>
          <p:nvPr/>
        </p:nvSpPr>
        <p:spPr>
          <a:xfrm>
            <a:off x="548576" y="2502365"/>
            <a:ext cx="11091672" cy="914400"/>
          </a:xfrm>
          <a:prstGeom prst="rect">
            <a:avLst/>
          </a:prstGeom>
          <a:noFill/>
        </p:spPr>
        <p:txBody>
          <a:bodyPr wrap="square" lIns="0" tIns="0" rIns="0" bIns="0" anchor="t">
            <a:spAutoFit/>
          </a:bodyPr>
          <a:lstStyle/>
          <a:p>
            <a:pPr algn="ctr"/>
            <a:r>
              <a:rPr sz="4200" b="1" i="0">
                <a:solidFill>
                  <a:srgbClr val="F2F3F5"/>
                </a:solidFill>
                <a:latin typeface="Helvetica Neue"/>
              </a:rPr>
              <a:t>not a human shortcoming."</a:t>
            </a:r>
          </a:p>
        </p:txBody>
      </p:sp>
      <p:sp>
        <p:nvSpPr>
          <p:cNvPr id="6" name="TextBox 5"/>
          <p:cNvSpPr txBox="1"/>
          <p:nvPr/>
        </p:nvSpPr>
        <p:spPr>
          <a:xfrm>
            <a:off x="548576" y="3736805"/>
            <a:ext cx="11091672" cy="457200"/>
          </a:xfrm>
          <a:prstGeom prst="rect">
            <a:avLst/>
          </a:prstGeom>
          <a:noFill/>
        </p:spPr>
        <p:txBody>
          <a:bodyPr wrap="square" lIns="0" tIns="0" rIns="0" bIns="0" anchor="t">
            <a:spAutoFit/>
          </a:bodyPr>
          <a:lstStyle/>
          <a:p>
            <a:pPr algn="ctr"/>
            <a:r>
              <a:rPr sz="1800" b="0" i="1">
                <a:solidFill>
                  <a:srgbClr val="9AA1AB"/>
                </a:solidFill>
                <a:latin typeface="Helvetica Neue"/>
              </a:rPr>
              <a:t>System failure, not user failure.</a:t>
            </a:r>
          </a:p>
        </p:txBody>
      </p:sp>
      <p:sp>
        <p:nvSpPr>
          <p:cNvPr id="7" name="Rectangle 6"/>
          <p:cNvSpPr/>
          <p:nvPr/>
        </p:nvSpPr>
        <p:spPr>
          <a:xfrm>
            <a:off x="3108896" y="4788365"/>
            <a:ext cx="5943600" cy="1005840"/>
          </a:xfrm>
          <a:prstGeom prst="rect">
            <a:avLst/>
          </a:prstGeom>
          <a:solidFill>
            <a:srgbClr val="1A1E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108896" y="4925525"/>
            <a:ext cx="5943600" cy="365760"/>
          </a:xfrm>
          <a:prstGeom prst="rect">
            <a:avLst/>
          </a:prstGeom>
          <a:noFill/>
        </p:spPr>
        <p:txBody>
          <a:bodyPr wrap="square" lIns="0" tIns="0" rIns="0" bIns="0" anchor="t">
            <a:spAutoFit/>
          </a:bodyPr>
          <a:lstStyle/>
          <a:p>
            <a:pPr algn="ctr"/>
            <a:r>
              <a:rPr sz="1100" b="1" i="0">
                <a:solidFill>
                  <a:srgbClr val="7B9FE0"/>
                </a:solidFill>
                <a:latin typeface="Helvetica Neue"/>
              </a:rPr>
              <a:t>PRESTON CUSICK · ANEESH HARWALKAR</a:t>
            </a:r>
          </a:p>
        </p:txBody>
      </p:sp>
      <p:sp>
        <p:nvSpPr>
          <p:cNvPr id="9" name="TextBox 8"/>
          <p:cNvSpPr txBox="1"/>
          <p:nvPr/>
        </p:nvSpPr>
        <p:spPr>
          <a:xfrm>
            <a:off x="3108896" y="5245565"/>
            <a:ext cx="5943600" cy="320040"/>
          </a:xfrm>
          <a:prstGeom prst="rect">
            <a:avLst/>
          </a:prstGeom>
          <a:noFill/>
        </p:spPr>
        <p:txBody>
          <a:bodyPr wrap="square" lIns="0" tIns="0" rIns="0" bIns="0" anchor="t">
            <a:spAutoFit/>
          </a:bodyPr>
          <a:lstStyle/>
          <a:p>
            <a:pPr algn="ctr"/>
            <a:r>
              <a:rPr sz="1300" b="0" i="0">
                <a:solidFill>
                  <a:srgbClr val="F2F3F5"/>
                </a:solidFill>
                <a:latin typeface="Helvetica Neue"/>
              </a:rPr>
              <a:t>Applied Human Factors · Spring 2026</a:t>
            </a:r>
          </a:p>
        </p:txBody>
      </p:sp>
      <p:sp>
        <p:nvSpPr>
          <p:cNvPr id="10" name="TextBox 9"/>
          <p:cNvSpPr txBox="1"/>
          <p:nvPr/>
        </p:nvSpPr>
        <p:spPr>
          <a:xfrm>
            <a:off x="3108896" y="5542745"/>
            <a:ext cx="5943600" cy="274320"/>
          </a:xfrm>
          <a:prstGeom prst="rect">
            <a:avLst/>
          </a:prstGeom>
          <a:noFill/>
        </p:spPr>
        <p:txBody>
          <a:bodyPr wrap="square" lIns="0" tIns="0" rIns="0" bIns="0" anchor="t">
            <a:spAutoFit/>
          </a:bodyPr>
          <a:lstStyle/>
          <a:p>
            <a:pPr algn="ctr"/>
            <a:r>
              <a:rPr sz="1100" b="0" i="1" dirty="0">
                <a:solidFill>
                  <a:srgbClr val="656B75"/>
                </a:solidFill>
                <a:latin typeface="Helvetica Neue"/>
              </a:rPr>
              <a:t>Prof. John L. Neumann, Ph.D.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832</TotalTime>
  <Words>1924</Words>
  <Application>Microsoft Macintosh PowerPoint</Application>
  <PresentationFormat>Custom</PresentationFormat>
  <Paragraphs>238</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Helvetica Neue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Harwalkar, Aneesh</cp:lastModifiedBy>
  <cp:revision>2</cp:revision>
  <dcterms:created xsi:type="dcterms:W3CDTF">2013-01-27T09:14:16Z</dcterms:created>
  <dcterms:modified xsi:type="dcterms:W3CDTF">2026-04-27T17:10:21Z</dcterms:modified>
  <cp:category/>
</cp:coreProperties>
</file>