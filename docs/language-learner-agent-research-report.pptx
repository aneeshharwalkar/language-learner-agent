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3629E7-A084-3209-7491-59CE71250F86}" v="142" dt="2026-04-24T23:17:02.4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33"/>
    <p:restoredTop sz="94693"/>
  </p:normalViewPr>
  <p:slideViewPr>
    <p:cSldViewPr snapToGrid="0" snapToObjects="1">
      <p:cViewPr varScale="1">
        <p:scale>
          <a:sx n="105" d="100"/>
          <a:sy n="105" d="100"/>
        </p:scale>
        <p:origin x="224" y="18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5/10/relationships/revisionInfo" Target="revisionInfo.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0"/>
            <a:ext cx="10972800" cy="274320"/>
          </a:xfrm>
          <a:prstGeom prst="rect">
            <a:avLst/>
          </a:prstGeom>
          <a:noFill/>
        </p:spPr>
        <p:txBody>
          <a:bodyPr wrap="square" lIns="0" tIns="0" rIns="0" bIns="0" anchor="t">
            <a:spAutoFit/>
          </a:bodyPr>
          <a:lstStyle/>
          <a:p>
            <a:pPr algn="l">
              <a:lnSpc>
                <a:spcPct val="125000"/>
              </a:lnSpc>
            </a:pPr>
            <a:r>
              <a:rPr sz="1000" b="1" i="0" spc="180">
                <a:solidFill>
                  <a:srgbClr val="7A8290"/>
                </a:solidFill>
                <a:latin typeface="Inter"/>
              </a:rPr>
              <a:t>APPLIED HUMAN FACTORS · SPRING 2026 · FINAL RESEARCH REPORT</a:t>
            </a:r>
          </a:p>
        </p:txBody>
      </p:sp>
      <p:sp>
        <p:nvSpPr>
          <p:cNvPr id="4" name="TextBox 3"/>
          <p:cNvSpPr txBox="1"/>
          <p:nvPr/>
        </p:nvSpPr>
        <p:spPr>
          <a:xfrm>
            <a:off x="548640" y="1828800"/>
            <a:ext cx="10972800" cy="2560320"/>
          </a:xfrm>
          <a:prstGeom prst="rect">
            <a:avLst/>
          </a:prstGeom>
          <a:noFill/>
        </p:spPr>
        <p:txBody>
          <a:bodyPr wrap="square" lIns="0" tIns="0" rIns="0" bIns="0" anchor="t">
            <a:spAutoFit/>
          </a:bodyPr>
          <a:lstStyle/>
          <a:p>
            <a:pPr algn="l">
              <a:lnSpc>
                <a:spcPct val="110000"/>
              </a:lnSpc>
            </a:pPr>
            <a:r>
              <a:rPr sz="4000" b="1" i="0">
                <a:solidFill>
                  <a:srgbClr val="F0F2F5"/>
                </a:solidFill>
                <a:latin typeface="Inter"/>
              </a:rPr>
              <a:t>Deploying Conversational Agents to Bridge the</a:t>
            </a:r>
          </a:p>
          <a:p>
            <a:pPr algn="l">
              <a:lnSpc>
                <a:spcPct val="110000"/>
              </a:lnSpc>
            </a:pPr>
            <a:r>
              <a:rPr sz="4000" b="1" i="0">
                <a:solidFill>
                  <a:srgbClr val="F0F2F5"/>
                </a:solidFill>
                <a:latin typeface="Inter"/>
              </a:rPr>
              <a:t>Learning Transfer Gap in Duolingo</a:t>
            </a:r>
          </a:p>
        </p:txBody>
      </p:sp>
      <p:sp>
        <p:nvSpPr>
          <p:cNvPr id="5" name="TextBox 4"/>
          <p:cNvSpPr txBox="1"/>
          <p:nvPr/>
        </p:nvSpPr>
        <p:spPr>
          <a:xfrm>
            <a:off x="548640" y="4114800"/>
            <a:ext cx="10972800" cy="457200"/>
          </a:xfrm>
          <a:prstGeom prst="rect">
            <a:avLst/>
          </a:prstGeom>
          <a:noFill/>
        </p:spPr>
        <p:txBody>
          <a:bodyPr wrap="square" lIns="0" tIns="0" rIns="0" bIns="0" anchor="t">
            <a:spAutoFit/>
          </a:bodyPr>
          <a:lstStyle/>
          <a:p>
            <a:pPr algn="l">
              <a:lnSpc>
                <a:spcPct val="125000"/>
              </a:lnSpc>
            </a:pPr>
            <a:r>
              <a:rPr sz="1800" b="0" i="1" spc="200">
                <a:solidFill>
                  <a:srgbClr val="7B9FE0"/>
                </a:solidFill>
                <a:latin typeface="Inter"/>
              </a:rPr>
              <a:t>Evaluate  ·  Analyze  ·  Improve</a:t>
            </a:r>
          </a:p>
        </p:txBody>
      </p:sp>
      <p:sp>
        <p:nvSpPr>
          <p:cNvPr id="6" name="TextBox 5"/>
          <p:cNvSpPr txBox="1"/>
          <p:nvPr/>
        </p:nvSpPr>
        <p:spPr>
          <a:xfrm>
            <a:off x="548640" y="5943600"/>
            <a:ext cx="10972800" cy="365760"/>
          </a:xfrm>
          <a:prstGeom prst="rect">
            <a:avLst/>
          </a:prstGeom>
          <a:noFill/>
        </p:spPr>
        <p:txBody>
          <a:bodyPr wrap="square" lIns="0" tIns="0" rIns="0" bIns="0" anchor="t">
            <a:spAutoFit/>
          </a:bodyPr>
          <a:lstStyle/>
          <a:p>
            <a:pPr algn="l">
              <a:lnSpc>
                <a:spcPct val="125000"/>
              </a:lnSpc>
            </a:pPr>
            <a:r>
              <a:rPr sz="1300" b="0" i="0">
                <a:solidFill>
                  <a:srgbClr val="C8CDD8"/>
                </a:solidFill>
                <a:latin typeface="Inter"/>
              </a:rPr>
              <a:t>Preston Cusick and Aneesh Harwalkar</a:t>
            </a:r>
          </a:p>
        </p:txBody>
      </p:sp>
      <p:sp>
        <p:nvSpPr>
          <p:cNvPr id="7" name="TextBox 6"/>
          <p:cNvSpPr txBox="1"/>
          <p:nvPr/>
        </p:nvSpPr>
        <p:spPr>
          <a:xfrm>
            <a:off x="548640" y="6263640"/>
            <a:ext cx="10972800" cy="274320"/>
          </a:xfrm>
          <a:prstGeom prst="rect">
            <a:avLst/>
          </a:prstGeom>
          <a:noFill/>
        </p:spPr>
        <p:txBody>
          <a:bodyPr wrap="square" lIns="0" tIns="0" rIns="0" bIns="0" anchor="t">
            <a:spAutoFit/>
          </a:bodyPr>
          <a:lstStyle/>
          <a:p>
            <a:pPr algn="l">
              <a:lnSpc>
                <a:spcPct val="125000"/>
              </a:lnSpc>
            </a:pPr>
            <a:r>
              <a:rPr sz="1000" b="0" i="0">
                <a:solidFill>
                  <a:srgbClr val="7A8290"/>
                </a:solidFill>
                <a:latin typeface="Inter"/>
              </a:rPr>
              <a:t>April 24, 2026</a:t>
            </a:r>
          </a:p>
        </p:txBody>
      </p:sp>
      <p:sp>
        <p:nvSpPr>
          <p:cNvPr id="8" name="Rectangle 7"/>
          <p:cNvSpPr/>
          <p:nvPr/>
        </p:nvSpPr>
        <p:spPr>
          <a:xfrm>
            <a:off x="10515600" y="6126480"/>
            <a:ext cx="1188720" cy="54864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A8290"/>
                </a:solidFill>
                <a:latin typeface="Inter"/>
              </a:rPr>
              <a:t>AGENDA</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Five phases. One thesis: system failure, not user failure.</a:t>
            </a:r>
          </a:p>
        </p:txBody>
      </p:sp>
      <p:sp>
        <p:nvSpPr>
          <p:cNvPr id="5" name="Rectangle 4"/>
          <p:cNvSpPr/>
          <p:nvPr/>
        </p:nvSpPr>
        <p:spPr>
          <a:xfrm>
            <a:off x="548640" y="2286000"/>
            <a:ext cx="2103120" cy="31089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286000"/>
            <a:ext cx="2103120" cy="381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468880"/>
            <a:ext cx="1737360" cy="365760"/>
          </a:xfrm>
          <a:prstGeom prst="rect">
            <a:avLst/>
          </a:prstGeom>
          <a:noFill/>
        </p:spPr>
        <p:txBody>
          <a:bodyPr wrap="square" lIns="0" tIns="0" rIns="0" bIns="0" anchor="t">
            <a:spAutoFit/>
          </a:bodyPr>
          <a:lstStyle/>
          <a:p>
            <a:pPr algn="l">
              <a:lnSpc>
                <a:spcPct val="125000"/>
              </a:lnSpc>
            </a:pPr>
            <a:r>
              <a:rPr sz="1000" b="1" i="0" spc="150">
                <a:solidFill>
                  <a:srgbClr val="E07B7B"/>
                </a:solidFill>
                <a:latin typeface="Inter"/>
              </a:rPr>
              <a:t>PHASE 1</a:t>
            </a:r>
          </a:p>
        </p:txBody>
      </p:sp>
      <p:sp>
        <p:nvSpPr>
          <p:cNvPr id="8" name="TextBox 7"/>
          <p:cNvSpPr txBox="1"/>
          <p:nvPr/>
        </p:nvSpPr>
        <p:spPr>
          <a:xfrm>
            <a:off x="731520" y="2834640"/>
            <a:ext cx="1737360" cy="731520"/>
          </a:xfrm>
          <a:prstGeom prst="rect">
            <a:avLst/>
          </a:prstGeom>
          <a:noFill/>
        </p:spPr>
        <p:txBody>
          <a:bodyPr wrap="square" lIns="0" tIns="0" rIns="0" bIns="0" anchor="t">
            <a:spAutoFit/>
          </a:bodyPr>
          <a:lstStyle/>
          <a:p>
            <a:pPr algn="l">
              <a:lnSpc>
                <a:spcPct val="120000"/>
              </a:lnSpc>
            </a:pPr>
            <a:r>
              <a:rPr sz="1300" b="1" i="0">
                <a:solidFill>
                  <a:srgbClr val="F0F2F5"/>
                </a:solidFill>
                <a:latin typeface="Inter"/>
              </a:rPr>
              <a:t>SYSTEM &amp; CONTEXT</a:t>
            </a:r>
          </a:p>
        </p:txBody>
      </p:sp>
      <p:sp>
        <p:nvSpPr>
          <p:cNvPr id="9" name="TextBox 8"/>
          <p:cNvSpPr txBox="1"/>
          <p:nvPr/>
        </p:nvSpPr>
        <p:spPr>
          <a:xfrm>
            <a:off x="731520" y="3749040"/>
            <a:ext cx="1737360" cy="1463040"/>
          </a:xfrm>
          <a:prstGeom prst="rect">
            <a:avLst/>
          </a:prstGeom>
          <a:noFill/>
        </p:spPr>
        <p:txBody>
          <a:bodyPr wrap="square" lIns="0" tIns="0" rIns="0" bIns="0" anchor="t">
            <a:spAutoFit/>
          </a:bodyPr>
          <a:lstStyle/>
          <a:p>
            <a:pPr algn="l">
              <a:lnSpc>
                <a:spcPct val="145000"/>
              </a:lnSpc>
            </a:pPr>
            <a:r>
              <a:rPr sz="1100" b="0" i="0">
                <a:solidFill>
                  <a:srgbClr val="C8CDD8"/>
                </a:solidFill>
                <a:latin typeface="Inter"/>
              </a:rPr>
              <a:t>Duolingo as a human machine system at 500M learner scale.</a:t>
            </a:r>
          </a:p>
        </p:txBody>
      </p:sp>
      <p:sp>
        <p:nvSpPr>
          <p:cNvPr id="10" name="Rectangle 9"/>
          <p:cNvSpPr/>
          <p:nvPr/>
        </p:nvSpPr>
        <p:spPr>
          <a:xfrm>
            <a:off x="2788920" y="2286000"/>
            <a:ext cx="2103120" cy="31089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88920" y="2286000"/>
            <a:ext cx="2103120" cy="381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71800" y="2468880"/>
            <a:ext cx="1737360" cy="365760"/>
          </a:xfrm>
          <a:prstGeom prst="rect">
            <a:avLst/>
          </a:prstGeom>
          <a:noFill/>
        </p:spPr>
        <p:txBody>
          <a:bodyPr wrap="square" lIns="0" tIns="0" rIns="0" bIns="0" anchor="t">
            <a:spAutoFit/>
          </a:bodyPr>
          <a:lstStyle/>
          <a:p>
            <a:pPr algn="l">
              <a:lnSpc>
                <a:spcPct val="125000"/>
              </a:lnSpc>
            </a:pPr>
            <a:r>
              <a:rPr sz="1000" b="1" i="0" spc="150">
                <a:solidFill>
                  <a:srgbClr val="E0C27B"/>
                </a:solidFill>
                <a:latin typeface="Inter"/>
              </a:rPr>
              <a:t>PHASE 2</a:t>
            </a:r>
          </a:p>
        </p:txBody>
      </p:sp>
      <p:sp>
        <p:nvSpPr>
          <p:cNvPr id="13" name="TextBox 12"/>
          <p:cNvSpPr txBox="1"/>
          <p:nvPr/>
        </p:nvSpPr>
        <p:spPr>
          <a:xfrm>
            <a:off x="2971800" y="2834640"/>
            <a:ext cx="1737360" cy="731520"/>
          </a:xfrm>
          <a:prstGeom prst="rect">
            <a:avLst/>
          </a:prstGeom>
          <a:noFill/>
        </p:spPr>
        <p:txBody>
          <a:bodyPr wrap="square" lIns="0" tIns="0" rIns="0" bIns="0" anchor="t">
            <a:spAutoFit/>
          </a:bodyPr>
          <a:lstStyle/>
          <a:p>
            <a:pPr algn="l">
              <a:lnSpc>
                <a:spcPct val="120000"/>
              </a:lnSpc>
            </a:pPr>
            <a:r>
              <a:rPr sz="1300" b="1" i="0">
                <a:solidFill>
                  <a:srgbClr val="F0F2F5"/>
                </a:solidFill>
                <a:latin typeface="Inter"/>
              </a:rPr>
              <a:t>TASK &amp; USER ANALYSIS</a:t>
            </a:r>
          </a:p>
        </p:txBody>
      </p:sp>
      <p:sp>
        <p:nvSpPr>
          <p:cNvPr id="14" name="TextBox 13"/>
          <p:cNvSpPr txBox="1"/>
          <p:nvPr/>
        </p:nvSpPr>
        <p:spPr>
          <a:xfrm>
            <a:off x="2971800" y="3749040"/>
            <a:ext cx="1737360" cy="1463040"/>
          </a:xfrm>
          <a:prstGeom prst="rect">
            <a:avLst/>
          </a:prstGeom>
          <a:noFill/>
        </p:spPr>
        <p:txBody>
          <a:bodyPr wrap="square" lIns="0" tIns="0" rIns="0" bIns="0" anchor="t">
            <a:spAutoFit/>
          </a:bodyPr>
          <a:lstStyle/>
          <a:p>
            <a:pPr algn="l">
              <a:lnSpc>
                <a:spcPct val="145000"/>
              </a:lnSpc>
            </a:pPr>
            <a:r>
              <a:rPr sz="1100" b="0" i="0">
                <a:solidFill>
                  <a:srgbClr val="C8CDD8"/>
                </a:solidFill>
                <a:latin typeface="Inter"/>
              </a:rPr>
              <a:t>Cognitive, perceptual, motor, and workload demands on the learner.</a:t>
            </a:r>
          </a:p>
        </p:txBody>
      </p:sp>
      <p:sp>
        <p:nvSpPr>
          <p:cNvPr id="15" name="Rectangle 14"/>
          <p:cNvSpPr/>
          <p:nvPr/>
        </p:nvSpPr>
        <p:spPr>
          <a:xfrm>
            <a:off x="5029200" y="2286000"/>
            <a:ext cx="2103120" cy="31089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0" y="2286000"/>
            <a:ext cx="2103120" cy="381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12080" y="2468880"/>
            <a:ext cx="1737360" cy="365760"/>
          </a:xfrm>
          <a:prstGeom prst="rect">
            <a:avLst/>
          </a:prstGeom>
          <a:noFill/>
        </p:spPr>
        <p:txBody>
          <a:bodyPr wrap="square" lIns="0" tIns="0" rIns="0" bIns="0" anchor="t">
            <a:spAutoFit/>
          </a:bodyPr>
          <a:lstStyle/>
          <a:p>
            <a:pPr algn="l">
              <a:lnSpc>
                <a:spcPct val="125000"/>
              </a:lnSpc>
            </a:pPr>
            <a:r>
              <a:rPr sz="1000" b="1" i="0" spc="150">
                <a:solidFill>
                  <a:srgbClr val="7B9FE0"/>
                </a:solidFill>
                <a:latin typeface="Inter"/>
              </a:rPr>
              <a:t>PHASE 3</a:t>
            </a:r>
          </a:p>
        </p:txBody>
      </p:sp>
      <p:sp>
        <p:nvSpPr>
          <p:cNvPr id="18" name="TextBox 17"/>
          <p:cNvSpPr txBox="1"/>
          <p:nvPr/>
        </p:nvSpPr>
        <p:spPr>
          <a:xfrm>
            <a:off x="5212080" y="2834640"/>
            <a:ext cx="1737360" cy="731520"/>
          </a:xfrm>
          <a:prstGeom prst="rect">
            <a:avLst/>
          </a:prstGeom>
          <a:noFill/>
        </p:spPr>
        <p:txBody>
          <a:bodyPr wrap="square" lIns="0" tIns="0" rIns="0" bIns="0" anchor="t">
            <a:spAutoFit/>
          </a:bodyPr>
          <a:lstStyle/>
          <a:p>
            <a:pPr algn="l">
              <a:lnSpc>
                <a:spcPct val="120000"/>
              </a:lnSpc>
            </a:pPr>
            <a:r>
              <a:rPr sz="1300" b="1" i="0">
                <a:solidFill>
                  <a:srgbClr val="F0F2F5"/>
                </a:solidFill>
                <a:latin typeface="Inter"/>
              </a:rPr>
              <a:t>DATA &amp; METHODOLOGY</a:t>
            </a:r>
          </a:p>
        </p:txBody>
      </p:sp>
      <p:sp>
        <p:nvSpPr>
          <p:cNvPr id="19" name="TextBox 18"/>
          <p:cNvSpPr txBox="1"/>
          <p:nvPr/>
        </p:nvSpPr>
        <p:spPr>
          <a:xfrm>
            <a:off x="5212080" y="3749040"/>
            <a:ext cx="1737360" cy="1463040"/>
          </a:xfrm>
          <a:prstGeom prst="rect">
            <a:avLst/>
          </a:prstGeom>
          <a:noFill/>
        </p:spPr>
        <p:txBody>
          <a:bodyPr wrap="square" lIns="0" tIns="0" rIns="0" bIns="0" anchor="t">
            <a:spAutoFit/>
          </a:bodyPr>
          <a:lstStyle/>
          <a:p>
            <a:pPr algn="l">
              <a:lnSpc>
                <a:spcPct val="145000"/>
              </a:lnSpc>
            </a:pPr>
            <a:r>
              <a:rPr sz="1100" b="0" i="0">
                <a:solidFill>
                  <a:srgbClr val="C8CDD8"/>
                </a:solidFill>
                <a:latin typeface="Inter"/>
              </a:rPr>
              <a:t>A 15 source research corpus and a proposed 24 week experiment.</a:t>
            </a:r>
          </a:p>
        </p:txBody>
      </p:sp>
      <p:sp>
        <p:nvSpPr>
          <p:cNvPr id="20" name="Rectangle 19"/>
          <p:cNvSpPr/>
          <p:nvPr/>
        </p:nvSpPr>
        <p:spPr>
          <a:xfrm>
            <a:off x="7269480" y="2286000"/>
            <a:ext cx="2103120" cy="31089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269480" y="2286000"/>
            <a:ext cx="2103120" cy="3810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52360" y="2468880"/>
            <a:ext cx="1737360" cy="365760"/>
          </a:xfrm>
          <a:prstGeom prst="rect">
            <a:avLst/>
          </a:prstGeom>
          <a:noFill/>
        </p:spPr>
        <p:txBody>
          <a:bodyPr wrap="square" lIns="0" tIns="0" rIns="0" bIns="0" anchor="t">
            <a:spAutoFit/>
          </a:bodyPr>
          <a:lstStyle/>
          <a:p>
            <a:pPr algn="l">
              <a:lnSpc>
                <a:spcPct val="125000"/>
              </a:lnSpc>
            </a:pPr>
            <a:r>
              <a:rPr sz="1000" b="1" i="0" spc="150">
                <a:solidFill>
                  <a:srgbClr val="E07BAA"/>
                </a:solidFill>
                <a:latin typeface="Inter"/>
              </a:rPr>
              <a:t>PHASE 4</a:t>
            </a:r>
          </a:p>
        </p:txBody>
      </p:sp>
      <p:sp>
        <p:nvSpPr>
          <p:cNvPr id="23" name="TextBox 22"/>
          <p:cNvSpPr txBox="1"/>
          <p:nvPr/>
        </p:nvSpPr>
        <p:spPr>
          <a:xfrm>
            <a:off x="7452360" y="2834640"/>
            <a:ext cx="1737360" cy="731520"/>
          </a:xfrm>
          <a:prstGeom prst="rect">
            <a:avLst/>
          </a:prstGeom>
          <a:noFill/>
        </p:spPr>
        <p:txBody>
          <a:bodyPr wrap="square" lIns="0" tIns="0" rIns="0" bIns="0" anchor="t">
            <a:spAutoFit/>
          </a:bodyPr>
          <a:lstStyle/>
          <a:p>
            <a:pPr algn="l">
              <a:lnSpc>
                <a:spcPct val="120000"/>
              </a:lnSpc>
            </a:pPr>
            <a:r>
              <a:rPr sz="1300" b="1" i="0">
                <a:solidFill>
                  <a:srgbClr val="F0F2F5"/>
                </a:solidFill>
                <a:latin typeface="Inter"/>
              </a:rPr>
              <a:t>HF ANALYSIS &amp; FINDINGS</a:t>
            </a:r>
          </a:p>
        </p:txBody>
      </p:sp>
      <p:sp>
        <p:nvSpPr>
          <p:cNvPr id="24" name="TextBox 23"/>
          <p:cNvSpPr txBox="1"/>
          <p:nvPr/>
        </p:nvSpPr>
        <p:spPr>
          <a:xfrm>
            <a:off x="7452360" y="3749040"/>
            <a:ext cx="1737360" cy="1463040"/>
          </a:xfrm>
          <a:prstGeom prst="rect">
            <a:avLst/>
          </a:prstGeom>
          <a:noFill/>
        </p:spPr>
        <p:txBody>
          <a:bodyPr wrap="square" lIns="0" tIns="0" rIns="0" bIns="0" anchor="t">
            <a:spAutoFit/>
          </a:bodyPr>
          <a:lstStyle/>
          <a:p>
            <a:pPr algn="l">
              <a:lnSpc>
                <a:spcPct val="145000"/>
              </a:lnSpc>
            </a:pPr>
            <a:r>
              <a:rPr sz="1100" b="0" i="0">
                <a:solidFill>
                  <a:srgbClr val="C8CDD8"/>
                </a:solidFill>
                <a:latin typeface="Inter"/>
              </a:rPr>
              <a:t>An HFACS walk across all four Swiss Cheese layers.</a:t>
            </a:r>
          </a:p>
        </p:txBody>
      </p:sp>
      <p:sp>
        <p:nvSpPr>
          <p:cNvPr id="25" name="Rectangle 24"/>
          <p:cNvSpPr/>
          <p:nvPr/>
        </p:nvSpPr>
        <p:spPr>
          <a:xfrm>
            <a:off x="9509760" y="2286000"/>
            <a:ext cx="2103120" cy="31089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509760" y="2286000"/>
            <a:ext cx="2103120" cy="3810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92640" y="2468880"/>
            <a:ext cx="1737360" cy="365760"/>
          </a:xfrm>
          <a:prstGeom prst="rect">
            <a:avLst/>
          </a:prstGeom>
          <a:noFill/>
        </p:spPr>
        <p:txBody>
          <a:bodyPr wrap="square" lIns="0" tIns="0" rIns="0" bIns="0" anchor="t">
            <a:spAutoFit/>
          </a:bodyPr>
          <a:lstStyle/>
          <a:p>
            <a:pPr algn="l">
              <a:lnSpc>
                <a:spcPct val="125000"/>
              </a:lnSpc>
            </a:pPr>
            <a:r>
              <a:rPr sz="1000" b="1" i="0" spc="150">
                <a:solidFill>
                  <a:srgbClr val="7BE0B4"/>
                </a:solidFill>
                <a:latin typeface="Inter"/>
              </a:rPr>
              <a:t>PHASE 5</a:t>
            </a:r>
          </a:p>
        </p:txBody>
      </p:sp>
      <p:sp>
        <p:nvSpPr>
          <p:cNvPr id="28" name="TextBox 27"/>
          <p:cNvSpPr txBox="1"/>
          <p:nvPr/>
        </p:nvSpPr>
        <p:spPr>
          <a:xfrm>
            <a:off x="9692640" y="2834640"/>
            <a:ext cx="1737360" cy="731520"/>
          </a:xfrm>
          <a:prstGeom prst="rect">
            <a:avLst/>
          </a:prstGeom>
          <a:noFill/>
        </p:spPr>
        <p:txBody>
          <a:bodyPr wrap="square" lIns="0" tIns="0" rIns="0" bIns="0" anchor="t">
            <a:spAutoFit/>
          </a:bodyPr>
          <a:lstStyle/>
          <a:p>
            <a:pPr algn="l">
              <a:lnSpc>
                <a:spcPct val="120000"/>
              </a:lnSpc>
            </a:pPr>
            <a:r>
              <a:rPr sz="1300" b="1" i="0">
                <a:solidFill>
                  <a:srgbClr val="F0F2F5"/>
                </a:solidFill>
                <a:latin typeface="Inter"/>
              </a:rPr>
              <a:t>REDESIGN</a:t>
            </a:r>
          </a:p>
        </p:txBody>
      </p:sp>
      <p:sp>
        <p:nvSpPr>
          <p:cNvPr id="29" name="TextBox 28"/>
          <p:cNvSpPr txBox="1"/>
          <p:nvPr/>
        </p:nvSpPr>
        <p:spPr>
          <a:xfrm>
            <a:off x="9692640" y="3749040"/>
            <a:ext cx="1737360" cy="1463040"/>
          </a:xfrm>
          <a:prstGeom prst="rect">
            <a:avLst/>
          </a:prstGeom>
          <a:noFill/>
        </p:spPr>
        <p:txBody>
          <a:bodyPr wrap="square" lIns="0" tIns="0" rIns="0" bIns="0" anchor="t">
            <a:spAutoFit/>
          </a:bodyPr>
          <a:lstStyle/>
          <a:p>
            <a:pPr algn="l">
              <a:lnSpc>
                <a:spcPct val="145000"/>
              </a:lnSpc>
            </a:pPr>
            <a:r>
              <a:rPr sz="1100" b="0" i="0">
                <a:solidFill>
                  <a:srgbClr val="C8CDD8"/>
                </a:solidFill>
                <a:latin typeface="Inter"/>
              </a:rPr>
              <a:t>Three pillars, a working prototype, and a multi agent future.</a:t>
            </a:r>
          </a:p>
        </p:txBody>
      </p:sp>
      <p:sp>
        <p:nvSpPr>
          <p:cNvPr id="30" name="TextBox 29"/>
          <p:cNvSpPr txBox="1"/>
          <p:nvPr/>
        </p:nvSpPr>
        <p:spPr>
          <a:xfrm>
            <a:off x="548640" y="5577840"/>
            <a:ext cx="11094415" cy="457200"/>
          </a:xfrm>
          <a:prstGeom prst="rect">
            <a:avLst/>
          </a:prstGeom>
          <a:noFill/>
        </p:spPr>
        <p:txBody>
          <a:bodyPr wrap="square" lIns="0" tIns="0" rIns="0" bIns="0" anchor="t">
            <a:spAutoFit/>
          </a:bodyPr>
          <a:lstStyle/>
          <a:p>
            <a:pPr algn="ctr">
              <a:lnSpc>
                <a:spcPct val="125000"/>
              </a:lnSpc>
            </a:pPr>
            <a:r>
              <a:rPr sz="1200" b="0" i="1">
                <a:solidFill>
                  <a:srgbClr val="7B9FE0"/>
                </a:solidFill>
                <a:latin typeface="Inter"/>
              </a:rPr>
              <a:t>Macro arc: Evaluate, Analyze, Improve.</a:t>
            </a:r>
          </a:p>
        </p:txBody>
      </p:sp>
      <p:sp>
        <p:nvSpPr>
          <p:cNvPr id="31" name="TextBox 30"/>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32" name="TextBox 31"/>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A8290"/>
                </a:solidFill>
                <a:latin typeface="Inter"/>
              </a:rPr>
              <a:t>WHY THIS PROJECT</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Months of streaks. And still, no conversation.</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A pattern we have all seen, and the reason this report exists.</a:t>
            </a:r>
          </a:p>
        </p:txBody>
      </p:sp>
      <p:sp>
        <p:nvSpPr>
          <p:cNvPr id="6" name="Rectangle 5"/>
          <p:cNvSpPr/>
          <p:nvPr/>
        </p:nvSpPr>
        <p:spPr>
          <a:xfrm>
            <a:off x="548640" y="2651760"/>
            <a:ext cx="11094415" cy="15544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651760"/>
            <a:ext cx="50800" cy="15544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788920"/>
            <a:ext cx="10972800" cy="365760"/>
          </a:xfrm>
          <a:prstGeom prst="rect">
            <a:avLst/>
          </a:prstGeom>
          <a:noFill/>
        </p:spPr>
        <p:txBody>
          <a:bodyPr wrap="square" lIns="0" tIns="0" rIns="0" bIns="0" anchor="t">
            <a:spAutoFit/>
          </a:bodyPr>
          <a:lstStyle/>
          <a:p>
            <a:pPr algn="l">
              <a:lnSpc>
                <a:spcPct val="125000"/>
              </a:lnSpc>
            </a:pPr>
            <a:r>
              <a:rPr sz="1100" b="1" i="0" spc="120">
                <a:solidFill>
                  <a:srgbClr val="E0C27B"/>
                </a:solidFill>
                <a:latin typeface="Inter"/>
              </a:rPr>
              <a:t>THE PATTERN</a:t>
            </a:r>
          </a:p>
        </p:txBody>
      </p:sp>
      <p:sp>
        <p:nvSpPr>
          <p:cNvPr id="9" name="TextBox 8"/>
          <p:cNvSpPr txBox="1"/>
          <p:nvPr/>
        </p:nvSpPr>
        <p:spPr>
          <a:xfrm>
            <a:off x="868680" y="3200400"/>
            <a:ext cx="10972800" cy="777008"/>
          </a:xfrm>
          <a:prstGeom prst="rect">
            <a:avLst/>
          </a:prstGeom>
          <a:noFill/>
        </p:spPr>
        <p:txBody>
          <a:bodyPr wrap="square" lIns="0" tIns="0" rIns="0" bIns="0" anchor="t">
            <a:spAutoFit/>
          </a:bodyPr>
          <a:lstStyle/>
          <a:p>
            <a:pPr>
              <a:lnSpc>
                <a:spcPct val="145000"/>
              </a:lnSpc>
            </a:pPr>
            <a:r>
              <a:rPr sz="1200" b="0" i="0" dirty="0">
                <a:solidFill>
                  <a:srgbClr val="C8CDD8"/>
                </a:solidFill>
                <a:latin typeface="Inter"/>
              </a:rPr>
              <a:t>A learner opens Duolingo every day. A long streak. Thousands of XP. The bird is happy. Then the moment arrives</a:t>
            </a:r>
            <a:r>
              <a:rPr lang="en-US" sz="1200" dirty="0">
                <a:solidFill>
                  <a:srgbClr val="C8CDD8"/>
                </a:solidFill>
                <a:latin typeface="Inter"/>
              </a:rPr>
              <a:t>, which could be a </a:t>
            </a:r>
            <a:r>
              <a:rPr sz="1200" b="0" i="0" dirty="0">
                <a:solidFill>
                  <a:srgbClr val="C8CDD8"/>
                </a:solidFill>
                <a:latin typeface="Inter"/>
              </a:rPr>
              <a:t>trip abroad, a new coworker, a family visit. The learner opens their mouth and nothing comes out</a:t>
            </a:r>
            <a:r>
              <a:rPr lang="en-US" sz="1200" dirty="0">
                <a:solidFill>
                  <a:srgbClr val="C8CDD8"/>
                </a:solidFill>
                <a:latin typeface="Inter"/>
              </a:rPr>
              <a:t>, or is too nervous or embarrassed. </a:t>
            </a:r>
            <a:endParaRPr sz="1200" b="0" i="0" dirty="0">
              <a:solidFill>
                <a:srgbClr val="C8CDD8"/>
              </a:solidFill>
              <a:latin typeface="Inter"/>
            </a:endParaRPr>
          </a:p>
          <a:p>
            <a:pPr>
              <a:lnSpc>
                <a:spcPct val="145000"/>
              </a:lnSpc>
            </a:pPr>
            <a:r>
              <a:rPr sz="1200" b="0" i="0" dirty="0">
                <a:solidFill>
                  <a:srgbClr val="C8CDD8"/>
                </a:solidFill>
                <a:latin typeface="Inter"/>
              </a:rPr>
              <a:t>This is the transfer gap. The app is the system. The </a:t>
            </a:r>
            <a:r>
              <a:rPr lang="en-US" sz="1200" dirty="0">
                <a:solidFill>
                  <a:srgbClr val="C8CDD8"/>
                </a:solidFill>
                <a:latin typeface="Inter"/>
              </a:rPr>
              <a:t>specific </a:t>
            </a:r>
            <a:r>
              <a:rPr sz="1200" b="0" i="0" dirty="0">
                <a:solidFill>
                  <a:srgbClr val="C8CDD8"/>
                </a:solidFill>
                <a:latin typeface="Inter"/>
              </a:rPr>
              <a:t>moment </a:t>
            </a:r>
            <a:r>
              <a:rPr lang="en-US" sz="1200" dirty="0">
                <a:solidFill>
                  <a:srgbClr val="C8CDD8"/>
                </a:solidFill>
                <a:latin typeface="Inter"/>
              </a:rPr>
              <a:t>where the learner is tasked </a:t>
            </a:r>
            <a:r>
              <a:rPr lang="en-US" sz="1200">
                <a:solidFill>
                  <a:srgbClr val="C8CDD8"/>
                </a:solidFill>
                <a:latin typeface="Inter"/>
              </a:rPr>
              <a:t>with speaking</a:t>
            </a:r>
            <a:r>
              <a:rPr lang="en-US" sz="1200" dirty="0">
                <a:solidFill>
                  <a:srgbClr val="C8CDD8"/>
                </a:solidFill>
                <a:latin typeface="Inter"/>
              </a:rPr>
              <a:t> </a:t>
            </a:r>
            <a:r>
              <a:rPr sz="1200" b="0" i="0">
                <a:solidFill>
                  <a:srgbClr val="C8CDD8"/>
                </a:solidFill>
                <a:latin typeface="Inter"/>
              </a:rPr>
              <a:t>is where transfer either happened or did not.</a:t>
            </a:r>
          </a:p>
        </p:txBody>
      </p:sp>
      <p:sp>
        <p:nvSpPr>
          <p:cNvPr id="10" name="Rectangle 9"/>
          <p:cNvSpPr/>
          <p:nvPr/>
        </p:nvSpPr>
        <p:spPr>
          <a:xfrm>
            <a:off x="548640" y="4434840"/>
            <a:ext cx="5532120" cy="17373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434840"/>
            <a:ext cx="50800" cy="173736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4572000"/>
            <a:ext cx="5166360" cy="411480"/>
          </a:xfrm>
          <a:prstGeom prst="rect">
            <a:avLst/>
          </a:prstGeom>
          <a:noFill/>
        </p:spPr>
        <p:txBody>
          <a:bodyPr wrap="square" lIns="0" tIns="0" rIns="0" bIns="0" anchor="t">
            <a:spAutoFit/>
          </a:bodyPr>
          <a:lstStyle/>
          <a:p>
            <a:pPr algn="l">
              <a:lnSpc>
                <a:spcPct val="115000"/>
              </a:lnSpc>
            </a:pPr>
            <a:r>
              <a:rPr sz="1200" b="1" i="0" spc="100">
                <a:solidFill>
                  <a:srgbClr val="E07B7B"/>
                </a:solidFill>
                <a:latin typeface="Inter"/>
              </a:rPr>
              <a:t>WHAT THIS IS NOT</a:t>
            </a:r>
          </a:p>
        </p:txBody>
      </p:sp>
      <p:sp>
        <p:nvSpPr>
          <p:cNvPr id="13" name="TextBox 12"/>
          <p:cNvSpPr txBox="1"/>
          <p:nvPr/>
        </p:nvSpPr>
        <p:spPr>
          <a:xfrm>
            <a:off x="749808" y="4937760"/>
            <a:ext cx="5166360" cy="114300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Not a story about lazy learners. Not a story about bad apps.</a:t>
            </a:r>
          </a:p>
          <a:p>
            <a:pPr algn="l">
              <a:lnSpc>
                <a:spcPct val="140000"/>
              </a:lnSpc>
            </a:pPr>
            <a:r>
              <a:rPr sz="1100" b="0" i="0">
                <a:solidFill>
                  <a:srgbClr val="C8CDD8"/>
                </a:solidFill>
                <a:latin typeface="Inter"/>
              </a:rPr>
              <a:t>The learner did what the system asked them to do. The streak is real. The XP is real.</a:t>
            </a:r>
          </a:p>
        </p:txBody>
      </p:sp>
      <p:sp>
        <p:nvSpPr>
          <p:cNvPr id="14" name="Rectangle 13"/>
          <p:cNvSpPr/>
          <p:nvPr/>
        </p:nvSpPr>
        <p:spPr>
          <a:xfrm>
            <a:off x="6309360" y="4434840"/>
            <a:ext cx="5532120" cy="17373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60" y="4434840"/>
            <a:ext cx="50800" cy="173736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10528" y="4572000"/>
            <a:ext cx="5166360" cy="411480"/>
          </a:xfrm>
          <a:prstGeom prst="rect">
            <a:avLst/>
          </a:prstGeom>
          <a:noFill/>
        </p:spPr>
        <p:txBody>
          <a:bodyPr wrap="square" lIns="0" tIns="0" rIns="0" bIns="0" anchor="t">
            <a:spAutoFit/>
          </a:bodyPr>
          <a:lstStyle/>
          <a:p>
            <a:pPr algn="l">
              <a:lnSpc>
                <a:spcPct val="115000"/>
              </a:lnSpc>
            </a:pPr>
            <a:r>
              <a:rPr sz="1200" b="1" i="0" spc="100">
                <a:solidFill>
                  <a:srgbClr val="7BE0B4"/>
                </a:solidFill>
                <a:latin typeface="Inter"/>
              </a:rPr>
              <a:t>WHAT THIS IS</a:t>
            </a:r>
          </a:p>
        </p:txBody>
      </p:sp>
      <p:sp>
        <p:nvSpPr>
          <p:cNvPr id="17" name="TextBox 16"/>
          <p:cNvSpPr txBox="1"/>
          <p:nvPr/>
        </p:nvSpPr>
        <p:spPr>
          <a:xfrm>
            <a:off x="6510528" y="4937760"/>
            <a:ext cx="5166360" cy="114300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A Human Factors investigation of why the system does not produce the outcome its learners came for, and a prototype redesign that puts the right signal in the loop.</a:t>
            </a:r>
          </a:p>
        </p:txBody>
      </p:sp>
      <p:sp>
        <p:nvSpPr>
          <p:cNvPr id="18" name="TextBox 17"/>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9" name="TextBox 18"/>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7B"/>
                </a:solidFill>
                <a:latin typeface="Inter"/>
              </a:rPr>
              <a:t>PHASE 1 · SYSTEM &amp; CONTEXT</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Duolingo is a 500 million learner human machine system.</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The people who build it, the people who use it, and the environment they use it in.</a:t>
            </a:r>
          </a:p>
        </p:txBody>
      </p:sp>
      <p:sp>
        <p:nvSpPr>
          <p:cNvPr id="6" name="Rectangle 5"/>
          <p:cNvSpPr/>
          <p:nvPr/>
        </p:nvSpPr>
        <p:spPr>
          <a:xfrm>
            <a:off x="548640" y="2743200"/>
            <a:ext cx="3611880"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743200"/>
            <a:ext cx="50800" cy="301752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880360"/>
            <a:ext cx="3246120" cy="411480"/>
          </a:xfrm>
          <a:prstGeom prst="rect">
            <a:avLst/>
          </a:prstGeom>
          <a:noFill/>
        </p:spPr>
        <p:txBody>
          <a:bodyPr wrap="square" lIns="0" tIns="0" rIns="0" bIns="0" anchor="t">
            <a:spAutoFit/>
          </a:bodyPr>
          <a:lstStyle/>
          <a:p>
            <a:pPr algn="l">
              <a:lnSpc>
                <a:spcPct val="115000"/>
              </a:lnSpc>
            </a:pPr>
            <a:r>
              <a:rPr sz="1200" b="1" i="0" spc="100">
                <a:solidFill>
                  <a:srgbClr val="7B9FE0"/>
                </a:solidFill>
                <a:latin typeface="Inter"/>
              </a:rPr>
              <a:t>THE PEOPLE WHO BUILD IT</a:t>
            </a:r>
          </a:p>
        </p:txBody>
      </p:sp>
      <p:sp>
        <p:nvSpPr>
          <p:cNvPr id="9" name="TextBox 8"/>
          <p:cNvSpPr txBox="1"/>
          <p:nvPr/>
        </p:nvSpPr>
        <p:spPr>
          <a:xfrm>
            <a:off x="749808" y="3246120"/>
            <a:ext cx="3246120" cy="242316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Content and curriculum designers who write lessons.</a:t>
            </a:r>
          </a:p>
          <a:p>
            <a:pPr algn="l">
              <a:lnSpc>
                <a:spcPct val="140000"/>
              </a:lnSpc>
            </a:pPr>
            <a:r>
              <a:rPr sz="1100" b="0" i="0">
                <a:solidFill>
                  <a:srgbClr val="C8CDD8"/>
                </a:solidFill>
                <a:latin typeface="Inter"/>
              </a:rPr>
              <a:t>• The engineering team behind Birdbrain, Duolingo's in house algorithm that decides which exercise you see next.</a:t>
            </a:r>
          </a:p>
          <a:p>
            <a:pPr algn="l">
              <a:lnSpc>
                <a:spcPct val="140000"/>
              </a:lnSpc>
            </a:pPr>
            <a:r>
              <a:rPr sz="1100" b="0" i="0">
                <a:solidFill>
                  <a:srgbClr val="C8CDD8"/>
                </a:solidFill>
                <a:latin typeface="Inter"/>
              </a:rPr>
              <a:t>• Growth and engagement product teams who manage streaks, notifications, and daily return.</a:t>
            </a:r>
          </a:p>
        </p:txBody>
      </p:sp>
      <p:sp>
        <p:nvSpPr>
          <p:cNvPr id="10" name="Rectangle 9"/>
          <p:cNvSpPr/>
          <p:nvPr/>
        </p:nvSpPr>
        <p:spPr>
          <a:xfrm>
            <a:off x="4297680" y="2743200"/>
            <a:ext cx="3611880"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743200"/>
            <a:ext cx="50800" cy="301752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98848" y="2880360"/>
            <a:ext cx="3246120" cy="411480"/>
          </a:xfrm>
          <a:prstGeom prst="rect">
            <a:avLst/>
          </a:prstGeom>
          <a:noFill/>
        </p:spPr>
        <p:txBody>
          <a:bodyPr wrap="square" lIns="0" tIns="0" rIns="0" bIns="0" anchor="t">
            <a:spAutoFit/>
          </a:bodyPr>
          <a:lstStyle/>
          <a:p>
            <a:pPr algn="l">
              <a:lnSpc>
                <a:spcPct val="115000"/>
              </a:lnSpc>
            </a:pPr>
            <a:r>
              <a:rPr sz="1200" b="1" i="0" spc="100">
                <a:solidFill>
                  <a:srgbClr val="E0C27B"/>
                </a:solidFill>
                <a:latin typeface="Inter"/>
              </a:rPr>
              <a:t>THE PEOPLE WHO USE IT</a:t>
            </a:r>
          </a:p>
        </p:txBody>
      </p:sp>
      <p:sp>
        <p:nvSpPr>
          <p:cNvPr id="13" name="TextBox 12"/>
          <p:cNvSpPr txBox="1"/>
          <p:nvPr/>
        </p:nvSpPr>
        <p:spPr>
          <a:xfrm>
            <a:off x="4498848" y="3246120"/>
            <a:ext cx="3246120" cy="242316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500M+ monthly active learners, mostly adults, mostly self directed.</a:t>
            </a:r>
          </a:p>
          <a:p>
            <a:pPr algn="l">
              <a:lnSpc>
                <a:spcPct val="140000"/>
              </a:lnSpc>
            </a:pPr>
            <a:r>
              <a:rPr sz="1100" b="0" i="0">
                <a:solidFill>
                  <a:srgbClr val="C8CDD8"/>
                </a:solidFill>
                <a:latin typeface="Inter"/>
              </a:rPr>
              <a:t>• Mobile first. No classroom and no in person tutor.</a:t>
            </a:r>
          </a:p>
          <a:p>
            <a:pPr algn="l">
              <a:lnSpc>
                <a:spcPct val="140000"/>
              </a:lnSpc>
            </a:pPr>
            <a:r>
              <a:rPr sz="1100" b="0" i="0">
                <a:solidFill>
                  <a:srgbClr val="C8CDD8"/>
                </a:solidFill>
                <a:latin typeface="Inter"/>
              </a:rPr>
              <a:t>• Motivated by visible progress: streak count, XP, crown level.</a:t>
            </a:r>
          </a:p>
          <a:p>
            <a:pPr algn="l">
              <a:lnSpc>
                <a:spcPct val="140000"/>
              </a:lnSpc>
            </a:pPr>
            <a:r>
              <a:rPr sz="1100" b="0" i="0">
                <a:solidFill>
                  <a:srgbClr val="C8CDD8"/>
                </a:solidFill>
                <a:latin typeface="Inter"/>
              </a:rPr>
              <a:t>• Stated goal: hold a real conversation.</a:t>
            </a:r>
          </a:p>
          <a:p>
            <a:pPr algn="l">
              <a:lnSpc>
                <a:spcPct val="140000"/>
              </a:lnSpc>
            </a:pPr>
            <a:r>
              <a:rPr sz="1100" b="0" i="0">
                <a:solidFill>
                  <a:srgbClr val="C8CDD8"/>
                </a:solidFill>
                <a:latin typeface="Inter"/>
              </a:rPr>
              <a:t>• Measured behavior: daily login.</a:t>
            </a:r>
          </a:p>
        </p:txBody>
      </p:sp>
      <p:sp>
        <p:nvSpPr>
          <p:cNvPr id="14" name="Rectangle 13"/>
          <p:cNvSpPr/>
          <p:nvPr/>
        </p:nvSpPr>
        <p:spPr>
          <a:xfrm>
            <a:off x="8046720" y="2743200"/>
            <a:ext cx="3611880"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2743200"/>
            <a:ext cx="50800" cy="301752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47888" y="2880360"/>
            <a:ext cx="3246120" cy="411480"/>
          </a:xfrm>
          <a:prstGeom prst="rect">
            <a:avLst/>
          </a:prstGeom>
          <a:noFill/>
        </p:spPr>
        <p:txBody>
          <a:bodyPr wrap="square" lIns="0" tIns="0" rIns="0" bIns="0" anchor="t">
            <a:spAutoFit/>
          </a:bodyPr>
          <a:lstStyle/>
          <a:p>
            <a:pPr algn="l">
              <a:lnSpc>
                <a:spcPct val="115000"/>
              </a:lnSpc>
            </a:pPr>
            <a:r>
              <a:rPr sz="1200" b="1" i="0" spc="100">
                <a:solidFill>
                  <a:srgbClr val="7BE0B4"/>
                </a:solidFill>
                <a:latin typeface="Inter"/>
              </a:rPr>
              <a:t>THE ENVIRONMENT</a:t>
            </a:r>
          </a:p>
        </p:txBody>
      </p:sp>
      <p:sp>
        <p:nvSpPr>
          <p:cNvPr id="17" name="TextBox 16"/>
          <p:cNvSpPr txBox="1"/>
          <p:nvPr/>
        </p:nvSpPr>
        <p:spPr>
          <a:xfrm>
            <a:off x="8247888" y="3246120"/>
            <a:ext cx="3246120" cy="242316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Short sessions under 15 minutes on a phone.</a:t>
            </a:r>
          </a:p>
          <a:p>
            <a:pPr algn="l">
              <a:lnSpc>
                <a:spcPct val="140000"/>
              </a:lnSpc>
            </a:pPr>
            <a:r>
              <a:rPr sz="1100" b="0" i="0">
                <a:solidFill>
                  <a:srgbClr val="C8CDD8"/>
                </a:solidFill>
                <a:latin typeface="Inter"/>
              </a:rPr>
              <a:t>• In between moments: commute, couch, waiting room.</a:t>
            </a:r>
          </a:p>
          <a:p>
            <a:pPr algn="l">
              <a:lnSpc>
                <a:spcPct val="140000"/>
              </a:lnSpc>
            </a:pPr>
            <a:r>
              <a:rPr sz="1100" b="0" i="0">
                <a:solidFill>
                  <a:srgbClr val="C8CDD8"/>
                </a:solidFill>
                <a:latin typeface="Inter"/>
              </a:rPr>
              <a:t>• A dense gamified interface.</a:t>
            </a:r>
          </a:p>
          <a:p>
            <a:pPr algn="l">
              <a:lnSpc>
                <a:spcPct val="140000"/>
              </a:lnSpc>
            </a:pPr>
            <a:r>
              <a:rPr sz="1100" b="0" i="0">
                <a:solidFill>
                  <a:srgbClr val="C8CDD8"/>
                </a:solidFill>
                <a:latin typeface="Inter"/>
              </a:rPr>
              <a:t>• No other person is in the loop.</a:t>
            </a:r>
          </a:p>
          <a:p>
            <a:pPr algn="l">
              <a:lnSpc>
                <a:spcPct val="140000"/>
              </a:lnSpc>
            </a:pPr>
            <a:r>
              <a:rPr sz="1100" b="0" i="0">
                <a:solidFill>
                  <a:srgbClr val="C8CDD8"/>
                </a:solidFill>
                <a:latin typeface="Inter"/>
              </a:rPr>
              <a:t>• The same visual context every session.</a:t>
            </a:r>
          </a:p>
        </p:txBody>
      </p:sp>
      <p:sp>
        <p:nvSpPr>
          <p:cNvPr id="18" name="TextBox 17"/>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9" name="TextBox 18"/>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7B"/>
                </a:solidFill>
                <a:latin typeface="Inter"/>
              </a:rPr>
              <a:t>PHASE 1 · SYSTEM &amp; CONTEXT</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Every human machine system sits under three stressor layers.</a:t>
            </a:r>
          </a:p>
        </p:txBody>
      </p:sp>
      <p:sp>
        <p:nvSpPr>
          <p:cNvPr id="6" name="Rectangle 5"/>
          <p:cNvSpPr/>
          <p:nvPr/>
        </p:nvSpPr>
        <p:spPr>
          <a:xfrm>
            <a:off x="548640" y="2178396"/>
            <a:ext cx="3611880" cy="27432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178396"/>
            <a:ext cx="50800" cy="27432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315556"/>
            <a:ext cx="3246120" cy="411480"/>
          </a:xfrm>
          <a:prstGeom prst="rect">
            <a:avLst/>
          </a:prstGeom>
          <a:noFill/>
        </p:spPr>
        <p:txBody>
          <a:bodyPr wrap="square" lIns="0" tIns="0" rIns="0" bIns="0" anchor="t">
            <a:spAutoFit/>
          </a:bodyPr>
          <a:lstStyle/>
          <a:p>
            <a:pPr algn="l">
              <a:lnSpc>
                <a:spcPct val="115000"/>
              </a:lnSpc>
            </a:pPr>
            <a:r>
              <a:rPr sz="1200" b="1" i="0" spc="100">
                <a:solidFill>
                  <a:srgbClr val="E07B7B"/>
                </a:solidFill>
                <a:latin typeface="Inter"/>
              </a:rPr>
              <a:t>INTERNAL STRESSORS</a:t>
            </a:r>
          </a:p>
        </p:txBody>
      </p:sp>
      <p:sp>
        <p:nvSpPr>
          <p:cNvPr id="9" name="TextBox 8"/>
          <p:cNvSpPr txBox="1"/>
          <p:nvPr/>
        </p:nvSpPr>
        <p:spPr>
          <a:xfrm>
            <a:off x="749808" y="2681316"/>
            <a:ext cx="3246120" cy="214884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The learner's own mind at work. A feeling of fluency that comes from seeing a word again. Attention pulled toward XP counters and streak flames instead of the lesson itself.</a:t>
            </a:r>
          </a:p>
        </p:txBody>
      </p:sp>
      <p:sp>
        <p:nvSpPr>
          <p:cNvPr id="10" name="Rectangle 9"/>
          <p:cNvSpPr/>
          <p:nvPr/>
        </p:nvSpPr>
        <p:spPr>
          <a:xfrm>
            <a:off x="4297680" y="2178396"/>
            <a:ext cx="3611880" cy="27432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178396"/>
            <a:ext cx="50800" cy="27432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98848" y="2315556"/>
            <a:ext cx="3246120" cy="411480"/>
          </a:xfrm>
          <a:prstGeom prst="rect">
            <a:avLst/>
          </a:prstGeom>
          <a:noFill/>
        </p:spPr>
        <p:txBody>
          <a:bodyPr wrap="square" lIns="0" tIns="0" rIns="0" bIns="0" anchor="t">
            <a:spAutoFit/>
          </a:bodyPr>
          <a:lstStyle/>
          <a:p>
            <a:pPr algn="l">
              <a:lnSpc>
                <a:spcPct val="115000"/>
              </a:lnSpc>
            </a:pPr>
            <a:r>
              <a:rPr sz="1200" b="1" i="0" spc="100">
                <a:solidFill>
                  <a:srgbClr val="E0C27B"/>
                </a:solidFill>
                <a:latin typeface="Inter"/>
              </a:rPr>
              <a:t>EXTERNAL STRESSORS</a:t>
            </a:r>
          </a:p>
        </p:txBody>
      </p:sp>
      <p:sp>
        <p:nvSpPr>
          <p:cNvPr id="13" name="TextBox 12"/>
          <p:cNvSpPr txBox="1"/>
          <p:nvPr/>
        </p:nvSpPr>
        <p:spPr>
          <a:xfrm>
            <a:off x="4498848" y="2681316"/>
            <a:ext cx="3246120" cy="214884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Streaks, XP, leaderboards, crown progression, and push notifications engineered to create daily return pressure. The app rewards showing up far more than it rewards learning.</a:t>
            </a:r>
          </a:p>
        </p:txBody>
      </p:sp>
      <p:sp>
        <p:nvSpPr>
          <p:cNvPr id="14" name="Rectangle 13"/>
          <p:cNvSpPr/>
          <p:nvPr/>
        </p:nvSpPr>
        <p:spPr>
          <a:xfrm>
            <a:off x="8046720" y="2178396"/>
            <a:ext cx="3611880" cy="27432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2178396"/>
            <a:ext cx="50800" cy="27432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47888" y="2315556"/>
            <a:ext cx="3246120" cy="411480"/>
          </a:xfrm>
          <a:prstGeom prst="rect">
            <a:avLst/>
          </a:prstGeom>
          <a:noFill/>
        </p:spPr>
        <p:txBody>
          <a:bodyPr wrap="square" lIns="0" tIns="0" rIns="0" bIns="0" anchor="t">
            <a:spAutoFit/>
          </a:bodyPr>
          <a:lstStyle/>
          <a:p>
            <a:pPr algn="l">
              <a:lnSpc>
                <a:spcPct val="115000"/>
              </a:lnSpc>
            </a:pPr>
            <a:r>
              <a:rPr sz="1200" b="1" i="0" spc="100">
                <a:solidFill>
                  <a:srgbClr val="7B9FE0"/>
                </a:solidFill>
                <a:latin typeface="Inter"/>
              </a:rPr>
              <a:t>ORGANIZATIONAL STRESSORS</a:t>
            </a:r>
          </a:p>
        </p:txBody>
      </p:sp>
      <p:sp>
        <p:nvSpPr>
          <p:cNvPr id="17" name="TextBox 16"/>
          <p:cNvSpPr txBox="1"/>
          <p:nvPr/>
        </p:nvSpPr>
        <p:spPr>
          <a:xfrm>
            <a:off x="8247888" y="2681316"/>
            <a:ext cx="3246120" cy="1162947"/>
          </a:xfrm>
          <a:prstGeom prst="rect">
            <a:avLst/>
          </a:prstGeom>
          <a:noFill/>
        </p:spPr>
        <p:txBody>
          <a:bodyPr wrap="square" lIns="0" tIns="0" rIns="0" bIns="0" anchor="t">
            <a:spAutoFit/>
          </a:bodyPr>
          <a:lstStyle/>
          <a:p>
            <a:pPr algn="l">
              <a:lnSpc>
                <a:spcPct val="140000"/>
              </a:lnSpc>
            </a:pPr>
            <a:r>
              <a:rPr sz="1100" b="0" i="0" dirty="0">
                <a:solidFill>
                  <a:srgbClr val="C8CDD8"/>
                </a:solidFill>
                <a:latin typeface="Inter"/>
              </a:rPr>
              <a:t>Daily Active Users is the primary business metric. Christensen's Innovator's Dilemma at work: a profitable </a:t>
            </a:r>
            <a:r>
              <a:rPr lang="en-US" sz="1100">
                <a:solidFill>
                  <a:srgbClr val="C8CDD8"/>
                </a:solidFill>
                <a:latin typeface="Inter"/>
              </a:rPr>
              <a:t>item-based</a:t>
            </a:r>
            <a:r>
              <a:rPr sz="1100" b="0" i="0" dirty="0">
                <a:solidFill>
                  <a:srgbClr val="C8CDD8"/>
                </a:solidFill>
                <a:latin typeface="Inter"/>
              </a:rPr>
              <a:t> product is hard to leave behind, even when the better version is conversational. Outcome research only covers reading and listening.</a:t>
            </a:r>
          </a:p>
        </p:txBody>
      </p:sp>
      <p:sp>
        <p:nvSpPr>
          <p:cNvPr id="18" name="Rectangle 17"/>
          <p:cNvSpPr/>
          <p:nvPr/>
        </p:nvSpPr>
        <p:spPr>
          <a:xfrm>
            <a:off x="548640" y="5150196"/>
            <a:ext cx="11094415" cy="64008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5150196"/>
            <a:ext cx="50800" cy="64008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5333076"/>
            <a:ext cx="10682935" cy="182880"/>
          </a:xfrm>
          <a:prstGeom prst="rect">
            <a:avLst/>
          </a:prstGeom>
          <a:noFill/>
        </p:spPr>
        <p:txBody>
          <a:bodyPr wrap="square" lIns="0" tIns="0" rIns="0" bIns="0" anchor="t">
            <a:spAutoFit/>
          </a:bodyPr>
          <a:lstStyle/>
          <a:p>
            <a:pPr algn="l">
              <a:lnSpc>
                <a:spcPct val="140000"/>
              </a:lnSpc>
            </a:pPr>
            <a:r>
              <a:rPr sz="1300" b="0" i="1">
                <a:solidFill>
                  <a:srgbClr val="F0F2F5"/>
                </a:solidFill>
                <a:latin typeface="Inter"/>
              </a:rPr>
              <a:t>These three layers set the stage. The rest of the report traces how they line up into an incident.</a:t>
            </a:r>
          </a:p>
        </p:txBody>
      </p:sp>
      <p:sp>
        <p:nvSpPr>
          <p:cNvPr id="21" name="TextBox 20"/>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2" name="TextBox 21"/>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7B"/>
                </a:solidFill>
                <a:latin typeface="Inter"/>
              </a:rPr>
              <a:t>PHASE 1 · SYSTEM &amp; CONTEXT</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The constraint used to be technology. It isn't anymore.</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The gap that the 2012 design cannot close, and the 2026 technology that now can.</a:t>
            </a:r>
          </a:p>
        </p:txBody>
      </p:sp>
      <p:sp>
        <p:nvSpPr>
          <p:cNvPr id="6" name="Rectangle 5"/>
          <p:cNvSpPr/>
          <p:nvPr/>
        </p:nvSpPr>
        <p:spPr>
          <a:xfrm>
            <a:off x="548640" y="3017520"/>
            <a:ext cx="3611880" cy="23774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3017520"/>
            <a:ext cx="3611880" cy="381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3246120"/>
            <a:ext cx="3154680" cy="731520"/>
          </a:xfrm>
          <a:prstGeom prst="rect">
            <a:avLst/>
          </a:prstGeom>
          <a:noFill/>
        </p:spPr>
        <p:txBody>
          <a:bodyPr wrap="square" lIns="0" tIns="0" rIns="0" bIns="0" anchor="t">
            <a:spAutoFit/>
          </a:bodyPr>
          <a:lstStyle/>
          <a:p>
            <a:pPr algn="l">
              <a:lnSpc>
                <a:spcPct val="125000"/>
              </a:lnSpc>
            </a:pPr>
            <a:r>
              <a:rPr sz="3400" b="1" i="0">
                <a:solidFill>
                  <a:srgbClr val="7B9FE0"/>
                </a:solidFill>
                <a:latin typeface="Inter"/>
              </a:rPr>
              <a:t>2012</a:t>
            </a:r>
          </a:p>
        </p:txBody>
      </p:sp>
      <p:sp>
        <p:nvSpPr>
          <p:cNvPr id="9" name="TextBox 8"/>
          <p:cNvSpPr txBox="1"/>
          <p:nvPr/>
        </p:nvSpPr>
        <p:spPr>
          <a:xfrm>
            <a:off x="822960" y="3931920"/>
            <a:ext cx="3154680" cy="320040"/>
          </a:xfrm>
          <a:prstGeom prst="rect">
            <a:avLst/>
          </a:prstGeom>
          <a:noFill/>
        </p:spPr>
        <p:txBody>
          <a:bodyPr wrap="square" lIns="0" tIns="0" rIns="0" bIns="0" anchor="t">
            <a:spAutoFit/>
          </a:bodyPr>
          <a:lstStyle/>
          <a:p>
            <a:pPr algn="l">
              <a:lnSpc>
                <a:spcPct val="125000"/>
              </a:lnSpc>
            </a:pPr>
            <a:r>
              <a:rPr sz="1000" b="1" i="0" spc="120">
                <a:solidFill>
                  <a:srgbClr val="7A8290"/>
                </a:solidFill>
                <a:latin typeface="Inter"/>
              </a:rPr>
              <a:t>DUOLINGO LAUNCHES</a:t>
            </a:r>
          </a:p>
        </p:txBody>
      </p:sp>
      <p:sp>
        <p:nvSpPr>
          <p:cNvPr id="10" name="TextBox 9"/>
          <p:cNvSpPr txBox="1"/>
          <p:nvPr/>
        </p:nvSpPr>
        <p:spPr>
          <a:xfrm>
            <a:off x="822960" y="4251960"/>
            <a:ext cx="3154680" cy="100584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Gamified and item based. Consumer language apps don't have conversational AI. The technology doesn't exist yet.</a:t>
            </a:r>
          </a:p>
        </p:txBody>
      </p:sp>
      <p:sp>
        <p:nvSpPr>
          <p:cNvPr id="11" name="Rectangle 10"/>
          <p:cNvSpPr/>
          <p:nvPr/>
        </p:nvSpPr>
        <p:spPr>
          <a:xfrm>
            <a:off x="4297680" y="3017520"/>
            <a:ext cx="3611880" cy="23774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3017520"/>
            <a:ext cx="3611880" cy="381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3246120"/>
            <a:ext cx="3154680" cy="731520"/>
          </a:xfrm>
          <a:prstGeom prst="rect">
            <a:avLst/>
          </a:prstGeom>
          <a:noFill/>
        </p:spPr>
        <p:txBody>
          <a:bodyPr wrap="square" lIns="0" tIns="0" rIns="0" bIns="0" anchor="t">
            <a:spAutoFit/>
          </a:bodyPr>
          <a:lstStyle/>
          <a:p>
            <a:pPr algn="l">
              <a:lnSpc>
                <a:spcPct val="125000"/>
              </a:lnSpc>
            </a:pPr>
            <a:r>
              <a:rPr sz="3400" b="1" i="0">
                <a:solidFill>
                  <a:srgbClr val="E0C27B"/>
                </a:solidFill>
                <a:latin typeface="Inter"/>
              </a:rPr>
              <a:t>2023</a:t>
            </a:r>
          </a:p>
        </p:txBody>
      </p:sp>
      <p:sp>
        <p:nvSpPr>
          <p:cNvPr id="14" name="TextBox 13"/>
          <p:cNvSpPr txBox="1"/>
          <p:nvPr/>
        </p:nvSpPr>
        <p:spPr>
          <a:xfrm>
            <a:off x="4572000" y="3931920"/>
            <a:ext cx="3154680" cy="320040"/>
          </a:xfrm>
          <a:prstGeom prst="rect">
            <a:avLst/>
          </a:prstGeom>
          <a:noFill/>
        </p:spPr>
        <p:txBody>
          <a:bodyPr wrap="square" lIns="0" tIns="0" rIns="0" bIns="0" anchor="t">
            <a:spAutoFit/>
          </a:bodyPr>
          <a:lstStyle/>
          <a:p>
            <a:pPr algn="l">
              <a:lnSpc>
                <a:spcPct val="125000"/>
              </a:lnSpc>
            </a:pPr>
            <a:r>
              <a:rPr sz="1000" b="1" i="0" spc="120">
                <a:solidFill>
                  <a:srgbClr val="7A8290"/>
                </a:solidFill>
                <a:latin typeface="Inter"/>
              </a:rPr>
              <a:t>GENERATIVE AI ARRIVES</a:t>
            </a:r>
          </a:p>
        </p:txBody>
      </p:sp>
      <p:sp>
        <p:nvSpPr>
          <p:cNvPr id="15" name="TextBox 14"/>
          <p:cNvSpPr txBox="1"/>
          <p:nvPr/>
        </p:nvSpPr>
        <p:spPr>
          <a:xfrm>
            <a:off x="4572000" y="4251960"/>
            <a:ext cx="3154680" cy="100584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Conversational agents with distinct personas become practical at consumer scale. The technology barrier falls.</a:t>
            </a:r>
          </a:p>
        </p:txBody>
      </p:sp>
      <p:sp>
        <p:nvSpPr>
          <p:cNvPr id="16" name="Rectangle 15"/>
          <p:cNvSpPr/>
          <p:nvPr/>
        </p:nvSpPr>
        <p:spPr>
          <a:xfrm>
            <a:off x="8046720" y="3017520"/>
            <a:ext cx="3611880" cy="23774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20" y="3017520"/>
            <a:ext cx="3611880" cy="3810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3246120"/>
            <a:ext cx="3154680" cy="731520"/>
          </a:xfrm>
          <a:prstGeom prst="rect">
            <a:avLst/>
          </a:prstGeom>
          <a:noFill/>
        </p:spPr>
        <p:txBody>
          <a:bodyPr wrap="square" lIns="0" tIns="0" rIns="0" bIns="0" anchor="t">
            <a:spAutoFit/>
          </a:bodyPr>
          <a:lstStyle/>
          <a:p>
            <a:pPr algn="l">
              <a:lnSpc>
                <a:spcPct val="125000"/>
              </a:lnSpc>
            </a:pPr>
            <a:r>
              <a:rPr sz="3400" b="1" i="0">
                <a:solidFill>
                  <a:srgbClr val="E07BAA"/>
                </a:solidFill>
                <a:latin typeface="Inter"/>
              </a:rPr>
              <a:t>2026</a:t>
            </a:r>
          </a:p>
        </p:txBody>
      </p:sp>
      <p:sp>
        <p:nvSpPr>
          <p:cNvPr id="19" name="TextBox 18"/>
          <p:cNvSpPr txBox="1"/>
          <p:nvPr/>
        </p:nvSpPr>
        <p:spPr>
          <a:xfrm>
            <a:off x="8321040" y="3931920"/>
            <a:ext cx="3154680" cy="320040"/>
          </a:xfrm>
          <a:prstGeom prst="rect">
            <a:avLst/>
          </a:prstGeom>
          <a:noFill/>
        </p:spPr>
        <p:txBody>
          <a:bodyPr wrap="square" lIns="0" tIns="0" rIns="0" bIns="0" anchor="t">
            <a:spAutoFit/>
          </a:bodyPr>
          <a:lstStyle/>
          <a:p>
            <a:pPr algn="l">
              <a:lnSpc>
                <a:spcPct val="125000"/>
              </a:lnSpc>
            </a:pPr>
            <a:r>
              <a:rPr sz="1000" b="1" i="0" spc="120">
                <a:solidFill>
                  <a:srgbClr val="7A8290"/>
                </a:solidFill>
                <a:latin typeface="Inter"/>
              </a:rPr>
              <a:t>THE GAP PERSISTS</a:t>
            </a:r>
          </a:p>
        </p:txBody>
      </p:sp>
      <p:sp>
        <p:nvSpPr>
          <p:cNvPr id="20" name="TextBox 19"/>
          <p:cNvSpPr txBox="1"/>
          <p:nvPr/>
        </p:nvSpPr>
        <p:spPr>
          <a:xfrm>
            <a:off x="8321040" y="4251960"/>
            <a:ext cx="3154680" cy="100584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Duolingo's core architecture is unchanged. Jiang et al. (2021) still describes the ceiling. The constraint is now design, not compute.</a:t>
            </a:r>
          </a:p>
        </p:txBody>
      </p:sp>
      <p:sp>
        <p:nvSpPr>
          <p:cNvPr id="21" name="TextBox 20"/>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2" name="TextBox 21"/>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7B"/>
                </a:solidFill>
                <a:latin typeface="Inter"/>
              </a:rPr>
              <a:t>PHASE 1 · SYSTEM &amp; CONTEXT</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What has actually been tested, and what those tests found.</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The published evidence about Duolingo and mobile language apps, in plain terms.</a:t>
            </a:r>
          </a:p>
        </p:txBody>
      </p:sp>
      <p:sp>
        <p:nvSpPr>
          <p:cNvPr id="6" name="Rectangle 5"/>
          <p:cNvSpPr/>
          <p:nvPr/>
        </p:nvSpPr>
        <p:spPr>
          <a:xfrm>
            <a:off x="350215" y="2011680"/>
            <a:ext cx="11094415" cy="7772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50215" y="2011680"/>
            <a:ext cx="50800" cy="77724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0255" y="2103120"/>
            <a:ext cx="4572000" cy="320040"/>
          </a:xfrm>
          <a:prstGeom prst="rect">
            <a:avLst/>
          </a:prstGeom>
          <a:noFill/>
        </p:spPr>
        <p:txBody>
          <a:bodyPr wrap="square" lIns="0" tIns="0" rIns="0" bIns="0" anchor="t">
            <a:spAutoFit/>
          </a:bodyPr>
          <a:lstStyle/>
          <a:p>
            <a:pPr algn="l">
              <a:lnSpc>
                <a:spcPct val="125000"/>
              </a:lnSpc>
            </a:pPr>
            <a:r>
              <a:rPr sz="1050" b="1" i="0" spc="100">
                <a:solidFill>
                  <a:srgbClr val="E07B7B"/>
                </a:solidFill>
                <a:latin typeface="Inter"/>
              </a:rPr>
              <a:t>JIANG ET AL. (2021)</a:t>
            </a:r>
          </a:p>
        </p:txBody>
      </p:sp>
      <p:sp>
        <p:nvSpPr>
          <p:cNvPr id="9" name="TextBox 8"/>
          <p:cNvSpPr txBox="1"/>
          <p:nvPr/>
        </p:nvSpPr>
        <p:spPr>
          <a:xfrm>
            <a:off x="670255" y="2377440"/>
            <a:ext cx="10972800" cy="36576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n = 225 adults, 4 semesters of Duolingo study. Reading reached Intermediate Low. Listening reached Novice High. Speaking and writing were never assessed.</a:t>
            </a:r>
          </a:p>
        </p:txBody>
      </p:sp>
      <p:sp>
        <p:nvSpPr>
          <p:cNvPr id="10" name="Rectangle 9"/>
          <p:cNvSpPr/>
          <p:nvPr/>
        </p:nvSpPr>
        <p:spPr>
          <a:xfrm>
            <a:off x="350215" y="2834640"/>
            <a:ext cx="11094415" cy="7772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0215" y="2834640"/>
            <a:ext cx="50800" cy="77724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7165" y="2926080"/>
            <a:ext cx="4964544" cy="187039"/>
          </a:xfrm>
          <a:prstGeom prst="rect">
            <a:avLst/>
          </a:prstGeom>
          <a:noFill/>
        </p:spPr>
        <p:txBody>
          <a:bodyPr wrap="square" lIns="0" tIns="0" rIns="0" bIns="0" anchor="t">
            <a:spAutoFit/>
          </a:bodyPr>
          <a:lstStyle/>
          <a:p>
            <a:pPr algn="l">
              <a:lnSpc>
                <a:spcPct val="125000"/>
              </a:lnSpc>
            </a:pPr>
            <a:r>
              <a:rPr sz="1050" b="1" i="0" spc="100">
                <a:solidFill>
                  <a:srgbClr val="E0C27B"/>
                </a:solidFill>
                <a:latin typeface="Inter"/>
              </a:rPr>
              <a:t>BICKNELL &amp; BRUST (2020) · DUOLINGO'S OWN DESCRIPTION</a:t>
            </a:r>
          </a:p>
        </p:txBody>
      </p:sp>
      <p:sp>
        <p:nvSpPr>
          <p:cNvPr id="13" name="TextBox 12"/>
          <p:cNvSpPr txBox="1"/>
          <p:nvPr/>
        </p:nvSpPr>
        <p:spPr>
          <a:xfrm>
            <a:off x="670255" y="3200400"/>
            <a:ext cx="10972800" cy="36576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Birdbrain, Duolingo's in house AI, is optimized to pick the next exercise you are likely to get right. Not calibrated to speaking.</a:t>
            </a:r>
          </a:p>
        </p:txBody>
      </p:sp>
      <p:sp>
        <p:nvSpPr>
          <p:cNvPr id="14" name="Rectangle 13"/>
          <p:cNvSpPr/>
          <p:nvPr/>
        </p:nvSpPr>
        <p:spPr>
          <a:xfrm>
            <a:off x="350215" y="3657600"/>
            <a:ext cx="11094415" cy="7772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50215" y="3657600"/>
            <a:ext cx="50800" cy="77724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710" y="3749039"/>
            <a:ext cx="5420590" cy="187039"/>
          </a:xfrm>
          <a:prstGeom prst="rect">
            <a:avLst/>
          </a:prstGeom>
          <a:noFill/>
        </p:spPr>
        <p:txBody>
          <a:bodyPr wrap="square" lIns="0" tIns="0" rIns="0" bIns="0" anchor="t">
            <a:spAutoFit/>
          </a:bodyPr>
          <a:lstStyle/>
          <a:p>
            <a:pPr algn="l">
              <a:lnSpc>
                <a:spcPct val="125000"/>
              </a:lnSpc>
            </a:pPr>
            <a:r>
              <a:rPr sz="1050" b="1" i="0" spc="100">
                <a:solidFill>
                  <a:srgbClr val="7B9FE0"/>
                </a:solidFill>
                <a:latin typeface="Inter"/>
              </a:rPr>
              <a:t>MIHAYLOVA ET AL. (2022) · META ANALYSIS OF 23 STUDIES</a:t>
            </a:r>
          </a:p>
        </p:txBody>
      </p:sp>
      <p:sp>
        <p:nvSpPr>
          <p:cNvPr id="17" name="TextBox 16"/>
          <p:cNvSpPr txBox="1"/>
          <p:nvPr/>
        </p:nvSpPr>
        <p:spPr>
          <a:xfrm>
            <a:off x="670255" y="4023360"/>
            <a:ext cx="10972800" cy="36576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Mobile apps show large short term gains. But only 3 of 23 studies measured retention after the intervention. Those 3 showed small effects.</a:t>
            </a:r>
          </a:p>
        </p:txBody>
      </p:sp>
      <p:sp>
        <p:nvSpPr>
          <p:cNvPr id="18" name="Rectangle 17"/>
          <p:cNvSpPr/>
          <p:nvPr/>
        </p:nvSpPr>
        <p:spPr>
          <a:xfrm>
            <a:off x="350215" y="4480560"/>
            <a:ext cx="11094415" cy="7772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50215" y="4480560"/>
            <a:ext cx="50800" cy="77724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0255" y="4572000"/>
            <a:ext cx="4572000" cy="320040"/>
          </a:xfrm>
          <a:prstGeom prst="rect">
            <a:avLst/>
          </a:prstGeom>
          <a:noFill/>
        </p:spPr>
        <p:txBody>
          <a:bodyPr wrap="square" lIns="0" tIns="0" rIns="0" bIns="0" anchor="t">
            <a:spAutoFit/>
          </a:bodyPr>
          <a:lstStyle/>
          <a:p>
            <a:pPr algn="l">
              <a:lnSpc>
                <a:spcPct val="125000"/>
              </a:lnSpc>
            </a:pPr>
            <a:r>
              <a:rPr sz="1050" b="1" i="0" spc="100">
                <a:solidFill>
                  <a:srgbClr val="E07BAA"/>
                </a:solidFill>
                <a:latin typeface="Inter"/>
              </a:rPr>
              <a:t>KRISTENSEN ET AL. (2024) · 8 WEEK APP STUDY</a:t>
            </a:r>
          </a:p>
        </p:txBody>
      </p:sp>
      <p:sp>
        <p:nvSpPr>
          <p:cNvPr id="21" name="TextBox 20"/>
          <p:cNvSpPr txBox="1"/>
          <p:nvPr/>
        </p:nvSpPr>
        <p:spPr>
          <a:xfrm>
            <a:off x="670255" y="4846320"/>
            <a:ext cx="10972800" cy="36576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The rate at which learners repeated the same mistakes stayed stable over 8 weeks. More app time did not reduce the pattern. (Caveat: Norwegian second graders.)</a:t>
            </a:r>
          </a:p>
        </p:txBody>
      </p:sp>
      <p:sp>
        <p:nvSpPr>
          <p:cNvPr id="22" name="Rectangle 21"/>
          <p:cNvSpPr/>
          <p:nvPr/>
        </p:nvSpPr>
        <p:spPr>
          <a:xfrm>
            <a:off x="350215" y="5303520"/>
            <a:ext cx="11094415" cy="77724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50215" y="5303520"/>
            <a:ext cx="50800" cy="77724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 y="5394960"/>
            <a:ext cx="10682935" cy="274320"/>
          </a:xfrm>
          <a:prstGeom prst="rect">
            <a:avLst/>
          </a:prstGeom>
          <a:noFill/>
        </p:spPr>
        <p:txBody>
          <a:bodyPr wrap="square" lIns="0" tIns="0" rIns="0" bIns="0" anchor="t">
            <a:spAutoFit/>
          </a:bodyPr>
          <a:lstStyle/>
          <a:p>
            <a:pPr algn="l">
              <a:lnSpc>
                <a:spcPct val="125000"/>
              </a:lnSpc>
            </a:pPr>
            <a:r>
              <a:rPr sz="1000" b="1" i="0" spc="120">
                <a:solidFill>
                  <a:srgbClr val="7B9FE0"/>
                </a:solidFill>
                <a:latin typeface="Inter"/>
              </a:rPr>
              <a:t>ACTFL, IN ONE LINE</a:t>
            </a:r>
          </a:p>
        </p:txBody>
      </p:sp>
      <p:sp>
        <p:nvSpPr>
          <p:cNvPr id="25" name="TextBox 24"/>
          <p:cNvSpPr txBox="1"/>
          <p:nvPr/>
        </p:nvSpPr>
        <p:spPr>
          <a:xfrm>
            <a:off x="624535" y="5669280"/>
            <a:ext cx="10682935" cy="365760"/>
          </a:xfrm>
          <a:prstGeom prst="rect">
            <a:avLst/>
          </a:prstGeom>
          <a:noFill/>
        </p:spPr>
        <p:txBody>
          <a:bodyPr wrap="square" lIns="0" tIns="0" rIns="0" bIns="0" anchor="t">
            <a:spAutoFit/>
          </a:bodyPr>
          <a:lstStyle/>
          <a:p>
            <a:pPr algn="l">
              <a:lnSpc>
                <a:spcPct val="140000"/>
              </a:lnSpc>
            </a:pPr>
            <a:r>
              <a:rPr sz="1050" b="0" i="0" dirty="0">
                <a:solidFill>
                  <a:srgbClr val="C8CDD8"/>
                </a:solidFill>
                <a:latin typeface="Inter"/>
              </a:rPr>
              <a:t>The national scale universities use to rate how well someone can use a foreign language. Intermediate Low means simple daily transactions. Real conversation sits two or three levels higher.</a:t>
            </a:r>
          </a:p>
        </p:txBody>
      </p:sp>
      <p:sp>
        <p:nvSpPr>
          <p:cNvPr id="26" name="TextBox 25"/>
          <p:cNvSpPr txBox="1"/>
          <p:nvPr/>
        </p:nvSpPr>
        <p:spPr>
          <a:xfrm>
            <a:off x="350215" y="6400800"/>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7" name="TextBox 26"/>
          <p:cNvSpPr txBox="1"/>
          <p:nvPr/>
        </p:nvSpPr>
        <p:spPr>
          <a:xfrm>
            <a:off x="11048695" y="6172200"/>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7B"/>
                </a:solidFill>
                <a:latin typeface="Inter"/>
              </a:rPr>
              <a:t>PHASE 1 · SYSTEM &amp; CONTEXT</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A 500 million learner system that doesn't measure the skill its users came for.</a:t>
            </a:r>
          </a:p>
        </p:txBody>
      </p:sp>
      <p:sp>
        <p:nvSpPr>
          <p:cNvPr id="5" name="Rectangle 4"/>
          <p:cNvSpPr/>
          <p:nvPr/>
        </p:nvSpPr>
        <p:spPr>
          <a:xfrm>
            <a:off x="548640" y="2468880"/>
            <a:ext cx="3611880" cy="2011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468880"/>
            <a:ext cx="3611880" cy="381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743200"/>
            <a:ext cx="3246120" cy="822960"/>
          </a:xfrm>
          <a:prstGeom prst="rect">
            <a:avLst/>
          </a:prstGeom>
          <a:noFill/>
        </p:spPr>
        <p:txBody>
          <a:bodyPr wrap="square" lIns="0" tIns="0" rIns="0" bIns="0" anchor="t">
            <a:spAutoFit/>
          </a:bodyPr>
          <a:lstStyle/>
          <a:p>
            <a:pPr algn="l">
              <a:lnSpc>
                <a:spcPct val="125000"/>
              </a:lnSpc>
            </a:pPr>
            <a:r>
              <a:rPr sz="3600" b="1" i="0">
                <a:solidFill>
                  <a:srgbClr val="F0F2F5"/>
                </a:solidFill>
                <a:latin typeface="Inter"/>
              </a:rPr>
              <a:t>500M+</a:t>
            </a:r>
          </a:p>
        </p:txBody>
      </p:sp>
      <p:sp>
        <p:nvSpPr>
          <p:cNvPr id="8" name="TextBox 7"/>
          <p:cNvSpPr txBox="1"/>
          <p:nvPr/>
        </p:nvSpPr>
        <p:spPr>
          <a:xfrm>
            <a:off x="777240" y="3520440"/>
            <a:ext cx="3246120" cy="274320"/>
          </a:xfrm>
          <a:prstGeom prst="rect">
            <a:avLst/>
          </a:prstGeom>
          <a:noFill/>
        </p:spPr>
        <p:txBody>
          <a:bodyPr wrap="square" lIns="0" tIns="0" rIns="0" bIns="0" anchor="t">
            <a:spAutoFit/>
          </a:bodyPr>
          <a:lstStyle/>
          <a:p>
            <a:pPr algn="l">
              <a:lnSpc>
                <a:spcPct val="125000"/>
              </a:lnSpc>
            </a:pPr>
            <a:r>
              <a:rPr sz="1000" b="1" i="0" spc="120">
                <a:solidFill>
                  <a:srgbClr val="7A8290"/>
                </a:solidFill>
                <a:latin typeface="Inter"/>
              </a:rPr>
              <a:t>MONTHLY ACTIVE LEARNERS</a:t>
            </a:r>
          </a:p>
        </p:txBody>
      </p:sp>
      <p:sp>
        <p:nvSpPr>
          <p:cNvPr id="9" name="TextBox 8"/>
          <p:cNvSpPr txBox="1"/>
          <p:nvPr/>
        </p:nvSpPr>
        <p:spPr>
          <a:xfrm>
            <a:off x="777240" y="3794760"/>
            <a:ext cx="3246120" cy="54864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One of the largest learning systems on Earth.</a:t>
            </a:r>
          </a:p>
        </p:txBody>
      </p:sp>
      <p:sp>
        <p:nvSpPr>
          <p:cNvPr id="10" name="Rectangle 9"/>
          <p:cNvSpPr/>
          <p:nvPr/>
        </p:nvSpPr>
        <p:spPr>
          <a:xfrm>
            <a:off x="4297680" y="2468880"/>
            <a:ext cx="3611880" cy="2011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2468880"/>
            <a:ext cx="3611880" cy="381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6280" y="2743200"/>
            <a:ext cx="3246120" cy="822960"/>
          </a:xfrm>
          <a:prstGeom prst="rect">
            <a:avLst/>
          </a:prstGeom>
          <a:noFill/>
        </p:spPr>
        <p:txBody>
          <a:bodyPr wrap="square" lIns="0" tIns="0" rIns="0" bIns="0" anchor="t">
            <a:spAutoFit/>
          </a:bodyPr>
          <a:lstStyle/>
          <a:p>
            <a:pPr algn="l">
              <a:lnSpc>
                <a:spcPct val="125000"/>
              </a:lnSpc>
            </a:pPr>
            <a:r>
              <a:rPr sz="3600" b="1" i="0">
                <a:solidFill>
                  <a:srgbClr val="F0F2F5"/>
                </a:solidFill>
                <a:latin typeface="Inter"/>
              </a:rPr>
              <a:t>0</a:t>
            </a:r>
          </a:p>
        </p:txBody>
      </p:sp>
      <p:sp>
        <p:nvSpPr>
          <p:cNvPr id="13" name="TextBox 12"/>
          <p:cNvSpPr txBox="1"/>
          <p:nvPr/>
        </p:nvSpPr>
        <p:spPr>
          <a:xfrm>
            <a:off x="4526280" y="3520440"/>
            <a:ext cx="3246120" cy="274320"/>
          </a:xfrm>
          <a:prstGeom prst="rect">
            <a:avLst/>
          </a:prstGeom>
          <a:noFill/>
        </p:spPr>
        <p:txBody>
          <a:bodyPr wrap="square" lIns="0" tIns="0" rIns="0" bIns="0" anchor="t">
            <a:spAutoFit/>
          </a:bodyPr>
          <a:lstStyle/>
          <a:p>
            <a:pPr algn="l">
              <a:lnSpc>
                <a:spcPct val="125000"/>
              </a:lnSpc>
            </a:pPr>
            <a:r>
              <a:rPr sz="1000" b="1" i="0" spc="120">
                <a:solidFill>
                  <a:srgbClr val="7A8290"/>
                </a:solidFill>
                <a:latin typeface="Inter"/>
              </a:rPr>
              <a:t>SPEAKING ASSESSMENTS</a:t>
            </a:r>
          </a:p>
        </p:txBody>
      </p:sp>
      <p:sp>
        <p:nvSpPr>
          <p:cNvPr id="14" name="TextBox 13"/>
          <p:cNvSpPr txBox="1"/>
          <p:nvPr/>
        </p:nvSpPr>
        <p:spPr>
          <a:xfrm>
            <a:off x="4526280" y="3794760"/>
            <a:ext cx="3246120" cy="54864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In the peer reviewed Duolingo outcome research we surveyed.</a:t>
            </a:r>
          </a:p>
        </p:txBody>
      </p:sp>
      <p:sp>
        <p:nvSpPr>
          <p:cNvPr id="15" name="Rectangle 14"/>
          <p:cNvSpPr/>
          <p:nvPr/>
        </p:nvSpPr>
        <p:spPr>
          <a:xfrm>
            <a:off x="8046720" y="2468880"/>
            <a:ext cx="3611880" cy="2011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46720" y="2468880"/>
            <a:ext cx="3611880" cy="381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75320" y="2743200"/>
            <a:ext cx="3246120" cy="822960"/>
          </a:xfrm>
          <a:prstGeom prst="rect">
            <a:avLst/>
          </a:prstGeom>
          <a:noFill/>
        </p:spPr>
        <p:txBody>
          <a:bodyPr wrap="square" lIns="0" tIns="0" rIns="0" bIns="0" anchor="t">
            <a:spAutoFit/>
          </a:bodyPr>
          <a:lstStyle/>
          <a:p>
            <a:pPr algn="l">
              <a:lnSpc>
                <a:spcPct val="125000"/>
              </a:lnSpc>
            </a:pPr>
            <a:r>
              <a:rPr sz="3600" b="1" i="0">
                <a:solidFill>
                  <a:srgbClr val="F0F2F5"/>
                </a:solidFill>
                <a:latin typeface="Inter"/>
              </a:rPr>
              <a:t>~14%</a:t>
            </a:r>
          </a:p>
        </p:txBody>
      </p:sp>
      <p:sp>
        <p:nvSpPr>
          <p:cNvPr id="18" name="TextBox 17"/>
          <p:cNvSpPr txBox="1"/>
          <p:nvPr/>
        </p:nvSpPr>
        <p:spPr>
          <a:xfrm>
            <a:off x="8275320" y="3520440"/>
            <a:ext cx="3246120" cy="274320"/>
          </a:xfrm>
          <a:prstGeom prst="rect">
            <a:avLst/>
          </a:prstGeom>
          <a:noFill/>
        </p:spPr>
        <p:txBody>
          <a:bodyPr wrap="square" lIns="0" tIns="0" rIns="0" bIns="0" anchor="t">
            <a:spAutoFit/>
          </a:bodyPr>
          <a:lstStyle/>
          <a:p>
            <a:pPr algn="l">
              <a:lnSpc>
                <a:spcPct val="125000"/>
              </a:lnSpc>
            </a:pPr>
            <a:r>
              <a:rPr sz="1000" b="1" i="0" spc="120">
                <a:solidFill>
                  <a:srgbClr val="7A8290"/>
                </a:solidFill>
                <a:latin typeface="Inter"/>
              </a:rPr>
              <a:t>OF US ADULTS</a:t>
            </a:r>
          </a:p>
        </p:txBody>
      </p:sp>
      <p:sp>
        <p:nvSpPr>
          <p:cNvPr id="19" name="TextBox 18"/>
          <p:cNvSpPr txBox="1"/>
          <p:nvPr/>
        </p:nvSpPr>
        <p:spPr>
          <a:xfrm>
            <a:off x="8275320" y="3794760"/>
            <a:ext cx="3246120" cy="54864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Report learning a second language. Duolingo dominates the tool choice.</a:t>
            </a:r>
          </a:p>
        </p:txBody>
      </p:sp>
      <p:sp>
        <p:nvSpPr>
          <p:cNvPr id="20" name="Rectangle 19"/>
          <p:cNvSpPr/>
          <p:nvPr/>
        </p:nvSpPr>
        <p:spPr>
          <a:xfrm>
            <a:off x="548640" y="4846320"/>
            <a:ext cx="11094415" cy="137160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846320"/>
            <a:ext cx="50800" cy="13716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5029200"/>
            <a:ext cx="10682935" cy="1002069"/>
          </a:xfrm>
          <a:prstGeom prst="rect">
            <a:avLst/>
          </a:prstGeom>
          <a:noFill/>
        </p:spPr>
        <p:txBody>
          <a:bodyPr wrap="square" lIns="0" tIns="0" rIns="0" bIns="0" anchor="t">
            <a:spAutoFit/>
          </a:bodyPr>
          <a:lstStyle/>
          <a:p>
            <a:pPr algn="l">
              <a:lnSpc>
                <a:spcPct val="140000"/>
              </a:lnSpc>
            </a:pPr>
            <a:r>
              <a:rPr sz="1600" b="0" i="1" dirty="0">
                <a:solidFill>
                  <a:srgbClr val="F0F2F5"/>
                </a:solidFill>
                <a:latin typeface="Inter"/>
              </a:rPr>
              <a:t>When the world's largest learning system doesn't measure the skill its users say they want, the result isn't individual under performance. It is a system wide mismatch between what gets measured and what learners actually need, and that is what makes this a Human Factors problem worth solving.</a:t>
            </a:r>
          </a:p>
        </p:txBody>
      </p:sp>
      <p:sp>
        <p:nvSpPr>
          <p:cNvPr id="23" name="TextBox 22"/>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4" name="TextBox 23"/>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7B"/>
                </a:solidFill>
                <a:latin typeface="Inter"/>
              </a:rPr>
              <a:t>PHASE 1 · SYSTEM &amp; CONTEXT</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If this were an aviation incident, we would call it a system failure.</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What we know now, and what the next generation of technology makes possible.</a:t>
            </a:r>
          </a:p>
        </p:txBody>
      </p:sp>
      <p:sp>
        <p:nvSpPr>
          <p:cNvPr id="6" name="Rectangle 5"/>
          <p:cNvSpPr/>
          <p:nvPr/>
        </p:nvSpPr>
        <p:spPr>
          <a:xfrm>
            <a:off x="548640" y="2743200"/>
            <a:ext cx="5532120" cy="27432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743200"/>
            <a:ext cx="50800" cy="27432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880360"/>
            <a:ext cx="5166360" cy="411480"/>
          </a:xfrm>
          <a:prstGeom prst="rect">
            <a:avLst/>
          </a:prstGeom>
          <a:noFill/>
        </p:spPr>
        <p:txBody>
          <a:bodyPr wrap="square" lIns="0" tIns="0" rIns="0" bIns="0" anchor="t">
            <a:spAutoFit/>
          </a:bodyPr>
          <a:lstStyle/>
          <a:p>
            <a:pPr algn="l">
              <a:lnSpc>
                <a:spcPct val="115000"/>
              </a:lnSpc>
            </a:pPr>
            <a:r>
              <a:rPr sz="1200" b="1" i="0" spc="100">
                <a:solidFill>
                  <a:srgbClr val="E0C27B"/>
                </a:solidFill>
                <a:latin typeface="Inter"/>
              </a:rPr>
              <a:t>WHAT WE KNOW NOW</a:t>
            </a:r>
          </a:p>
        </p:txBody>
      </p:sp>
      <p:sp>
        <p:nvSpPr>
          <p:cNvPr id="9" name="TextBox 8"/>
          <p:cNvSpPr txBox="1"/>
          <p:nvPr/>
        </p:nvSpPr>
        <p:spPr>
          <a:xfrm>
            <a:off x="749808" y="3246120"/>
            <a:ext cx="5166360" cy="214884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A measured ceiling at Intermediate Low reading and Novice High listening.</a:t>
            </a:r>
          </a:p>
          <a:p>
            <a:pPr algn="l">
              <a:lnSpc>
                <a:spcPct val="140000"/>
              </a:lnSpc>
            </a:pPr>
            <a:r>
              <a:rPr sz="1100" b="0" i="0">
                <a:solidFill>
                  <a:srgbClr val="C8CDD8"/>
                </a:solidFill>
                <a:latin typeface="Inter"/>
              </a:rPr>
              <a:t>• Incentives built around daily return, not real transfer.</a:t>
            </a:r>
          </a:p>
          <a:p>
            <a:pPr algn="l">
              <a:lnSpc>
                <a:spcPct val="140000"/>
              </a:lnSpc>
            </a:pPr>
            <a:r>
              <a:rPr sz="1100" b="0" i="0">
                <a:solidFill>
                  <a:srgbClr val="C8CDD8"/>
                </a:solidFill>
                <a:latin typeface="Inter"/>
              </a:rPr>
              <a:t>• Hundreds of millions of engaged learners with rising streaks.</a:t>
            </a:r>
          </a:p>
          <a:p>
            <a:pPr algn="l">
              <a:lnSpc>
                <a:spcPct val="140000"/>
              </a:lnSpc>
            </a:pPr>
            <a:r>
              <a:rPr sz="1100" b="0" i="0">
                <a:solidFill>
                  <a:srgbClr val="C8CDD8"/>
                </a:solidFill>
                <a:latin typeface="Inter"/>
              </a:rPr>
              <a:t>• No measured speaking gains in the published research.</a:t>
            </a:r>
          </a:p>
          <a:p>
            <a:pPr algn="l">
              <a:lnSpc>
                <a:spcPct val="140000"/>
              </a:lnSpc>
            </a:pPr>
            <a:endParaRPr sz="1100" b="0" i="0">
              <a:solidFill>
                <a:srgbClr val="C8CDD8"/>
              </a:solidFill>
              <a:latin typeface="Inter"/>
            </a:endParaRPr>
          </a:p>
          <a:p>
            <a:pPr algn="l">
              <a:lnSpc>
                <a:spcPct val="140000"/>
              </a:lnSpc>
            </a:pPr>
            <a:r>
              <a:rPr sz="1100" b="0" i="0">
                <a:solidFill>
                  <a:srgbClr val="C8CDD8"/>
                </a:solidFill>
                <a:latin typeface="Inter"/>
              </a:rPr>
              <a:t>The holes are already open. Phase 4 shows how they line up.</a:t>
            </a:r>
          </a:p>
        </p:txBody>
      </p:sp>
      <p:sp>
        <p:nvSpPr>
          <p:cNvPr id="10" name="Rectangle 9"/>
          <p:cNvSpPr/>
          <p:nvPr/>
        </p:nvSpPr>
        <p:spPr>
          <a:xfrm>
            <a:off x="6309360" y="2743200"/>
            <a:ext cx="5532120" cy="27432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2743200"/>
            <a:ext cx="50800" cy="274320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2880360"/>
            <a:ext cx="5166360" cy="411480"/>
          </a:xfrm>
          <a:prstGeom prst="rect">
            <a:avLst/>
          </a:prstGeom>
          <a:noFill/>
        </p:spPr>
        <p:txBody>
          <a:bodyPr wrap="square" lIns="0" tIns="0" rIns="0" bIns="0" anchor="t">
            <a:spAutoFit/>
          </a:bodyPr>
          <a:lstStyle/>
          <a:p>
            <a:pPr algn="l">
              <a:lnSpc>
                <a:spcPct val="115000"/>
              </a:lnSpc>
            </a:pPr>
            <a:r>
              <a:rPr sz="1200" b="1" i="0" spc="100">
                <a:solidFill>
                  <a:srgbClr val="7BE0B4"/>
                </a:solidFill>
                <a:latin typeface="Inter"/>
              </a:rPr>
              <a:t>WHAT COMES NEXT</a:t>
            </a:r>
          </a:p>
        </p:txBody>
      </p:sp>
      <p:sp>
        <p:nvSpPr>
          <p:cNvPr id="13" name="TextBox 12"/>
          <p:cNvSpPr txBox="1"/>
          <p:nvPr/>
        </p:nvSpPr>
        <p:spPr>
          <a:xfrm>
            <a:off x="6510528" y="3246120"/>
            <a:ext cx="5166360" cy="214884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Generative AI is the first technology positioned to close this gap. Conversational, dialect aware, real time.</a:t>
            </a:r>
          </a:p>
          <a:p>
            <a:pPr algn="l">
              <a:lnSpc>
                <a:spcPct val="140000"/>
              </a:lnSpc>
            </a:pPr>
            <a:endParaRPr sz="1100" b="0" i="0">
              <a:solidFill>
                <a:srgbClr val="C8CDD8"/>
              </a:solidFill>
              <a:latin typeface="Inter"/>
            </a:endParaRPr>
          </a:p>
          <a:p>
            <a:pPr algn="l">
              <a:lnSpc>
                <a:spcPct val="140000"/>
              </a:lnSpc>
            </a:pPr>
            <a:r>
              <a:rPr sz="1100" b="0" i="0">
                <a:solidFill>
                  <a:srgbClr val="C8CDD8"/>
                </a:solidFill>
                <a:latin typeface="Inter"/>
              </a:rPr>
              <a:t>• But only if we name the right enemy first: the business metric that excludes the goal.</a:t>
            </a:r>
          </a:p>
          <a:p>
            <a:pPr algn="l">
              <a:lnSpc>
                <a:spcPct val="140000"/>
              </a:lnSpc>
            </a:pPr>
            <a:endParaRPr sz="1100" b="0" i="0">
              <a:solidFill>
                <a:srgbClr val="C8CDD8"/>
              </a:solidFill>
              <a:latin typeface="Inter"/>
            </a:endParaRPr>
          </a:p>
          <a:p>
            <a:pPr algn="l">
              <a:lnSpc>
                <a:spcPct val="140000"/>
              </a:lnSpc>
            </a:pPr>
            <a:r>
              <a:rPr sz="1100" b="0" i="0">
                <a:solidFill>
                  <a:srgbClr val="C8CDD8"/>
                </a:solidFill>
                <a:latin typeface="Inter"/>
              </a:rPr>
              <a:t>• Phase 5 is our architectural response.</a:t>
            </a:r>
          </a:p>
        </p:txBody>
      </p:sp>
      <p:sp>
        <p:nvSpPr>
          <p:cNvPr id="14" name="TextBox 13"/>
          <p:cNvSpPr txBox="1"/>
          <p:nvPr/>
        </p:nvSpPr>
        <p:spPr>
          <a:xfrm>
            <a:off x="548640" y="5852160"/>
            <a:ext cx="11094415" cy="457200"/>
          </a:xfrm>
          <a:prstGeom prst="rect">
            <a:avLst/>
          </a:prstGeom>
          <a:noFill/>
        </p:spPr>
        <p:txBody>
          <a:bodyPr wrap="square" lIns="0" tIns="0" rIns="0" bIns="0" anchor="t">
            <a:spAutoFit/>
          </a:bodyPr>
          <a:lstStyle/>
          <a:p>
            <a:pPr algn="ctr">
              <a:lnSpc>
                <a:spcPct val="125000"/>
              </a:lnSpc>
            </a:pPr>
            <a:r>
              <a:rPr sz="1800" b="0" i="1">
                <a:solidFill>
                  <a:srgbClr val="E07B7B"/>
                </a:solidFill>
                <a:latin typeface="Inter"/>
              </a:rPr>
              <a:t>System failure, not user failure.</a:t>
            </a:r>
          </a:p>
        </p:txBody>
      </p:sp>
      <p:sp>
        <p:nvSpPr>
          <p:cNvPr id="15" name="TextBox 14"/>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6" name="TextBox 15"/>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C27B"/>
                </a:solidFill>
                <a:latin typeface="Inter"/>
              </a:rPr>
              <a:t>PHASE 2 · TASK &amp; USER ANALYSIS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Who the learner actually is.</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A portrait of the adult self directed learner the app has to work for.</a:t>
            </a:r>
          </a:p>
        </p:txBody>
      </p:sp>
      <p:sp>
        <p:nvSpPr>
          <p:cNvPr id="6" name="Rectangle 5"/>
          <p:cNvSpPr/>
          <p:nvPr/>
        </p:nvSpPr>
        <p:spPr>
          <a:xfrm>
            <a:off x="560185" y="2560320"/>
            <a:ext cx="11071325" cy="225275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60185" y="2560320"/>
            <a:ext cx="43319" cy="2264295"/>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743200"/>
            <a:ext cx="10515600" cy="365760"/>
          </a:xfrm>
          <a:prstGeom prst="rect">
            <a:avLst/>
          </a:prstGeom>
          <a:noFill/>
        </p:spPr>
        <p:txBody>
          <a:bodyPr wrap="square" lIns="0" tIns="0" rIns="0" bIns="0" anchor="t">
            <a:spAutoFit/>
          </a:bodyPr>
          <a:lstStyle/>
          <a:p>
            <a:pPr algn="l">
              <a:lnSpc>
                <a:spcPct val="125000"/>
              </a:lnSpc>
            </a:pPr>
            <a:r>
              <a:rPr sz="1100" b="1" i="0" spc="150">
                <a:solidFill>
                  <a:srgbClr val="E0C27B"/>
                </a:solidFill>
                <a:latin typeface="Inter"/>
              </a:rPr>
              <a:t>PERSONA · THE SELF DIRECTED ADULT LEARNER</a:t>
            </a:r>
          </a:p>
        </p:txBody>
      </p:sp>
      <p:sp>
        <p:nvSpPr>
          <p:cNvPr id="9" name="TextBox 8"/>
          <p:cNvSpPr txBox="1"/>
          <p:nvPr/>
        </p:nvSpPr>
        <p:spPr>
          <a:xfrm>
            <a:off x="868680" y="3291840"/>
            <a:ext cx="5212080" cy="2377440"/>
          </a:xfrm>
          <a:prstGeom prst="rect">
            <a:avLst/>
          </a:prstGeom>
          <a:noFill/>
        </p:spPr>
        <p:txBody>
          <a:bodyPr wrap="square" lIns="0" tIns="0" rIns="0" bIns="0" anchor="t">
            <a:spAutoFit/>
          </a:bodyPr>
          <a:lstStyle/>
          <a:p>
            <a:pPr algn="l">
              <a:lnSpc>
                <a:spcPct val="155000"/>
              </a:lnSpc>
            </a:pPr>
            <a:r>
              <a:rPr sz="1200" b="0" i="0">
                <a:solidFill>
                  <a:srgbClr val="C8CDD8"/>
                </a:solidFill>
                <a:latin typeface="Inter"/>
              </a:rPr>
              <a:t>• Adult. Self directed. No formal classroom partner.</a:t>
            </a:r>
          </a:p>
          <a:p>
            <a:pPr algn="l">
              <a:lnSpc>
                <a:spcPct val="155000"/>
              </a:lnSpc>
            </a:pPr>
            <a:r>
              <a:rPr sz="1200" b="0" i="0">
                <a:solidFill>
                  <a:srgbClr val="C8CDD8"/>
                </a:solidFill>
                <a:latin typeface="Inter"/>
              </a:rPr>
              <a:t>• Mobile first. Daily session under 15 minutes. No one else in the loop.</a:t>
            </a:r>
          </a:p>
          <a:p>
            <a:pPr algn="l">
              <a:lnSpc>
                <a:spcPct val="155000"/>
              </a:lnSpc>
            </a:pPr>
            <a:r>
              <a:rPr sz="1200" b="0" i="0">
                <a:solidFill>
                  <a:srgbClr val="C8CDD8"/>
                </a:solidFill>
                <a:latin typeface="Inter"/>
              </a:rPr>
              <a:t>• Motivated by visible progress: streak count, XP, crown level.</a:t>
            </a:r>
          </a:p>
          <a:p>
            <a:pPr algn="l">
              <a:lnSpc>
                <a:spcPct val="155000"/>
              </a:lnSpc>
            </a:pPr>
            <a:r>
              <a:rPr sz="1200" b="0" i="0">
                <a:solidFill>
                  <a:srgbClr val="C8CDD8"/>
                </a:solidFill>
                <a:latin typeface="Inter"/>
              </a:rPr>
              <a:t>• Learning for a reason: a trip, a job, a family visit.</a:t>
            </a:r>
          </a:p>
        </p:txBody>
      </p:sp>
      <p:sp>
        <p:nvSpPr>
          <p:cNvPr id="10" name="TextBox 9"/>
          <p:cNvSpPr txBox="1"/>
          <p:nvPr/>
        </p:nvSpPr>
        <p:spPr>
          <a:xfrm>
            <a:off x="6217920" y="3291840"/>
            <a:ext cx="5212080" cy="2377440"/>
          </a:xfrm>
          <a:prstGeom prst="rect">
            <a:avLst/>
          </a:prstGeom>
          <a:noFill/>
        </p:spPr>
        <p:txBody>
          <a:bodyPr wrap="square" lIns="0" tIns="0" rIns="0" bIns="0" anchor="t">
            <a:spAutoFit/>
          </a:bodyPr>
          <a:lstStyle/>
          <a:p>
            <a:pPr algn="l">
              <a:lnSpc>
                <a:spcPct val="155000"/>
              </a:lnSpc>
            </a:pPr>
            <a:r>
              <a:rPr sz="1200" b="0" i="0">
                <a:solidFill>
                  <a:srgbClr val="C8CDD8"/>
                </a:solidFill>
                <a:latin typeface="Inter"/>
              </a:rPr>
              <a:t>• Stated goal: hold a real conversation in the target language.</a:t>
            </a:r>
          </a:p>
          <a:p>
            <a:pPr algn="l">
              <a:lnSpc>
                <a:spcPct val="155000"/>
              </a:lnSpc>
            </a:pPr>
            <a:r>
              <a:rPr sz="1200" b="0" i="0">
                <a:solidFill>
                  <a:srgbClr val="C8CDD8"/>
                </a:solidFill>
                <a:latin typeface="Inter"/>
              </a:rPr>
              <a:t>• Actual measured behavior: daily login and XP.</a:t>
            </a:r>
          </a:p>
          <a:p>
            <a:pPr algn="l">
              <a:lnSpc>
                <a:spcPct val="155000"/>
              </a:lnSpc>
            </a:pPr>
            <a:r>
              <a:rPr sz="1200" b="0" i="0">
                <a:solidFill>
                  <a:srgbClr val="C8CDD8"/>
                </a:solidFill>
                <a:latin typeface="Inter"/>
              </a:rPr>
              <a:t>• Never speaks inside the app.</a:t>
            </a:r>
          </a:p>
          <a:p>
            <a:pPr algn="l">
              <a:lnSpc>
                <a:spcPct val="155000"/>
              </a:lnSpc>
            </a:pPr>
            <a:r>
              <a:rPr sz="1200" b="0" i="0">
                <a:solidFill>
                  <a:srgbClr val="C8CDD8"/>
                </a:solidFill>
                <a:latin typeface="Inter"/>
              </a:rPr>
              <a:t>• Believes the streak is proof of progress.</a:t>
            </a:r>
          </a:p>
        </p:txBody>
      </p:sp>
      <p:sp>
        <p:nvSpPr>
          <p:cNvPr id="11" name="Rectangle 10"/>
          <p:cNvSpPr/>
          <p:nvPr/>
        </p:nvSpPr>
        <p:spPr>
          <a:xfrm>
            <a:off x="548640" y="5007495"/>
            <a:ext cx="11094415" cy="59436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5007495"/>
            <a:ext cx="50800" cy="59436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5190375"/>
            <a:ext cx="10682935" cy="137160"/>
          </a:xfrm>
          <a:prstGeom prst="rect">
            <a:avLst/>
          </a:prstGeom>
          <a:noFill/>
        </p:spPr>
        <p:txBody>
          <a:bodyPr wrap="square" lIns="0" tIns="0" rIns="0" bIns="0" anchor="t">
            <a:spAutoFit/>
          </a:bodyPr>
          <a:lstStyle/>
          <a:p>
            <a:pPr algn="l">
              <a:lnSpc>
                <a:spcPct val="140000"/>
              </a:lnSpc>
            </a:pPr>
            <a:r>
              <a:rPr sz="1300" b="0" i="1">
                <a:solidFill>
                  <a:srgbClr val="F0F2F5"/>
                </a:solidFill>
                <a:latin typeface="Inter"/>
              </a:rPr>
              <a:t>The learner wants to speak. The system rewards showing up.</a:t>
            </a:r>
          </a:p>
        </p:txBody>
      </p:sp>
      <p:sp>
        <p:nvSpPr>
          <p:cNvPr id="14" name="TextBox 13"/>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5" name="TextBox 14"/>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C27B"/>
                </a:solidFill>
                <a:latin typeface="Inter"/>
              </a:rPr>
              <a:t>PHASE 2 · TASK &amp; USER ANALYSIS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What the app measures vs. what the learner signed up for.</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Two different skills. The app exercises one. The learner's goal lives in the other.</a:t>
            </a:r>
          </a:p>
        </p:txBody>
      </p:sp>
      <p:sp>
        <p:nvSpPr>
          <p:cNvPr id="6" name="Rectangle 5"/>
          <p:cNvSpPr/>
          <p:nvPr/>
        </p:nvSpPr>
        <p:spPr>
          <a:xfrm>
            <a:off x="548640" y="2651760"/>
            <a:ext cx="5532120"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651760"/>
            <a:ext cx="50800" cy="301752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788920"/>
            <a:ext cx="5166360" cy="411480"/>
          </a:xfrm>
          <a:prstGeom prst="rect">
            <a:avLst/>
          </a:prstGeom>
          <a:noFill/>
        </p:spPr>
        <p:txBody>
          <a:bodyPr wrap="square" lIns="0" tIns="0" rIns="0" bIns="0" anchor="t">
            <a:spAutoFit/>
          </a:bodyPr>
          <a:lstStyle/>
          <a:p>
            <a:pPr algn="l">
              <a:lnSpc>
                <a:spcPct val="115000"/>
              </a:lnSpc>
            </a:pPr>
            <a:r>
              <a:rPr sz="1200" b="1" i="0" spc="100">
                <a:solidFill>
                  <a:srgbClr val="7B9FE0"/>
                </a:solidFill>
                <a:latin typeface="Inter"/>
              </a:rPr>
              <a:t>RECOGNITION · WHAT DUOLINGO MEASURES</a:t>
            </a:r>
          </a:p>
        </p:txBody>
      </p:sp>
      <p:sp>
        <p:nvSpPr>
          <p:cNvPr id="9" name="TextBox 8"/>
          <p:cNvSpPr txBox="1"/>
          <p:nvPr/>
        </p:nvSpPr>
        <p:spPr>
          <a:xfrm>
            <a:off x="749808" y="3154680"/>
            <a:ext cx="5166360" cy="242316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Multiple choice translation.</a:t>
            </a:r>
          </a:p>
          <a:p>
            <a:pPr algn="l">
              <a:lnSpc>
                <a:spcPct val="140000"/>
              </a:lnSpc>
            </a:pPr>
            <a:r>
              <a:rPr sz="1100" b="0" i="0">
                <a:solidFill>
                  <a:srgbClr val="C8CDD8"/>
                </a:solidFill>
                <a:latin typeface="Inter"/>
              </a:rPr>
              <a:t>• Word bank sentence assembly.</a:t>
            </a:r>
          </a:p>
          <a:p>
            <a:pPr algn="l">
              <a:lnSpc>
                <a:spcPct val="140000"/>
              </a:lnSpc>
            </a:pPr>
            <a:r>
              <a:rPr sz="1100" b="0" i="0">
                <a:solidFill>
                  <a:srgbClr val="C8CDD8"/>
                </a:solidFill>
                <a:latin typeface="Inter"/>
              </a:rPr>
              <a:t>• Listening practice with clean machine voice clips.</a:t>
            </a:r>
          </a:p>
          <a:p>
            <a:pPr algn="l">
              <a:lnSpc>
                <a:spcPct val="140000"/>
              </a:lnSpc>
            </a:pPr>
            <a:r>
              <a:rPr sz="1100" b="0" i="0">
                <a:solidFill>
                  <a:srgbClr val="C8CDD8"/>
                </a:solidFill>
                <a:latin typeface="Inter"/>
              </a:rPr>
              <a:t>• Tap to match vocabulary.</a:t>
            </a:r>
          </a:p>
          <a:p>
            <a:pPr algn="l">
              <a:lnSpc>
                <a:spcPct val="140000"/>
              </a:lnSpc>
            </a:pPr>
            <a:r>
              <a:rPr sz="1100" b="0" i="0">
                <a:solidFill>
                  <a:srgbClr val="C8CDD8"/>
                </a:solidFill>
                <a:latin typeface="Inter"/>
              </a:rPr>
              <a:t>• Fill in the blank grammar.</a:t>
            </a:r>
          </a:p>
          <a:p>
            <a:pPr algn="l">
              <a:lnSpc>
                <a:spcPct val="140000"/>
              </a:lnSpc>
            </a:pPr>
            <a:endParaRPr sz="1100" b="0" i="0">
              <a:solidFill>
                <a:srgbClr val="C8CDD8"/>
              </a:solidFill>
              <a:latin typeface="Inter"/>
            </a:endParaRPr>
          </a:p>
          <a:p>
            <a:pPr algn="l">
              <a:lnSpc>
                <a:spcPct val="140000"/>
              </a:lnSpc>
            </a:pPr>
            <a:r>
              <a:rPr sz="1100" b="0" i="0">
                <a:solidFill>
                  <a:srgbClr val="C8CDD8"/>
                </a:solidFill>
                <a:latin typeface="Inter"/>
              </a:rPr>
              <a:t>Demand on the learner:</a:t>
            </a:r>
          </a:p>
          <a:p>
            <a:pPr algn="l">
              <a:lnSpc>
                <a:spcPct val="140000"/>
              </a:lnSpc>
            </a:pPr>
            <a:r>
              <a:rPr sz="1100" b="0" i="0">
                <a:solidFill>
                  <a:srgbClr val="C8CDD8"/>
                </a:solidFill>
                <a:latin typeface="Inter"/>
              </a:rPr>
              <a:t>• Perceptual: scan the screen and pick.</a:t>
            </a:r>
          </a:p>
          <a:p>
            <a:pPr algn="l">
              <a:lnSpc>
                <a:spcPct val="140000"/>
              </a:lnSpc>
            </a:pPr>
            <a:r>
              <a:rPr sz="1100" b="0" i="0">
                <a:solidFill>
                  <a:srgbClr val="C8CDD8"/>
                </a:solidFill>
                <a:latin typeface="Inter"/>
              </a:rPr>
              <a:t>• Motor: tap, swipe, type.</a:t>
            </a:r>
          </a:p>
          <a:p>
            <a:pPr algn="l">
              <a:lnSpc>
                <a:spcPct val="140000"/>
              </a:lnSpc>
            </a:pPr>
            <a:r>
              <a:rPr sz="1100" b="0" i="0">
                <a:solidFill>
                  <a:srgbClr val="C8CDD8"/>
                </a:solidFill>
                <a:latin typeface="Inter"/>
              </a:rPr>
              <a:t>• Cognitive: pick from a small set of options.</a:t>
            </a:r>
          </a:p>
        </p:txBody>
      </p:sp>
      <p:sp>
        <p:nvSpPr>
          <p:cNvPr id="10" name="Rectangle 9"/>
          <p:cNvSpPr/>
          <p:nvPr/>
        </p:nvSpPr>
        <p:spPr>
          <a:xfrm>
            <a:off x="6309360" y="2651760"/>
            <a:ext cx="5532120"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2651760"/>
            <a:ext cx="50800" cy="301752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2788920"/>
            <a:ext cx="5166360" cy="411480"/>
          </a:xfrm>
          <a:prstGeom prst="rect">
            <a:avLst/>
          </a:prstGeom>
          <a:noFill/>
        </p:spPr>
        <p:txBody>
          <a:bodyPr wrap="square" lIns="0" tIns="0" rIns="0" bIns="0" anchor="t">
            <a:spAutoFit/>
          </a:bodyPr>
          <a:lstStyle/>
          <a:p>
            <a:pPr algn="l">
              <a:lnSpc>
                <a:spcPct val="115000"/>
              </a:lnSpc>
            </a:pPr>
            <a:r>
              <a:rPr sz="1200" b="1" i="0" spc="100">
                <a:solidFill>
                  <a:srgbClr val="E07BAA"/>
                </a:solidFill>
                <a:latin typeface="Inter"/>
              </a:rPr>
              <a:t>PRODUCTION · WHAT THE LEARNER SIGNED UP FOR</a:t>
            </a:r>
          </a:p>
        </p:txBody>
      </p:sp>
      <p:sp>
        <p:nvSpPr>
          <p:cNvPr id="13" name="TextBox 12"/>
          <p:cNvSpPr txBox="1"/>
          <p:nvPr/>
        </p:nvSpPr>
        <p:spPr>
          <a:xfrm>
            <a:off x="6510528" y="3154680"/>
            <a:ext cx="5166360" cy="242316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Speaking in real time, without prompts.</a:t>
            </a:r>
          </a:p>
          <a:p>
            <a:pPr algn="l">
              <a:lnSpc>
                <a:spcPct val="140000"/>
              </a:lnSpc>
            </a:pPr>
            <a:r>
              <a:rPr sz="1100" b="0" i="0">
                <a:solidFill>
                  <a:srgbClr val="C8CDD8"/>
                </a:solidFill>
                <a:latin typeface="Inter"/>
              </a:rPr>
              <a:t>• Picking the right words for the situation.</a:t>
            </a:r>
          </a:p>
          <a:p>
            <a:pPr algn="l">
              <a:lnSpc>
                <a:spcPct val="140000"/>
              </a:lnSpc>
            </a:pPr>
            <a:r>
              <a:rPr sz="1100" b="0" i="0">
                <a:solidFill>
                  <a:srgbClr val="C8CDD8"/>
                </a:solidFill>
                <a:latin typeface="Inter"/>
              </a:rPr>
              <a:t>• Understanding messy, accented speech.</a:t>
            </a:r>
          </a:p>
          <a:p>
            <a:pPr algn="l">
              <a:lnSpc>
                <a:spcPct val="140000"/>
              </a:lnSpc>
            </a:pPr>
            <a:r>
              <a:rPr sz="1100" b="0" i="0">
                <a:solidFill>
                  <a:srgbClr val="C8CDD8"/>
                </a:solidFill>
                <a:latin typeface="Inter"/>
              </a:rPr>
              <a:t>• Recovering after a misunderstanding.</a:t>
            </a:r>
          </a:p>
          <a:p>
            <a:pPr algn="l">
              <a:lnSpc>
                <a:spcPct val="140000"/>
              </a:lnSpc>
            </a:pPr>
            <a:r>
              <a:rPr sz="1100" b="0" i="0">
                <a:solidFill>
                  <a:srgbClr val="C8CDD8"/>
                </a:solidFill>
                <a:latin typeface="Inter"/>
              </a:rPr>
              <a:t>• Reading the formality of the room.</a:t>
            </a:r>
          </a:p>
          <a:p>
            <a:pPr algn="l">
              <a:lnSpc>
                <a:spcPct val="140000"/>
              </a:lnSpc>
            </a:pPr>
            <a:endParaRPr sz="1100" b="0" i="0">
              <a:solidFill>
                <a:srgbClr val="C8CDD8"/>
              </a:solidFill>
              <a:latin typeface="Inter"/>
            </a:endParaRPr>
          </a:p>
          <a:p>
            <a:pPr algn="l">
              <a:lnSpc>
                <a:spcPct val="140000"/>
              </a:lnSpc>
            </a:pPr>
            <a:r>
              <a:rPr sz="1100" b="0" i="0">
                <a:solidFill>
                  <a:srgbClr val="C8CDD8"/>
                </a:solidFill>
                <a:latin typeface="Inter"/>
              </a:rPr>
              <a:t>Demand on the learner:</a:t>
            </a:r>
          </a:p>
          <a:p>
            <a:pPr algn="l">
              <a:lnSpc>
                <a:spcPct val="140000"/>
              </a:lnSpc>
            </a:pPr>
            <a:r>
              <a:rPr sz="1100" b="0" i="0">
                <a:solidFill>
                  <a:srgbClr val="C8CDD8"/>
                </a:solidFill>
                <a:latin typeface="Inter"/>
              </a:rPr>
              <a:t>• Perceptual: hearing messy, accented speech.</a:t>
            </a:r>
          </a:p>
          <a:p>
            <a:pPr algn="l">
              <a:lnSpc>
                <a:spcPct val="140000"/>
              </a:lnSpc>
            </a:pPr>
            <a:r>
              <a:rPr sz="1100" b="0" i="0">
                <a:solidFill>
                  <a:srgbClr val="C8CDD8"/>
                </a:solidFill>
                <a:latin typeface="Inter"/>
              </a:rPr>
              <a:t>• Motor: speaking out loud.</a:t>
            </a:r>
          </a:p>
          <a:p>
            <a:pPr algn="l">
              <a:lnSpc>
                <a:spcPct val="140000"/>
              </a:lnSpc>
            </a:pPr>
            <a:r>
              <a:rPr sz="1100" b="0" i="0">
                <a:solidFill>
                  <a:srgbClr val="C8CDD8"/>
                </a:solidFill>
                <a:latin typeface="Inter"/>
              </a:rPr>
              <a:t>• Cognitive: build a sentence on the fly, under time pressure.</a:t>
            </a:r>
          </a:p>
        </p:txBody>
      </p:sp>
      <p:sp>
        <p:nvSpPr>
          <p:cNvPr id="14" name="TextBox 13"/>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5" name="TextBox 14"/>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C27B"/>
                </a:solidFill>
                <a:latin typeface="Inter"/>
              </a:rPr>
              <a:t>PHASE 2 · TASK &amp; USER ANALYSIS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Cognitive, perceptual, motor, and workload demands.</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Where Duolingo over loads and under loads each kind of demand on the learner.</a:t>
            </a:r>
          </a:p>
        </p:txBody>
      </p:sp>
      <p:sp>
        <p:nvSpPr>
          <p:cNvPr id="6" name="Rectangle 5"/>
          <p:cNvSpPr/>
          <p:nvPr/>
        </p:nvSpPr>
        <p:spPr>
          <a:xfrm>
            <a:off x="548640" y="2560320"/>
            <a:ext cx="5532120" cy="17373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560320"/>
            <a:ext cx="50800" cy="173736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697480"/>
            <a:ext cx="5166360" cy="411480"/>
          </a:xfrm>
          <a:prstGeom prst="rect">
            <a:avLst/>
          </a:prstGeom>
          <a:noFill/>
        </p:spPr>
        <p:txBody>
          <a:bodyPr wrap="square" lIns="0" tIns="0" rIns="0" bIns="0" anchor="t">
            <a:spAutoFit/>
          </a:bodyPr>
          <a:lstStyle/>
          <a:p>
            <a:pPr algn="l">
              <a:lnSpc>
                <a:spcPct val="115000"/>
              </a:lnSpc>
            </a:pPr>
            <a:r>
              <a:rPr sz="1200" b="1" i="0" spc="100">
                <a:solidFill>
                  <a:srgbClr val="7B9FE0"/>
                </a:solidFill>
                <a:latin typeface="Inter"/>
              </a:rPr>
              <a:t>COGNITIVE</a:t>
            </a:r>
          </a:p>
        </p:txBody>
      </p:sp>
      <p:sp>
        <p:nvSpPr>
          <p:cNvPr id="9" name="TextBox 8"/>
          <p:cNvSpPr txBox="1"/>
          <p:nvPr/>
        </p:nvSpPr>
        <p:spPr>
          <a:xfrm>
            <a:off x="749808" y="3063240"/>
            <a:ext cx="5166360" cy="114300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Under loaded. No problem solving, no situational reasoning, no sentence building on the fly. The task is pick from a small menu of choices.</a:t>
            </a:r>
          </a:p>
        </p:txBody>
      </p:sp>
      <p:sp>
        <p:nvSpPr>
          <p:cNvPr id="10" name="Rectangle 9"/>
          <p:cNvSpPr/>
          <p:nvPr/>
        </p:nvSpPr>
        <p:spPr>
          <a:xfrm>
            <a:off x="6309360" y="2560320"/>
            <a:ext cx="5532120" cy="17373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2560320"/>
            <a:ext cx="50800" cy="173736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2697480"/>
            <a:ext cx="5166360" cy="411480"/>
          </a:xfrm>
          <a:prstGeom prst="rect">
            <a:avLst/>
          </a:prstGeom>
          <a:noFill/>
        </p:spPr>
        <p:txBody>
          <a:bodyPr wrap="square" lIns="0" tIns="0" rIns="0" bIns="0" anchor="t">
            <a:spAutoFit/>
          </a:bodyPr>
          <a:lstStyle/>
          <a:p>
            <a:pPr algn="l">
              <a:lnSpc>
                <a:spcPct val="115000"/>
              </a:lnSpc>
            </a:pPr>
            <a:r>
              <a:rPr sz="1200" b="1" i="0" spc="100">
                <a:solidFill>
                  <a:srgbClr val="E0C27B"/>
                </a:solidFill>
                <a:latin typeface="Inter"/>
              </a:rPr>
              <a:t>PERCEPTUAL</a:t>
            </a:r>
          </a:p>
        </p:txBody>
      </p:sp>
      <p:sp>
        <p:nvSpPr>
          <p:cNvPr id="13" name="TextBox 12"/>
          <p:cNvSpPr txBox="1"/>
          <p:nvPr/>
        </p:nvSpPr>
        <p:spPr>
          <a:xfrm>
            <a:off x="6510528" y="3063240"/>
            <a:ext cx="5166360" cy="114300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Narrow. The visual channel is busy with UI ornaments. The audio channel is limited to clean machine voice. No demand to hear accented or messy speech.</a:t>
            </a:r>
          </a:p>
        </p:txBody>
      </p:sp>
      <p:sp>
        <p:nvSpPr>
          <p:cNvPr id="14" name="Rectangle 13"/>
          <p:cNvSpPr/>
          <p:nvPr/>
        </p:nvSpPr>
        <p:spPr>
          <a:xfrm>
            <a:off x="548640" y="4480560"/>
            <a:ext cx="5532120" cy="17373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480560"/>
            <a:ext cx="50800" cy="173736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4617720"/>
            <a:ext cx="5166360" cy="411480"/>
          </a:xfrm>
          <a:prstGeom prst="rect">
            <a:avLst/>
          </a:prstGeom>
          <a:noFill/>
        </p:spPr>
        <p:txBody>
          <a:bodyPr wrap="square" lIns="0" tIns="0" rIns="0" bIns="0" anchor="t">
            <a:spAutoFit/>
          </a:bodyPr>
          <a:lstStyle/>
          <a:p>
            <a:pPr algn="l">
              <a:lnSpc>
                <a:spcPct val="115000"/>
              </a:lnSpc>
            </a:pPr>
            <a:r>
              <a:rPr sz="1200" b="1" i="0" spc="100">
                <a:solidFill>
                  <a:srgbClr val="7BE0B4"/>
                </a:solidFill>
                <a:latin typeface="Inter"/>
              </a:rPr>
              <a:t>MOTOR</a:t>
            </a:r>
          </a:p>
        </p:txBody>
      </p:sp>
      <p:sp>
        <p:nvSpPr>
          <p:cNvPr id="17" name="TextBox 16"/>
          <p:cNvSpPr txBox="1"/>
          <p:nvPr/>
        </p:nvSpPr>
        <p:spPr>
          <a:xfrm>
            <a:off x="749808" y="4983480"/>
            <a:ext cx="5166360" cy="114300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Tap and swipe only. The muscles the learner needs for speaking never get exercised inside the app.</a:t>
            </a:r>
          </a:p>
        </p:txBody>
      </p:sp>
      <p:sp>
        <p:nvSpPr>
          <p:cNvPr id="18" name="Rectangle 17"/>
          <p:cNvSpPr/>
          <p:nvPr/>
        </p:nvSpPr>
        <p:spPr>
          <a:xfrm>
            <a:off x="6309360" y="4480560"/>
            <a:ext cx="5532120" cy="17373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4480560"/>
            <a:ext cx="50800" cy="173736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4617720"/>
            <a:ext cx="5166360" cy="411480"/>
          </a:xfrm>
          <a:prstGeom prst="rect">
            <a:avLst/>
          </a:prstGeom>
          <a:noFill/>
        </p:spPr>
        <p:txBody>
          <a:bodyPr wrap="square" lIns="0" tIns="0" rIns="0" bIns="0" anchor="t">
            <a:spAutoFit/>
          </a:bodyPr>
          <a:lstStyle/>
          <a:p>
            <a:pPr algn="l">
              <a:lnSpc>
                <a:spcPct val="115000"/>
              </a:lnSpc>
            </a:pPr>
            <a:r>
              <a:rPr sz="1200" b="1" i="0" spc="100">
                <a:solidFill>
                  <a:srgbClr val="E07BAA"/>
                </a:solidFill>
                <a:latin typeface="Inter"/>
              </a:rPr>
              <a:t>WORKLOAD</a:t>
            </a:r>
          </a:p>
        </p:txBody>
      </p:sp>
      <p:sp>
        <p:nvSpPr>
          <p:cNvPr id="21" name="TextBox 20"/>
          <p:cNvSpPr txBox="1"/>
          <p:nvPr/>
        </p:nvSpPr>
        <p:spPr>
          <a:xfrm>
            <a:off x="6510528" y="4983480"/>
            <a:ext cx="5166360" cy="114300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Kept artificially low. Tuned to protect daily retention. Friction is the enemy of showing up, so the system never stretches the learner.</a:t>
            </a:r>
          </a:p>
        </p:txBody>
      </p:sp>
      <p:sp>
        <p:nvSpPr>
          <p:cNvPr id="22" name="TextBox 21"/>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3" name="TextBox 22"/>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C27B"/>
                </a:solidFill>
                <a:latin typeface="Inter"/>
              </a:rPr>
              <a:t>PHASE 2 · TASK &amp; USER ANALYSIS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Ideal state versus failure state.</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What the learner signed up for, and where the system actually lands.</a:t>
            </a:r>
          </a:p>
        </p:txBody>
      </p:sp>
      <p:sp>
        <p:nvSpPr>
          <p:cNvPr id="6" name="Rectangle 5"/>
          <p:cNvSpPr/>
          <p:nvPr/>
        </p:nvSpPr>
        <p:spPr>
          <a:xfrm>
            <a:off x="548640" y="2651760"/>
            <a:ext cx="5532120"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651760"/>
            <a:ext cx="50800" cy="301752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788920"/>
            <a:ext cx="5166360" cy="411480"/>
          </a:xfrm>
          <a:prstGeom prst="rect">
            <a:avLst/>
          </a:prstGeom>
          <a:noFill/>
        </p:spPr>
        <p:txBody>
          <a:bodyPr wrap="square" lIns="0" tIns="0" rIns="0" bIns="0" anchor="t">
            <a:spAutoFit/>
          </a:bodyPr>
          <a:lstStyle/>
          <a:p>
            <a:pPr algn="l">
              <a:lnSpc>
                <a:spcPct val="115000"/>
              </a:lnSpc>
            </a:pPr>
            <a:r>
              <a:rPr sz="1200" b="1" i="0" spc="100">
                <a:solidFill>
                  <a:srgbClr val="7BE0B4"/>
                </a:solidFill>
                <a:latin typeface="Inter"/>
              </a:rPr>
              <a:t>IDEAL STATE</a:t>
            </a:r>
          </a:p>
        </p:txBody>
      </p:sp>
      <p:sp>
        <p:nvSpPr>
          <p:cNvPr id="9" name="TextBox 8"/>
          <p:cNvSpPr txBox="1"/>
          <p:nvPr/>
        </p:nvSpPr>
        <p:spPr>
          <a:xfrm>
            <a:off x="749808" y="3154680"/>
            <a:ext cx="5166360" cy="242316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Hold a five minute conversation in the target language.</a:t>
            </a:r>
          </a:p>
          <a:p>
            <a:pPr algn="l">
              <a:lnSpc>
                <a:spcPct val="140000"/>
              </a:lnSpc>
            </a:pPr>
            <a:r>
              <a:rPr sz="1100" b="0" i="0">
                <a:solidFill>
                  <a:srgbClr val="C8CDD8"/>
                </a:solidFill>
                <a:latin typeface="Inter"/>
              </a:rPr>
              <a:t>• With a native speaker, in country, in context.</a:t>
            </a:r>
          </a:p>
          <a:p>
            <a:pPr algn="l">
              <a:lnSpc>
                <a:spcPct val="140000"/>
              </a:lnSpc>
            </a:pPr>
            <a:r>
              <a:rPr sz="1100" b="0" i="0">
                <a:solidFill>
                  <a:srgbClr val="C8CDD8"/>
                </a:solidFill>
                <a:latin typeface="Inter"/>
              </a:rPr>
              <a:t>• Recover from a misunderstanding without panic.</a:t>
            </a:r>
          </a:p>
          <a:p>
            <a:pPr algn="l">
              <a:lnSpc>
                <a:spcPct val="140000"/>
              </a:lnSpc>
            </a:pPr>
            <a:r>
              <a:rPr sz="1100" b="0" i="0">
                <a:solidFill>
                  <a:srgbClr val="C8CDD8"/>
                </a:solidFill>
                <a:latin typeface="Inter"/>
              </a:rPr>
              <a:t>• Pick the right words for a market, a restaurant, or a workplace.</a:t>
            </a:r>
          </a:p>
          <a:p>
            <a:pPr algn="l">
              <a:lnSpc>
                <a:spcPct val="140000"/>
              </a:lnSpc>
            </a:pPr>
            <a:r>
              <a:rPr sz="1100" b="0" i="0">
                <a:solidFill>
                  <a:srgbClr val="C8CDD8"/>
                </a:solidFill>
                <a:latin typeface="Inter"/>
              </a:rPr>
              <a:t>• Understand accented, spontaneous speech.</a:t>
            </a:r>
          </a:p>
          <a:p>
            <a:pPr algn="l">
              <a:lnSpc>
                <a:spcPct val="140000"/>
              </a:lnSpc>
            </a:pPr>
            <a:endParaRPr sz="1100" b="0" i="0">
              <a:solidFill>
                <a:srgbClr val="C8CDD8"/>
              </a:solidFill>
              <a:latin typeface="Inter"/>
            </a:endParaRPr>
          </a:p>
          <a:p>
            <a:pPr algn="l">
              <a:lnSpc>
                <a:spcPct val="140000"/>
              </a:lnSpc>
            </a:pPr>
            <a:r>
              <a:rPr sz="1100" b="0" i="0">
                <a:solidFill>
                  <a:srgbClr val="C8CDD8"/>
                </a:solidFill>
                <a:latin typeface="Inter"/>
              </a:rPr>
              <a:t>This is what the user signed up for.</a:t>
            </a:r>
          </a:p>
        </p:txBody>
      </p:sp>
      <p:sp>
        <p:nvSpPr>
          <p:cNvPr id="10" name="Rectangle 9"/>
          <p:cNvSpPr/>
          <p:nvPr/>
        </p:nvSpPr>
        <p:spPr>
          <a:xfrm>
            <a:off x="6309360" y="2651760"/>
            <a:ext cx="5532120"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2651760"/>
            <a:ext cx="50800" cy="301752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2788920"/>
            <a:ext cx="5166360" cy="411480"/>
          </a:xfrm>
          <a:prstGeom prst="rect">
            <a:avLst/>
          </a:prstGeom>
          <a:noFill/>
        </p:spPr>
        <p:txBody>
          <a:bodyPr wrap="square" lIns="0" tIns="0" rIns="0" bIns="0" anchor="t">
            <a:spAutoFit/>
          </a:bodyPr>
          <a:lstStyle/>
          <a:p>
            <a:pPr algn="l">
              <a:lnSpc>
                <a:spcPct val="115000"/>
              </a:lnSpc>
            </a:pPr>
            <a:r>
              <a:rPr sz="1200" b="1" i="0" spc="100">
                <a:solidFill>
                  <a:srgbClr val="E07B7B"/>
                </a:solidFill>
                <a:latin typeface="Inter"/>
              </a:rPr>
              <a:t>FAILURE STATE (NOW)</a:t>
            </a:r>
          </a:p>
        </p:txBody>
      </p:sp>
      <p:sp>
        <p:nvSpPr>
          <p:cNvPr id="13" name="TextBox 12"/>
          <p:cNvSpPr txBox="1"/>
          <p:nvPr/>
        </p:nvSpPr>
        <p:spPr>
          <a:xfrm>
            <a:off x="6510528" y="3154680"/>
            <a:ext cx="5166360" cy="242316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Complete daily streak. Earn XP.</a:t>
            </a:r>
          </a:p>
          <a:p>
            <a:pPr algn="l">
              <a:lnSpc>
                <a:spcPct val="140000"/>
              </a:lnSpc>
            </a:pPr>
            <a:r>
              <a:rPr sz="1100" b="0" i="0">
                <a:solidFill>
                  <a:srgbClr val="C8CDD8"/>
                </a:solidFill>
                <a:latin typeface="Inter"/>
              </a:rPr>
              <a:t>• Recognize vocabulary in isolation.</a:t>
            </a:r>
          </a:p>
          <a:p>
            <a:pPr algn="l">
              <a:lnSpc>
                <a:spcPct val="140000"/>
              </a:lnSpc>
            </a:pPr>
            <a:r>
              <a:rPr sz="1100" b="0" i="0">
                <a:solidFill>
                  <a:srgbClr val="C8CDD8"/>
                </a:solidFill>
                <a:latin typeface="Inter"/>
              </a:rPr>
              <a:t>• Feel confident, without any way to check whether the confidence is earned (Kornell, 2008).</a:t>
            </a:r>
          </a:p>
          <a:p>
            <a:pPr algn="l">
              <a:lnSpc>
                <a:spcPct val="140000"/>
              </a:lnSpc>
            </a:pPr>
            <a:r>
              <a:rPr sz="1100" b="0" i="0">
                <a:solidFill>
                  <a:srgbClr val="C8CDD8"/>
                </a:solidFill>
                <a:latin typeface="Inter"/>
              </a:rPr>
              <a:t>• Cannot speak spontaneously under real conditions.</a:t>
            </a:r>
          </a:p>
          <a:p>
            <a:pPr algn="l">
              <a:lnSpc>
                <a:spcPct val="140000"/>
              </a:lnSpc>
            </a:pPr>
            <a:r>
              <a:rPr sz="1100" b="0" i="0">
                <a:solidFill>
                  <a:srgbClr val="C8CDD8"/>
                </a:solidFill>
                <a:latin typeface="Inter"/>
              </a:rPr>
              <a:t>• Cannot pick between regional accents of the same language.</a:t>
            </a:r>
          </a:p>
          <a:p>
            <a:pPr algn="l">
              <a:lnSpc>
                <a:spcPct val="140000"/>
              </a:lnSpc>
            </a:pPr>
            <a:endParaRPr sz="1100" b="0" i="0">
              <a:solidFill>
                <a:srgbClr val="C8CDD8"/>
              </a:solidFill>
              <a:latin typeface="Inter"/>
            </a:endParaRPr>
          </a:p>
          <a:p>
            <a:pPr algn="l">
              <a:lnSpc>
                <a:spcPct val="140000"/>
              </a:lnSpc>
            </a:pPr>
            <a:r>
              <a:rPr sz="1100" b="0" i="0">
                <a:solidFill>
                  <a:srgbClr val="C8CDD8"/>
                </a:solidFill>
                <a:latin typeface="Inter"/>
              </a:rPr>
              <a:t>This is where the system actually lands.</a:t>
            </a:r>
          </a:p>
        </p:txBody>
      </p:sp>
      <p:sp>
        <p:nvSpPr>
          <p:cNvPr id="14" name="TextBox 13"/>
          <p:cNvSpPr txBox="1"/>
          <p:nvPr/>
        </p:nvSpPr>
        <p:spPr>
          <a:xfrm>
            <a:off x="548640" y="5989320"/>
            <a:ext cx="11094415" cy="365760"/>
          </a:xfrm>
          <a:prstGeom prst="rect">
            <a:avLst/>
          </a:prstGeom>
          <a:noFill/>
        </p:spPr>
        <p:txBody>
          <a:bodyPr wrap="square" lIns="0" tIns="0" rIns="0" bIns="0" anchor="t">
            <a:spAutoFit/>
          </a:bodyPr>
          <a:lstStyle/>
          <a:p>
            <a:pPr algn="ctr">
              <a:lnSpc>
                <a:spcPct val="125000"/>
              </a:lnSpc>
            </a:pPr>
            <a:r>
              <a:rPr sz="1200" b="0" i="1">
                <a:solidFill>
                  <a:srgbClr val="C8CDD8"/>
                </a:solidFill>
                <a:latin typeface="Inter"/>
              </a:rPr>
              <a:t>Phase 3 is built to trace the gap between these two columns.</a:t>
            </a:r>
          </a:p>
        </p:txBody>
      </p:sp>
      <p:sp>
        <p:nvSpPr>
          <p:cNvPr id="15" name="TextBox 14"/>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6" name="TextBox 15"/>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9FE0"/>
                </a:solidFill>
                <a:latin typeface="Inter"/>
              </a:rPr>
              <a:t>PHASE 3 · DATA &amp; METHODOLOGY</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Two weeks, fifteen sources, one prototype, one proposed experiment.</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Research driven and build driven. Transparent about what it can and cannot prove.</a:t>
            </a:r>
          </a:p>
        </p:txBody>
      </p:sp>
      <p:sp>
        <p:nvSpPr>
          <p:cNvPr id="6" name="Rectangle 5"/>
          <p:cNvSpPr/>
          <p:nvPr/>
        </p:nvSpPr>
        <p:spPr>
          <a:xfrm>
            <a:off x="548640" y="2651760"/>
            <a:ext cx="5532120"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651760"/>
            <a:ext cx="50800" cy="301752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788920"/>
            <a:ext cx="5166360" cy="411480"/>
          </a:xfrm>
          <a:prstGeom prst="rect">
            <a:avLst/>
          </a:prstGeom>
          <a:noFill/>
        </p:spPr>
        <p:txBody>
          <a:bodyPr wrap="square" lIns="0" tIns="0" rIns="0" bIns="0" anchor="t">
            <a:spAutoFit/>
          </a:bodyPr>
          <a:lstStyle/>
          <a:p>
            <a:pPr algn="l">
              <a:lnSpc>
                <a:spcPct val="115000"/>
              </a:lnSpc>
            </a:pPr>
            <a:r>
              <a:rPr sz="1200" b="1" i="0" spc="100">
                <a:solidFill>
                  <a:srgbClr val="7B9FE0"/>
                </a:solidFill>
                <a:latin typeface="Inter"/>
              </a:rPr>
              <a:t>APPROACH</a:t>
            </a:r>
          </a:p>
        </p:txBody>
      </p:sp>
      <p:sp>
        <p:nvSpPr>
          <p:cNvPr id="9" name="TextBox 8"/>
          <p:cNvSpPr txBox="1"/>
          <p:nvPr/>
        </p:nvSpPr>
        <p:spPr>
          <a:xfrm>
            <a:off x="749808" y="3154680"/>
            <a:ext cx="5166360" cy="925959"/>
          </a:xfrm>
          <a:prstGeom prst="rect">
            <a:avLst/>
          </a:prstGeom>
          <a:noFill/>
        </p:spPr>
        <p:txBody>
          <a:bodyPr wrap="square" lIns="0" tIns="0" rIns="0" bIns="0" anchor="t">
            <a:spAutoFit/>
          </a:bodyPr>
          <a:lstStyle/>
          <a:p>
            <a:pPr algn="l">
              <a:lnSpc>
                <a:spcPct val="140000"/>
              </a:lnSpc>
            </a:pPr>
            <a:r>
              <a:rPr sz="1100" b="0" i="0" dirty="0">
                <a:solidFill>
                  <a:srgbClr val="C8CDD8"/>
                </a:solidFill>
                <a:latin typeface="Inter"/>
              </a:rPr>
              <a:t>• A 15 source peer reviewed research corpus.</a:t>
            </a:r>
          </a:p>
          <a:p>
            <a:pPr algn="l">
              <a:lnSpc>
                <a:spcPct val="140000"/>
              </a:lnSpc>
            </a:pPr>
            <a:r>
              <a:rPr sz="1100" b="0" i="0" dirty="0">
                <a:solidFill>
                  <a:srgbClr val="C8CDD8"/>
                </a:solidFill>
                <a:latin typeface="Inter"/>
              </a:rPr>
              <a:t>• Two meta analyses (</a:t>
            </a:r>
            <a:r>
              <a:rPr sz="1100" b="0" i="0" dirty="0" err="1">
                <a:solidFill>
                  <a:srgbClr val="C8CDD8"/>
                </a:solidFill>
                <a:latin typeface="Inter"/>
              </a:rPr>
              <a:t>Bibauw</a:t>
            </a:r>
            <a:r>
              <a:rPr sz="1100" b="0" i="0" dirty="0">
                <a:solidFill>
                  <a:srgbClr val="C8CDD8"/>
                </a:solidFill>
                <a:latin typeface="Inter"/>
              </a:rPr>
              <a:t> 2022, Mayer 2021) carry the intervention claims.</a:t>
            </a:r>
          </a:p>
          <a:p>
            <a:pPr algn="l">
              <a:lnSpc>
                <a:spcPct val="140000"/>
              </a:lnSpc>
            </a:pPr>
            <a:r>
              <a:rPr sz="1100" b="0" i="0" dirty="0">
                <a:solidFill>
                  <a:srgbClr val="C8CDD8"/>
                </a:solidFill>
                <a:latin typeface="Inter"/>
              </a:rPr>
              <a:t>• A working conversational agent, built in the repo.</a:t>
            </a:r>
          </a:p>
          <a:p>
            <a:pPr algn="l">
              <a:lnSpc>
                <a:spcPct val="140000"/>
              </a:lnSpc>
            </a:pPr>
            <a:r>
              <a:rPr sz="1100" b="0" i="0" dirty="0">
                <a:solidFill>
                  <a:srgbClr val="C8CDD8"/>
                </a:solidFill>
                <a:latin typeface="Inter"/>
              </a:rPr>
              <a:t>• No primary data was collected in this window.</a:t>
            </a:r>
          </a:p>
        </p:txBody>
      </p:sp>
      <p:sp>
        <p:nvSpPr>
          <p:cNvPr id="10" name="Rectangle 9"/>
          <p:cNvSpPr/>
          <p:nvPr/>
        </p:nvSpPr>
        <p:spPr>
          <a:xfrm>
            <a:off x="6309360" y="2651760"/>
            <a:ext cx="5532120"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2651760"/>
            <a:ext cx="50800" cy="301752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2788920"/>
            <a:ext cx="5166360" cy="411480"/>
          </a:xfrm>
          <a:prstGeom prst="rect">
            <a:avLst/>
          </a:prstGeom>
          <a:noFill/>
        </p:spPr>
        <p:txBody>
          <a:bodyPr wrap="square" lIns="0" tIns="0" rIns="0" bIns="0" anchor="t">
            <a:spAutoFit/>
          </a:bodyPr>
          <a:lstStyle/>
          <a:p>
            <a:pPr algn="l">
              <a:lnSpc>
                <a:spcPct val="115000"/>
              </a:lnSpc>
            </a:pPr>
            <a:r>
              <a:rPr sz="1200" b="1" i="0" spc="100">
                <a:solidFill>
                  <a:srgbClr val="7BE0B4"/>
                </a:solidFill>
                <a:latin typeface="Inter"/>
              </a:rPr>
              <a:t>BENEFITS</a:t>
            </a:r>
          </a:p>
        </p:txBody>
      </p:sp>
      <p:sp>
        <p:nvSpPr>
          <p:cNvPr id="13" name="TextBox 12"/>
          <p:cNvSpPr txBox="1"/>
          <p:nvPr/>
        </p:nvSpPr>
        <p:spPr>
          <a:xfrm>
            <a:off x="6510528" y="3154680"/>
            <a:ext cx="5166360" cy="1162947"/>
          </a:xfrm>
          <a:prstGeom prst="rect">
            <a:avLst/>
          </a:prstGeom>
          <a:noFill/>
        </p:spPr>
        <p:txBody>
          <a:bodyPr wrap="square" lIns="0" tIns="0" rIns="0" bIns="0" anchor="t">
            <a:spAutoFit/>
          </a:bodyPr>
          <a:lstStyle/>
          <a:p>
            <a:pPr algn="l">
              <a:lnSpc>
                <a:spcPct val="140000"/>
              </a:lnSpc>
            </a:pPr>
            <a:r>
              <a:rPr sz="1100" b="0" i="0" dirty="0">
                <a:solidFill>
                  <a:srgbClr val="C8CDD8"/>
                </a:solidFill>
                <a:latin typeface="Inter"/>
              </a:rPr>
              <a:t>• Synthesis leverages a far larger evidence base than a two week primary study could ever produce.</a:t>
            </a:r>
          </a:p>
          <a:p>
            <a:pPr algn="l">
              <a:lnSpc>
                <a:spcPct val="140000"/>
              </a:lnSpc>
            </a:pPr>
            <a:r>
              <a:rPr sz="1100" b="0" i="0" dirty="0">
                <a:solidFill>
                  <a:srgbClr val="C8CDD8"/>
                </a:solidFill>
                <a:latin typeface="Inter"/>
              </a:rPr>
              <a:t>• The prototype constrains the redesign space to what is actually buildable.</a:t>
            </a:r>
          </a:p>
          <a:p>
            <a:pPr algn="l">
              <a:lnSpc>
                <a:spcPct val="140000"/>
              </a:lnSpc>
            </a:pPr>
            <a:r>
              <a:rPr sz="1100" b="0" i="0" dirty="0">
                <a:solidFill>
                  <a:srgbClr val="C8CDD8"/>
                </a:solidFill>
                <a:latin typeface="Inter"/>
              </a:rPr>
              <a:t>• Every claim in this deck ties back to </a:t>
            </a:r>
            <a:r>
              <a:rPr lang="en-US" sz="1100" dirty="0">
                <a:solidFill>
                  <a:srgbClr val="C8CDD8"/>
                </a:solidFill>
                <a:latin typeface="Inter"/>
              </a:rPr>
              <a:t>one of our sources</a:t>
            </a:r>
            <a:endParaRPr lang="en-US" sz="1100" b="0" i="0" dirty="0">
              <a:solidFill>
                <a:srgbClr val="C8CDD8"/>
              </a:solidFill>
              <a:latin typeface="Inter"/>
            </a:endParaRPr>
          </a:p>
          <a:p>
            <a:pPr algn="l">
              <a:lnSpc>
                <a:spcPct val="140000"/>
              </a:lnSpc>
            </a:pPr>
            <a:r>
              <a:rPr sz="1100" b="0" i="0" dirty="0">
                <a:solidFill>
                  <a:srgbClr val="C8CDD8"/>
                </a:solidFill>
                <a:latin typeface="Inter"/>
              </a:rPr>
              <a:t>• The proposed experiment closes what this window could not.</a:t>
            </a:r>
          </a:p>
        </p:txBody>
      </p:sp>
      <p:sp>
        <p:nvSpPr>
          <p:cNvPr id="14" name="TextBox 13"/>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5" name="TextBox 14"/>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9FE0"/>
                </a:solidFill>
                <a:latin typeface="Inter"/>
              </a:rPr>
              <a:t>PHASE 3 · DATA &amp; METHODOLOGY</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How we built it: five scoped agents, one coordinated project.</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We used Claude Code to run five sub agents, each with a single role and a single directory.</a:t>
            </a:r>
          </a:p>
        </p:txBody>
      </p:sp>
      <p:sp>
        <p:nvSpPr>
          <p:cNvPr id="6" name="Rectangle 5"/>
          <p:cNvSpPr/>
          <p:nvPr/>
        </p:nvSpPr>
        <p:spPr>
          <a:xfrm>
            <a:off x="548640" y="2606040"/>
            <a:ext cx="2139696"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606040"/>
            <a:ext cx="2139696" cy="381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788920"/>
            <a:ext cx="1773936" cy="365760"/>
          </a:xfrm>
          <a:prstGeom prst="rect">
            <a:avLst/>
          </a:prstGeom>
          <a:noFill/>
        </p:spPr>
        <p:txBody>
          <a:bodyPr wrap="square" lIns="0" tIns="0" rIns="0" bIns="0" anchor="t">
            <a:spAutoFit/>
          </a:bodyPr>
          <a:lstStyle/>
          <a:p>
            <a:pPr algn="l">
              <a:lnSpc>
                <a:spcPct val="125000"/>
              </a:lnSpc>
            </a:pPr>
            <a:r>
              <a:rPr sz="1100" b="1" i="0" spc="120">
                <a:solidFill>
                  <a:srgbClr val="E07B7B"/>
                </a:solidFill>
                <a:latin typeface="Inter"/>
              </a:rPr>
              <a:t>RESEARCH</a:t>
            </a:r>
          </a:p>
        </p:txBody>
      </p:sp>
      <p:sp>
        <p:nvSpPr>
          <p:cNvPr id="9" name="TextBox 8"/>
          <p:cNvSpPr txBox="1"/>
          <p:nvPr/>
        </p:nvSpPr>
        <p:spPr>
          <a:xfrm>
            <a:off x="731520" y="3246120"/>
            <a:ext cx="1773936" cy="2286000"/>
          </a:xfrm>
          <a:prstGeom prst="rect">
            <a:avLst/>
          </a:prstGeom>
          <a:noFill/>
        </p:spPr>
        <p:txBody>
          <a:bodyPr wrap="square" lIns="0" tIns="0" rIns="0" bIns="0" anchor="t">
            <a:spAutoFit/>
          </a:bodyPr>
          <a:lstStyle/>
          <a:p>
            <a:pPr algn="l">
              <a:lnSpc>
                <a:spcPct val="145000"/>
              </a:lnSpc>
            </a:pPr>
            <a:r>
              <a:rPr sz="1050" b="0" i="0">
                <a:solidFill>
                  <a:srgbClr val="C8CDD8"/>
                </a:solidFill>
                <a:latin typeface="Inter"/>
              </a:rPr>
              <a:t>Assembled the 15 source corpus. One note per paper. Direct quotes, sample sizes, effect sizes. Flagged paraphrases.</a:t>
            </a:r>
          </a:p>
        </p:txBody>
      </p:sp>
      <p:sp>
        <p:nvSpPr>
          <p:cNvPr id="10" name="Rectangle 9"/>
          <p:cNvSpPr/>
          <p:nvPr/>
        </p:nvSpPr>
        <p:spPr>
          <a:xfrm>
            <a:off x="2779776" y="2606040"/>
            <a:ext cx="2139696"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79776" y="2606040"/>
            <a:ext cx="2139696" cy="381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62656" y="2788920"/>
            <a:ext cx="1773936" cy="365760"/>
          </a:xfrm>
          <a:prstGeom prst="rect">
            <a:avLst/>
          </a:prstGeom>
          <a:noFill/>
        </p:spPr>
        <p:txBody>
          <a:bodyPr wrap="square" lIns="0" tIns="0" rIns="0" bIns="0" anchor="t">
            <a:spAutoFit/>
          </a:bodyPr>
          <a:lstStyle/>
          <a:p>
            <a:pPr algn="l">
              <a:lnSpc>
                <a:spcPct val="125000"/>
              </a:lnSpc>
            </a:pPr>
            <a:r>
              <a:rPr sz="1100" b="1" i="0" spc="120">
                <a:solidFill>
                  <a:srgbClr val="E0C27B"/>
                </a:solidFill>
                <a:latin typeface="Inter"/>
              </a:rPr>
              <a:t>HF ANALYSIS</a:t>
            </a:r>
          </a:p>
        </p:txBody>
      </p:sp>
      <p:sp>
        <p:nvSpPr>
          <p:cNvPr id="13" name="TextBox 12"/>
          <p:cNvSpPr txBox="1"/>
          <p:nvPr/>
        </p:nvSpPr>
        <p:spPr>
          <a:xfrm>
            <a:off x="2962656" y="3246120"/>
            <a:ext cx="1773936" cy="2286000"/>
          </a:xfrm>
          <a:prstGeom prst="rect">
            <a:avLst/>
          </a:prstGeom>
          <a:noFill/>
        </p:spPr>
        <p:txBody>
          <a:bodyPr wrap="square" lIns="0" tIns="0" rIns="0" bIns="0" anchor="t">
            <a:spAutoFit/>
          </a:bodyPr>
          <a:lstStyle/>
          <a:p>
            <a:pPr algn="l">
              <a:lnSpc>
                <a:spcPct val="145000"/>
              </a:lnSpc>
            </a:pPr>
            <a:r>
              <a:rPr sz="1050" b="0" i="0">
                <a:solidFill>
                  <a:srgbClr val="C8CDD8"/>
                </a:solidFill>
                <a:latin typeface="Inter"/>
              </a:rPr>
              <a:t>Produced the HFACS walk across all four Swiss Cheese levels. Mapped every claim to a source and a course concept.</a:t>
            </a:r>
          </a:p>
        </p:txBody>
      </p:sp>
      <p:sp>
        <p:nvSpPr>
          <p:cNvPr id="14" name="Rectangle 13"/>
          <p:cNvSpPr/>
          <p:nvPr/>
        </p:nvSpPr>
        <p:spPr>
          <a:xfrm>
            <a:off x="5010912" y="2606040"/>
            <a:ext cx="2139696"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10912" y="2606040"/>
            <a:ext cx="2139696" cy="381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93792" y="2788920"/>
            <a:ext cx="1773936" cy="365760"/>
          </a:xfrm>
          <a:prstGeom prst="rect">
            <a:avLst/>
          </a:prstGeom>
          <a:noFill/>
        </p:spPr>
        <p:txBody>
          <a:bodyPr wrap="square" lIns="0" tIns="0" rIns="0" bIns="0" anchor="t">
            <a:spAutoFit/>
          </a:bodyPr>
          <a:lstStyle/>
          <a:p>
            <a:pPr algn="l">
              <a:lnSpc>
                <a:spcPct val="125000"/>
              </a:lnSpc>
            </a:pPr>
            <a:r>
              <a:rPr sz="1100" b="1" i="0" spc="120">
                <a:solidFill>
                  <a:srgbClr val="7B9FE0"/>
                </a:solidFill>
                <a:latin typeface="Inter"/>
              </a:rPr>
              <a:t>FRONTEND</a:t>
            </a:r>
          </a:p>
        </p:txBody>
      </p:sp>
      <p:sp>
        <p:nvSpPr>
          <p:cNvPr id="17" name="TextBox 16"/>
          <p:cNvSpPr txBox="1"/>
          <p:nvPr/>
        </p:nvSpPr>
        <p:spPr>
          <a:xfrm>
            <a:off x="5193792" y="3246120"/>
            <a:ext cx="1773936" cy="2286000"/>
          </a:xfrm>
          <a:prstGeom prst="rect">
            <a:avLst/>
          </a:prstGeom>
          <a:noFill/>
        </p:spPr>
        <p:txBody>
          <a:bodyPr wrap="square" lIns="0" tIns="0" rIns="0" bIns="0" anchor="t">
            <a:spAutoFit/>
          </a:bodyPr>
          <a:lstStyle/>
          <a:p>
            <a:pPr algn="l">
              <a:lnSpc>
                <a:spcPct val="145000"/>
              </a:lnSpc>
            </a:pPr>
            <a:r>
              <a:rPr sz="1050" b="0" i="0">
                <a:solidFill>
                  <a:srgbClr val="C8CDD8"/>
                </a:solidFill>
                <a:latin typeface="Inter"/>
              </a:rPr>
              <a:t>Built the chat UI in plain HTML, CSS, and JavaScript. Dialect pill, scenario pill, severity badges, translation toggle.</a:t>
            </a:r>
          </a:p>
        </p:txBody>
      </p:sp>
      <p:sp>
        <p:nvSpPr>
          <p:cNvPr id="18" name="Rectangle 17"/>
          <p:cNvSpPr/>
          <p:nvPr/>
        </p:nvSpPr>
        <p:spPr>
          <a:xfrm>
            <a:off x="7242048" y="2606040"/>
            <a:ext cx="2139696"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242048" y="2606040"/>
            <a:ext cx="2139696" cy="3810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24928" y="2788920"/>
            <a:ext cx="1773936" cy="365760"/>
          </a:xfrm>
          <a:prstGeom prst="rect">
            <a:avLst/>
          </a:prstGeom>
          <a:noFill/>
        </p:spPr>
        <p:txBody>
          <a:bodyPr wrap="square" lIns="0" tIns="0" rIns="0" bIns="0" anchor="t">
            <a:spAutoFit/>
          </a:bodyPr>
          <a:lstStyle/>
          <a:p>
            <a:pPr algn="l">
              <a:lnSpc>
                <a:spcPct val="125000"/>
              </a:lnSpc>
            </a:pPr>
            <a:r>
              <a:rPr sz="1100" b="1" i="0" spc="120">
                <a:solidFill>
                  <a:srgbClr val="E07BAA"/>
                </a:solidFill>
                <a:latin typeface="Inter"/>
              </a:rPr>
              <a:t>BACKEND</a:t>
            </a:r>
          </a:p>
        </p:txBody>
      </p:sp>
      <p:sp>
        <p:nvSpPr>
          <p:cNvPr id="21" name="TextBox 20"/>
          <p:cNvSpPr txBox="1"/>
          <p:nvPr/>
        </p:nvSpPr>
        <p:spPr>
          <a:xfrm>
            <a:off x="7424928" y="3246120"/>
            <a:ext cx="1773936" cy="2286000"/>
          </a:xfrm>
          <a:prstGeom prst="rect">
            <a:avLst/>
          </a:prstGeom>
          <a:noFill/>
        </p:spPr>
        <p:txBody>
          <a:bodyPr wrap="square" lIns="0" tIns="0" rIns="0" bIns="0" anchor="t">
            <a:spAutoFit/>
          </a:bodyPr>
          <a:lstStyle/>
          <a:p>
            <a:pPr algn="l">
              <a:lnSpc>
                <a:spcPct val="145000"/>
              </a:lnSpc>
            </a:pPr>
            <a:r>
              <a:rPr sz="1050" b="0" i="0">
                <a:solidFill>
                  <a:srgbClr val="C8CDD8"/>
                </a:solidFill>
                <a:latin typeface="Inter"/>
              </a:rPr>
              <a:t>Built the Flask server and the agent. Scenario openers, dialect aware prompts, severity graded corrections.</a:t>
            </a:r>
          </a:p>
        </p:txBody>
      </p:sp>
      <p:sp>
        <p:nvSpPr>
          <p:cNvPr id="22" name="Rectangle 21"/>
          <p:cNvSpPr/>
          <p:nvPr/>
        </p:nvSpPr>
        <p:spPr>
          <a:xfrm>
            <a:off x="9473184" y="2606040"/>
            <a:ext cx="2139696" cy="30175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473184" y="2606040"/>
            <a:ext cx="2139696" cy="3810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56064" y="2788920"/>
            <a:ext cx="1773936" cy="365760"/>
          </a:xfrm>
          <a:prstGeom prst="rect">
            <a:avLst/>
          </a:prstGeom>
          <a:noFill/>
        </p:spPr>
        <p:txBody>
          <a:bodyPr wrap="square" lIns="0" tIns="0" rIns="0" bIns="0" anchor="t">
            <a:spAutoFit/>
          </a:bodyPr>
          <a:lstStyle/>
          <a:p>
            <a:pPr algn="l">
              <a:lnSpc>
                <a:spcPct val="125000"/>
              </a:lnSpc>
            </a:pPr>
            <a:r>
              <a:rPr sz="1100" b="1" i="0" spc="120">
                <a:solidFill>
                  <a:srgbClr val="7BE0B4"/>
                </a:solidFill>
                <a:latin typeface="Inter"/>
              </a:rPr>
              <a:t>QA</a:t>
            </a:r>
          </a:p>
        </p:txBody>
      </p:sp>
      <p:sp>
        <p:nvSpPr>
          <p:cNvPr id="25" name="TextBox 24"/>
          <p:cNvSpPr txBox="1"/>
          <p:nvPr/>
        </p:nvSpPr>
        <p:spPr>
          <a:xfrm>
            <a:off x="9656064" y="3246120"/>
            <a:ext cx="1773936" cy="2286000"/>
          </a:xfrm>
          <a:prstGeom prst="rect">
            <a:avLst/>
          </a:prstGeom>
          <a:noFill/>
        </p:spPr>
        <p:txBody>
          <a:bodyPr wrap="square" lIns="0" tIns="0" rIns="0" bIns="0" anchor="t">
            <a:spAutoFit/>
          </a:bodyPr>
          <a:lstStyle/>
          <a:p>
            <a:pPr algn="l">
              <a:lnSpc>
                <a:spcPct val="145000"/>
              </a:lnSpc>
            </a:pPr>
            <a:r>
              <a:rPr sz="1050" b="0" i="0">
                <a:solidFill>
                  <a:srgbClr val="C8CDD8"/>
                </a:solidFill>
                <a:latin typeface="Inter"/>
              </a:rPr>
              <a:t>Reviewed every deliverable against the research files and the API contract. Produced the blocker, warning, and note report that drove the final polish.</a:t>
            </a:r>
          </a:p>
        </p:txBody>
      </p:sp>
      <p:sp>
        <p:nvSpPr>
          <p:cNvPr id="26" name="Rectangle 25"/>
          <p:cNvSpPr/>
          <p:nvPr/>
        </p:nvSpPr>
        <p:spPr>
          <a:xfrm>
            <a:off x="548640" y="5806440"/>
            <a:ext cx="11094415" cy="68580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5806440"/>
            <a:ext cx="50800" cy="6858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5989320"/>
            <a:ext cx="10682935" cy="228600"/>
          </a:xfrm>
          <a:prstGeom prst="rect">
            <a:avLst/>
          </a:prstGeom>
          <a:noFill/>
        </p:spPr>
        <p:txBody>
          <a:bodyPr wrap="square" lIns="0" tIns="0" rIns="0" bIns="0" anchor="t">
            <a:spAutoFit/>
          </a:bodyPr>
          <a:lstStyle/>
          <a:p>
            <a:pPr algn="l">
              <a:lnSpc>
                <a:spcPct val="140000"/>
              </a:lnSpc>
            </a:pPr>
            <a:r>
              <a:rPr sz="1300" b="0" i="1">
                <a:solidFill>
                  <a:srgbClr val="F0F2F5"/>
                </a:solidFill>
                <a:latin typeface="Inter"/>
              </a:rPr>
              <a:t>One directory per agent. One instruction file per agent. That is how we kept the work coordinated and every deliverable traceable to an owner.</a:t>
            </a:r>
          </a:p>
        </p:txBody>
      </p:sp>
      <p:sp>
        <p:nvSpPr>
          <p:cNvPr id="29" name="TextBox 28"/>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30" name="TextBox 29"/>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9FE0"/>
                </a:solidFill>
                <a:latin typeface="Inter"/>
              </a:rPr>
              <a:t>PHASE 3 · DATA &amp; METHODOLOGY</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Corpus: 15 peer reviewed sources, grouped by function.</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Two meta analyses carry the intervention claims. Full source files live in the repo.</a:t>
            </a:r>
          </a:p>
        </p:txBody>
      </p:sp>
      <p:sp>
        <p:nvSpPr>
          <p:cNvPr id="6" name="Rectangle 5"/>
          <p:cNvSpPr/>
          <p:nvPr/>
        </p:nvSpPr>
        <p:spPr>
          <a:xfrm>
            <a:off x="548640" y="2468880"/>
            <a:ext cx="2697480" cy="27432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468880"/>
            <a:ext cx="50800" cy="27432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606040"/>
            <a:ext cx="2331720" cy="411480"/>
          </a:xfrm>
          <a:prstGeom prst="rect">
            <a:avLst/>
          </a:prstGeom>
          <a:noFill/>
        </p:spPr>
        <p:txBody>
          <a:bodyPr wrap="square" lIns="0" tIns="0" rIns="0" bIns="0" anchor="t">
            <a:spAutoFit/>
          </a:bodyPr>
          <a:lstStyle/>
          <a:p>
            <a:pPr algn="l">
              <a:lnSpc>
                <a:spcPct val="115000"/>
              </a:lnSpc>
            </a:pPr>
            <a:r>
              <a:rPr sz="1200" b="1" i="0" spc="100">
                <a:solidFill>
                  <a:srgbClr val="E07B7B"/>
                </a:solidFill>
                <a:latin typeface="Inter"/>
              </a:rPr>
              <a:t>DUOLINGO &amp; MOBILE APPS</a:t>
            </a:r>
          </a:p>
        </p:txBody>
      </p:sp>
      <p:sp>
        <p:nvSpPr>
          <p:cNvPr id="9" name="TextBox 8"/>
          <p:cNvSpPr txBox="1"/>
          <p:nvPr/>
        </p:nvSpPr>
        <p:spPr>
          <a:xfrm>
            <a:off x="749808" y="3017520"/>
            <a:ext cx="2331720" cy="210312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 Jiang et al. (2021). ACTFL ceiling study.</a:t>
            </a:r>
          </a:p>
          <a:p>
            <a:pPr algn="l">
              <a:lnSpc>
                <a:spcPct val="140000"/>
              </a:lnSpc>
            </a:pPr>
            <a:r>
              <a:rPr sz="1050" b="0" i="0">
                <a:solidFill>
                  <a:srgbClr val="C8CDD8"/>
                </a:solidFill>
                <a:latin typeface="Inter"/>
              </a:rPr>
              <a:t>• Mihaylova et al. (2022). Mobile app meta analysis.</a:t>
            </a:r>
          </a:p>
          <a:p>
            <a:pPr algn="l">
              <a:lnSpc>
                <a:spcPct val="140000"/>
              </a:lnSpc>
            </a:pPr>
            <a:r>
              <a:rPr sz="1050" b="0" i="0">
                <a:solidFill>
                  <a:srgbClr val="C8CDD8"/>
                </a:solidFill>
                <a:latin typeface="Inter"/>
              </a:rPr>
              <a:t>• Kristensen et al. (2024). Error repetition.</a:t>
            </a:r>
          </a:p>
          <a:p>
            <a:pPr algn="l">
              <a:lnSpc>
                <a:spcPct val="140000"/>
              </a:lnSpc>
            </a:pPr>
            <a:r>
              <a:rPr sz="1050" b="0" i="0">
                <a:solidFill>
                  <a:srgbClr val="C8CDD8"/>
                </a:solidFill>
                <a:latin typeface="Inter"/>
              </a:rPr>
              <a:t>• Bicknell (2020). Birdbrain (Duolingo's own description).</a:t>
            </a:r>
          </a:p>
        </p:txBody>
      </p:sp>
      <p:sp>
        <p:nvSpPr>
          <p:cNvPr id="10" name="Rectangle 9"/>
          <p:cNvSpPr/>
          <p:nvPr/>
        </p:nvSpPr>
        <p:spPr>
          <a:xfrm>
            <a:off x="3383280" y="2468880"/>
            <a:ext cx="2697480" cy="27432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83280" y="2468880"/>
            <a:ext cx="50800" cy="27432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84448" y="2606040"/>
            <a:ext cx="2331720" cy="411480"/>
          </a:xfrm>
          <a:prstGeom prst="rect">
            <a:avLst/>
          </a:prstGeom>
          <a:noFill/>
        </p:spPr>
        <p:txBody>
          <a:bodyPr wrap="square" lIns="0" tIns="0" rIns="0" bIns="0" anchor="t">
            <a:spAutoFit/>
          </a:bodyPr>
          <a:lstStyle/>
          <a:p>
            <a:pPr algn="l">
              <a:lnSpc>
                <a:spcPct val="115000"/>
              </a:lnSpc>
            </a:pPr>
            <a:r>
              <a:rPr sz="1200" b="1" i="0" spc="100">
                <a:solidFill>
                  <a:srgbClr val="E0C27B"/>
                </a:solidFill>
                <a:latin typeface="Inter"/>
              </a:rPr>
              <a:t>MEMORY &amp; CONTEXT</a:t>
            </a:r>
          </a:p>
        </p:txBody>
      </p:sp>
      <p:sp>
        <p:nvSpPr>
          <p:cNvPr id="13" name="TextBox 12"/>
          <p:cNvSpPr txBox="1"/>
          <p:nvPr/>
        </p:nvSpPr>
        <p:spPr>
          <a:xfrm>
            <a:off x="3584448" y="3017520"/>
            <a:ext cx="2331720" cy="210312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 Baddeley (2000). Working Memory and the Episodic Buffer.</a:t>
            </a:r>
          </a:p>
          <a:p>
            <a:pPr algn="l">
              <a:lnSpc>
                <a:spcPct val="140000"/>
              </a:lnSpc>
            </a:pPr>
            <a:r>
              <a:rPr sz="1050" b="0" i="0">
                <a:solidFill>
                  <a:srgbClr val="C8CDD8"/>
                </a:solidFill>
                <a:latin typeface="Inter"/>
              </a:rPr>
              <a:t>• Essoe et al. (2022). Context reinstatement.</a:t>
            </a:r>
          </a:p>
          <a:p>
            <a:pPr algn="l">
              <a:lnSpc>
                <a:spcPct val="140000"/>
              </a:lnSpc>
            </a:pPr>
            <a:r>
              <a:rPr sz="1050" b="0" i="0">
                <a:solidFill>
                  <a:srgbClr val="C8CDD8"/>
                </a:solidFill>
                <a:latin typeface="Inter"/>
              </a:rPr>
              <a:t>• Godwin-Jones (2018). Isolated drill problem.</a:t>
            </a:r>
          </a:p>
          <a:p>
            <a:pPr algn="l">
              <a:lnSpc>
                <a:spcPct val="140000"/>
              </a:lnSpc>
            </a:pPr>
            <a:r>
              <a:rPr sz="1050" b="0" i="0">
                <a:solidFill>
                  <a:srgbClr val="C8CDD8"/>
                </a:solidFill>
                <a:latin typeface="Inter"/>
              </a:rPr>
              <a:t>• Kornell (2008). Why learners can't tell what's working.</a:t>
            </a:r>
          </a:p>
        </p:txBody>
      </p:sp>
      <p:sp>
        <p:nvSpPr>
          <p:cNvPr id="14" name="Rectangle 13"/>
          <p:cNvSpPr/>
          <p:nvPr/>
        </p:nvSpPr>
        <p:spPr>
          <a:xfrm>
            <a:off x="6217920" y="2468880"/>
            <a:ext cx="2697480" cy="27432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2468880"/>
            <a:ext cx="50800" cy="274320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19088" y="2606040"/>
            <a:ext cx="2331720" cy="411480"/>
          </a:xfrm>
          <a:prstGeom prst="rect">
            <a:avLst/>
          </a:prstGeom>
          <a:noFill/>
        </p:spPr>
        <p:txBody>
          <a:bodyPr wrap="square" lIns="0" tIns="0" rIns="0" bIns="0" anchor="t">
            <a:spAutoFit/>
          </a:bodyPr>
          <a:lstStyle/>
          <a:p>
            <a:pPr algn="l">
              <a:lnSpc>
                <a:spcPct val="115000"/>
              </a:lnSpc>
            </a:pPr>
            <a:r>
              <a:rPr sz="1200" b="1" i="0" spc="100">
                <a:solidFill>
                  <a:srgbClr val="7BE0B4"/>
                </a:solidFill>
                <a:latin typeface="Inter"/>
              </a:rPr>
              <a:t>INTERVENTION EVIDENCE</a:t>
            </a:r>
          </a:p>
        </p:txBody>
      </p:sp>
      <p:sp>
        <p:nvSpPr>
          <p:cNvPr id="17" name="TextBox 16"/>
          <p:cNvSpPr txBox="1"/>
          <p:nvPr/>
        </p:nvSpPr>
        <p:spPr>
          <a:xfrm>
            <a:off x="6419088" y="3017520"/>
            <a:ext cx="2331720" cy="210312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 Bibauw et al. (2022). Dialogue practice (d = 0.58).</a:t>
            </a:r>
          </a:p>
          <a:p>
            <a:pPr algn="l">
              <a:lnSpc>
                <a:spcPct val="140000"/>
              </a:lnSpc>
            </a:pPr>
            <a:r>
              <a:rPr sz="1050" b="0" i="0">
                <a:solidFill>
                  <a:srgbClr val="C8CDD8"/>
                </a:solidFill>
                <a:latin typeface="Inter"/>
              </a:rPr>
              <a:t>• Mayer (2021). Conversational style (d = 1.3).</a:t>
            </a:r>
          </a:p>
          <a:p>
            <a:pPr algn="l">
              <a:lnSpc>
                <a:spcPct val="140000"/>
              </a:lnSpc>
            </a:pPr>
            <a:r>
              <a:rPr sz="1050" b="0" i="0">
                <a:solidFill>
                  <a:srgbClr val="C8CDD8"/>
                </a:solidFill>
                <a:latin typeface="Inter"/>
              </a:rPr>
              <a:t>• Geeslin and Long (2014). Regional language variation.</a:t>
            </a:r>
          </a:p>
          <a:p>
            <a:pPr algn="l">
              <a:lnSpc>
                <a:spcPct val="140000"/>
              </a:lnSpc>
            </a:pPr>
            <a:r>
              <a:rPr sz="1050" b="0" i="0">
                <a:solidFill>
                  <a:srgbClr val="C8CDD8"/>
                </a:solidFill>
                <a:latin typeface="Inter"/>
              </a:rPr>
              <a:t>• Wang (2024). GenAI chatbot (affect only).</a:t>
            </a:r>
          </a:p>
        </p:txBody>
      </p:sp>
      <p:sp>
        <p:nvSpPr>
          <p:cNvPr id="18" name="Rectangle 17"/>
          <p:cNvSpPr/>
          <p:nvPr/>
        </p:nvSpPr>
        <p:spPr>
          <a:xfrm>
            <a:off x="9052560" y="2468880"/>
            <a:ext cx="2697480" cy="27432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52560" y="2468880"/>
            <a:ext cx="50800" cy="27432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53728" y="2606040"/>
            <a:ext cx="2331720" cy="411480"/>
          </a:xfrm>
          <a:prstGeom prst="rect">
            <a:avLst/>
          </a:prstGeom>
          <a:noFill/>
        </p:spPr>
        <p:txBody>
          <a:bodyPr wrap="square" lIns="0" tIns="0" rIns="0" bIns="0" anchor="t">
            <a:spAutoFit/>
          </a:bodyPr>
          <a:lstStyle/>
          <a:p>
            <a:pPr algn="l">
              <a:lnSpc>
                <a:spcPct val="115000"/>
              </a:lnSpc>
            </a:pPr>
            <a:r>
              <a:rPr sz="1200" b="1" i="0" spc="100">
                <a:solidFill>
                  <a:srgbClr val="7B9FE0"/>
                </a:solidFill>
                <a:latin typeface="Inter"/>
              </a:rPr>
              <a:t>SUPERVISION &amp; TRANSPARENCY</a:t>
            </a:r>
          </a:p>
        </p:txBody>
      </p:sp>
      <p:sp>
        <p:nvSpPr>
          <p:cNvPr id="21" name="TextBox 20"/>
          <p:cNvSpPr txBox="1"/>
          <p:nvPr/>
        </p:nvSpPr>
        <p:spPr>
          <a:xfrm>
            <a:off x="9253728" y="3017520"/>
            <a:ext cx="2331720" cy="210312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 Cannon-Bowers et al. (1998). TADMUS framework.</a:t>
            </a:r>
          </a:p>
          <a:p>
            <a:pPr algn="l">
              <a:lnSpc>
                <a:spcPct val="140000"/>
              </a:lnSpc>
            </a:pPr>
            <a:r>
              <a:rPr sz="1050" b="0" i="0">
                <a:solidFill>
                  <a:srgbClr val="C8CDD8"/>
                </a:solidFill>
                <a:latin typeface="Inter"/>
              </a:rPr>
              <a:t>• Loft et al. (2021). Transparency as a system variable (course source).</a:t>
            </a:r>
          </a:p>
        </p:txBody>
      </p:sp>
      <p:sp>
        <p:nvSpPr>
          <p:cNvPr id="22" name="Rectangle 21"/>
          <p:cNvSpPr/>
          <p:nvPr/>
        </p:nvSpPr>
        <p:spPr>
          <a:xfrm>
            <a:off x="548640" y="5440680"/>
            <a:ext cx="11094415" cy="96012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5440680"/>
            <a:ext cx="50800" cy="96012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550408"/>
            <a:ext cx="10682935" cy="274320"/>
          </a:xfrm>
          <a:prstGeom prst="rect">
            <a:avLst/>
          </a:prstGeom>
          <a:noFill/>
        </p:spPr>
        <p:txBody>
          <a:bodyPr wrap="square" lIns="0" tIns="0" rIns="0" bIns="0" anchor="t">
            <a:spAutoFit/>
          </a:bodyPr>
          <a:lstStyle/>
          <a:p>
            <a:pPr algn="l">
              <a:lnSpc>
                <a:spcPct val="125000"/>
              </a:lnSpc>
            </a:pPr>
            <a:r>
              <a:rPr sz="1000" b="1" i="0" spc="120">
                <a:solidFill>
                  <a:srgbClr val="7BE0B4"/>
                </a:solidFill>
                <a:latin typeface="Inter"/>
              </a:rPr>
              <a:t>HOW TO READ EFFECT SIZES (D)</a:t>
            </a:r>
          </a:p>
        </p:txBody>
      </p:sp>
      <p:sp>
        <p:nvSpPr>
          <p:cNvPr id="25" name="TextBox 24"/>
          <p:cNvSpPr txBox="1"/>
          <p:nvPr/>
        </p:nvSpPr>
        <p:spPr>
          <a:xfrm>
            <a:off x="822960" y="5824728"/>
            <a:ext cx="10682935" cy="484632"/>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A standard way to measure how big a gap is between two groups. d = 0.2 is small, d = 0.5 is medium, d = 0.8 is large. Anything above 1.0 is very large for education research. You will see d = 0.58 and d = 1.3 later in this report.</a:t>
            </a:r>
          </a:p>
        </p:txBody>
      </p:sp>
      <p:sp>
        <p:nvSpPr>
          <p:cNvPr id="26" name="TextBox 25"/>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7" name="TextBox 26"/>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9FE0"/>
                </a:solidFill>
                <a:latin typeface="Inter"/>
              </a:rPr>
              <a:t>PHASE 3 · DATA &amp; METHODOLOGY</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Proposed experiment: what a real test would manipulate and measure.</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A 24 week randomized controlled trial. Retention is a co-primary outcome, not a follow up.</a:t>
            </a:r>
          </a:p>
        </p:txBody>
      </p:sp>
      <p:sp>
        <p:nvSpPr>
          <p:cNvPr id="6" name="Rectangle 5"/>
          <p:cNvSpPr/>
          <p:nvPr/>
        </p:nvSpPr>
        <p:spPr>
          <a:xfrm>
            <a:off x="548640" y="2103120"/>
            <a:ext cx="11094415" cy="5029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103120"/>
            <a:ext cx="50800" cy="50292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167127"/>
            <a:ext cx="3931920" cy="384048"/>
          </a:xfrm>
          <a:prstGeom prst="rect">
            <a:avLst/>
          </a:prstGeom>
          <a:noFill/>
        </p:spPr>
        <p:txBody>
          <a:bodyPr wrap="square" lIns="0" tIns="0" rIns="0" bIns="0" anchor="t">
            <a:spAutoFit/>
          </a:bodyPr>
          <a:lstStyle/>
          <a:p>
            <a:pPr algn="l">
              <a:lnSpc>
                <a:spcPct val="125000"/>
              </a:lnSpc>
            </a:pPr>
            <a:r>
              <a:rPr sz="1000" b="1" i="0" spc="100">
                <a:solidFill>
                  <a:srgbClr val="E07BAA"/>
                </a:solidFill>
                <a:latin typeface="Inter"/>
              </a:rPr>
              <a:t>MAIN EFFECT 1 · AGENT TYPE</a:t>
            </a:r>
          </a:p>
        </p:txBody>
      </p:sp>
      <p:sp>
        <p:nvSpPr>
          <p:cNvPr id="9" name="TextBox 8"/>
          <p:cNvSpPr txBox="1"/>
          <p:nvPr/>
        </p:nvSpPr>
        <p:spPr>
          <a:xfrm>
            <a:off x="4937760" y="2167127"/>
            <a:ext cx="6766560" cy="384048"/>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Four levels: dialect specific (Carlos or Elena), generic chatbot, embodied avatar (per Wang 2024), Duolingo only control.</a:t>
            </a:r>
          </a:p>
        </p:txBody>
      </p:sp>
      <p:sp>
        <p:nvSpPr>
          <p:cNvPr id="10" name="Rectangle 9"/>
          <p:cNvSpPr/>
          <p:nvPr/>
        </p:nvSpPr>
        <p:spPr>
          <a:xfrm>
            <a:off x="548640" y="2670048"/>
            <a:ext cx="11094415" cy="5029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2670048"/>
            <a:ext cx="50800" cy="50292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734056"/>
            <a:ext cx="3931920" cy="384048"/>
          </a:xfrm>
          <a:prstGeom prst="rect">
            <a:avLst/>
          </a:prstGeom>
          <a:noFill/>
        </p:spPr>
        <p:txBody>
          <a:bodyPr wrap="square" lIns="0" tIns="0" rIns="0" bIns="0" anchor="t">
            <a:spAutoFit/>
          </a:bodyPr>
          <a:lstStyle/>
          <a:p>
            <a:pPr algn="l">
              <a:lnSpc>
                <a:spcPct val="125000"/>
              </a:lnSpc>
            </a:pPr>
            <a:r>
              <a:rPr sz="1000" b="1" i="0" spc="100">
                <a:solidFill>
                  <a:srgbClr val="7BE0B4"/>
                </a:solidFill>
                <a:latin typeface="Inter"/>
              </a:rPr>
              <a:t>MAIN EFFECT 2 · TIME</a:t>
            </a:r>
          </a:p>
        </p:txBody>
      </p:sp>
      <p:sp>
        <p:nvSpPr>
          <p:cNvPr id="13" name="TextBox 12"/>
          <p:cNvSpPr txBox="1"/>
          <p:nvPr/>
        </p:nvSpPr>
        <p:spPr>
          <a:xfrm>
            <a:off x="4937760" y="2734056"/>
            <a:ext cx="6766560" cy="384048"/>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Four measurement points: week 0 (baseline), week 12 (post), week 24 (durable), and a 6 month follow up.</a:t>
            </a:r>
          </a:p>
        </p:txBody>
      </p:sp>
      <p:sp>
        <p:nvSpPr>
          <p:cNvPr id="14" name="Rectangle 13"/>
          <p:cNvSpPr/>
          <p:nvPr/>
        </p:nvSpPr>
        <p:spPr>
          <a:xfrm>
            <a:off x="548640" y="3236976"/>
            <a:ext cx="11094415" cy="5029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236976"/>
            <a:ext cx="50800" cy="50292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300984"/>
            <a:ext cx="3931920" cy="384048"/>
          </a:xfrm>
          <a:prstGeom prst="rect">
            <a:avLst/>
          </a:prstGeom>
          <a:noFill/>
        </p:spPr>
        <p:txBody>
          <a:bodyPr wrap="square" lIns="0" tIns="0" rIns="0" bIns="0" anchor="t">
            <a:spAutoFit/>
          </a:bodyPr>
          <a:lstStyle/>
          <a:p>
            <a:pPr algn="l">
              <a:lnSpc>
                <a:spcPct val="125000"/>
              </a:lnSpc>
            </a:pPr>
            <a:r>
              <a:rPr sz="1000" b="1" i="0" spc="100">
                <a:solidFill>
                  <a:srgbClr val="E0C27B"/>
                </a:solidFill>
                <a:latin typeface="Inter"/>
              </a:rPr>
              <a:t>INTERACTION · AGENT TYPE × DIALECT MATCH</a:t>
            </a:r>
          </a:p>
        </p:txBody>
      </p:sp>
      <p:sp>
        <p:nvSpPr>
          <p:cNvPr id="17" name="TextBox 16"/>
          <p:cNvSpPr txBox="1"/>
          <p:nvPr/>
        </p:nvSpPr>
        <p:spPr>
          <a:xfrm>
            <a:off x="4937760" y="3300984"/>
            <a:ext cx="6766560" cy="384048"/>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Does a Mexican Spanish learner gain more from Carlos than from Elena? Does any dialect agent beat a generic one?</a:t>
            </a:r>
          </a:p>
        </p:txBody>
      </p:sp>
      <p:sp>
        <p:nvSpPr>
          <p:cNvPr id="18" name="Rectangle 17"/>
          <p:cNvSpPr/>
          <p:nvPr/>
        </p:nvSpPr>
        <p:spPr>
          <a:xfrm>
            <a:off x="548640" y="3803904"/>
            <a:ext cx="11094415" cy="5029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3803904"/>
            <a:ext cx="50800" cy="50292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3867912"/>
            <a:ext cx="3931920" cy="384048"/>
          </a:xfrm>
          <a:prstGeom prst="rect">
            <a:avLst/>
          </a:prstGeom>
          <a:noFill/>
        </p:spPr>
        <p:txBody>
          <a:bodyPr wrap="square" lIns="0" tIns="0" rIns="0" bIns="0" anchor="t">
            <a:spAutoFit/>
          </a:bodyPr>
          <a:lstStyle/>
          <a:p>
            <a:pPr algn="l">
              <a:lnSpc>
                <a:spcPct val="125000"/>
              </a:lnSpc>
            </a:pPr>
            <a:r>
              <a:rPr sz="1000" b="1" i="0" spc="100">
                <a:solidFill>
                  <a:srgbClr val="7B9FE0"/>
                </a:solidFill>
                <a:latin typeface="Inter"/>
              </a:rPr>
              <a:t>INTERACTION · AGENT TYPE × TIME (RETENTION)</a:t>
            </a:r>
          </a:p>
        </p:txBody>
      </p:sp>
      <p:sp>
        <p:nvSpPr>
          <p:cNvPr id="21" name="TextBox 20"/>
          <p:cNvSpPr txBox="1"/>
          <p:nvPr/>
        </p:nvSpPr>
        <p:spPr>
          <a:xfrm>
            <a:off x="4937760" y="3867912"/>
            <a:ext cx="6766560" cy="384048"/>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Do gains from the dialect agent decay more slowly than gains from the generic agent or the control? This is the transfer test.</a:t>
            </a:r>
          </a:p>
        </p:txBody>
      </p:sp>
      <p:sp>
        <p:nvSpPr>
          <p:cNvPr id="22" name="Rectangle 21"/>
          <p:cNvSpPr/>
          <p:nvPr/>
        </p:nvSpPr>
        <p:spPr>
          <a:xfrm>
            <a:off x="548640" y="4370832"/>
            <a:ext cx="11094415" cy="5029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4370832"/>
            <a:ext cx="50800" cy="502920"/>
          </a:xfrm>
          <a:prstGeom prst="rect">
            <a:avLst/>
          </a:prstGeom>
          <a:solidFill>
            <a:srgbClr val="C8C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4434840"/>
            <a:ext cx="3931920" cy="384048"/>
          </a:xfrm>
          <a:prstGeom prst="rect">
            <a:avLst/>
          </a:prstGeom>
          <a:noFill/>
        </p:spPr>
        <p:txBody>
          <a:bodyPr wrap="square" lIns="0" tIns="0" rIns="0" bIns="0" anchor="t">
            <a:spAutoFit/>
          </a:bodyPr>
          <a:lstStyle/>
          <a:p>
            <a:pPr algn="l">
              <a:lnSpc>
                <a:spcPct val="125000"/>
              </a:lnSpc>
            </a:pPr>
            <a:r>
              <a:rPr sz="1000" b="1" i="0" spc="100">
                <a:solidFill>
                  <a:srgbClr val="C8CDD8"/>
                </a:solidFill>
                <a:latin typeface="Inter"/>
              </a:rPr>
              <a:t>WHAT WE WOULD MEASURE</a:t>
            </a:r>
          </a:p>
        </p:txBody>
      </p:sp>
      <p:sp>
        <p:nvSpPr>
          <p:cNvPr id="25" name="TextBox 24"/>
          <p:cNvSpPr txBox="1"/>
          <p:nvPr/>
        </p:nvSpPr>
        <p:spPr>
          <a:xfrm>
            <a:off x="4937760" y="4434840"/>
            <a:ext cx="6766560" cy="384048"/>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ACTFL Oral Proficiency Interview, scored by a blinded rater. The standard live speaking test universities use.</a:t>
            </a:r>
          </a:p>
        </p:txBody>
      </p:sp>
      <p:sp>
        <p:nvSpPr>
          <p:cNvPr id="26" name="Rectangle 25"/>
          <p:cNvSpPr/>
          <p:nvPr/>
        </p:nvSpPr>
        <p:spPr>
          <a:xfrm>
            <a:off x="548640" y="4937760"/>
            <a:ext cx="11094415" cy="5029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4937760"/>
            <a:ext cx="50800" cy="50292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5001768"/>
            <a:ext cx="3931920" cy="384048"/>
          </a:xfrm>
          <a:prstGeom prst="rect">
            <a:avLst/>
          </a:prstGeom>
          <a:noFill/>
        </p:spPr>
        <p:txBody>
          <a:bodyPr wrap="square" lIns="0" tIns="0" rIns="0" bIns="0" anchor="t">
            <a:spAutoFit/>
          </a:bodyPr>
          <a:lstStyle/>
          <a:p>
            <a:pPr algn="l">
              <a:lnSpc>
                <a:spcPct val="125000"/>
              </a:lnSpc>
            </a:pPr>
            <a:r>
              <a:rPr sz="1000" b="1" i="0" spc="100">
                <a:solidFill>
                  <a:srgbClr val="E07B7B"/>
                </a:solidFill>
                <a:latin typeface="Inter"/>
              </a:rPr>
              <a:t>WHAT WE'D CONTROL FOR</a:t>
            </a:r>
          </a:p>
        </p:txBody>
      </p:sp>
      <p:sp>
        <p:nvSpPr>
          <p:cNvPr id="29" name="TextBox 28"/>
          <p:cNvSpPr txBox="1"/>
          <p:nvPr/>
        </p:nvSpPr>
        <p:spPr>
          <a:xfrm>
            <a:off x="4937760" y="5001768"/>
            <a:ext cx="6766560" cy="384048"/>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Prior proficiency. Baseline streak length. Daily engagement time. Age. First language. Prior motivation. Intended use context.</a:t>
            </a:r>
          </a:p>
        </p:txBody>
      </p:sp>
      <p:sp>
        <p:nvSpPr>
          <p:cNvPr id="30" name="Rectangle 29"/>
          <p:cNvSpPr/>
          <p:nvPr/>
        </p:nvSpPr>
        <p:spPr>
          <a:xfrm>
            <a:off x="548640" y="5504688"/>
            <a:ext cx="11094415" cy="5029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48640" y="5504688"/>
            <a:ext cx="50800" cy="502920"/>
          </a:xfrm>
          <a:prstGeom prst="rect">
            <a:avLst/>
          </a:prstGeom>
          <a:solidFill>
            <a:srgbClr val="7A8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2960" y="5568696"/>
            <a:ext cx="3931920" cy="384048"/>
          </a:xfrm>
          <a:prstGeom prst="rect">
            <a:avLst/>
          </a:prstGeom>
          <a:noFill/>
        </p:spPr>
        <p:txBody>
          <a:bodyPr wrap="square" lIns="0" tIns="0" rIns="0" bIns="0" anchor="t">
            <a:spAutoFit/>
          </a:bodyPr>
          <a:lstStyle/>
          <a:p>
            <a:pPr algn="l">
              <a:lnSpc>
                <a:spcPct val="125000"/>
              </a:lnSpc>
            </a:pPr>
            <a:r>
              <a:rPr sz="1000" b="1" i="0" spc="100">
                <a:solidFill>
                  <a:srgbClr val="7A8290"/>
                </a:solidFill>
                <a:latin typeface="Inter"/>
              </a:rPr>
              <a:t>POST HOC ANALYSES</a:t>
            </a:r>
          </a:p>
        </p:txBody>
      </p:sp>
      <p:sp>
        <p:nvSpPr>
          <p:cNvPr id="33" name="TextBox 32"/>
          <p:cNvSpPr txBox="1"/>
          <p:nvPr/>
        </p:nvSpPr>
        <p:spPr>
          <a:xfrm>
            <a:off x="4937760" y="5568696"/>
            <a:ext cx="6766560" cy="384048"/>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Sub scales of speaking (pragmatics, register, repair). Self reported confidence. App engagement during the trial.</a:t>
            </a:r>
          </a:p>
        </p:txBody>
      </p:sp>
      <p:sp>
        <p:nvSpPr>
          <p:cNvPr id="34" name="TextBox 33"/>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35" name="TextBox 34"/>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9FE0"/>
                </a:solidFill>
                <a:latin typeface="Inter"/>
              </a:rPr>
              <a:t>PHASE 3 · DATA &amp; METHODOLOGY</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Threats to validity, and how we would address each one.</a:t>
            </a:r>
          </a:p>
        </p:txBody>
      </p:sp>
      <p:sp>
        <p:nvSpPr>
          <p:cNvPr id="5" name="Rectangle 4"/>
          <p:cNvSpPr/>
          <p:nvPr/>
        </p:nvSpPr>
        <p:spPr>
          <a:xfrm>
            <a:off x="548640" y="2194560"/>
            <a:ext cx="11094415" cy="6400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194560"/>
            <a:ext cx="50800" cy="64008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286000"/>
            <a:ext cx="3657600" cy="457200"/>
          </a:xfrm>
          <a:prstGeom prst="rect">
            <a:avLst/>
          </a:prstGeom>
          <a:noFill/>
        </p:spPr>
        <p:txBody>
          <a:bodyPr wrap="square" lIns="0" tIns="0" rIns="0" bIns="0" anchor="t">
            <a:spAutoFit/>
          </a:bodyPr>
          <a:lstStyle/>
          <a:p>
            <a:pPr algn="l">
              <a:lnSpc>
                <a:spcPct val="125000"/>
              </a:lnSpc>
            </a:pPr>
            <a:r>
              <a:rPr sz="1050" b="1" i="0" spc="100">
                <a:solidFill>
                  <a:srgbClr val="E07B7B"/>
                </a:solidFill>
                <a:latin typeface="Inter"/>
              </a:rPr>
              <a:t>NO PRIMARY DATA</a:t>
            </a:r>
          </a:p>
        </p:txBody>
      </p:sp>
      <p:sp>
        <p:nvSpPr>
          <p:cNvPr id="8" name="TextBox 7"/>
          <p:cNvSpPr txBox="1"/>
          <p:nvPr/>
        </p:nvSpPr>
        <p:spPr>
          <a:xfrm>
            <a:off x="4663440" y="2286000"/>
            <a:ext cx="7040880" cy="457200"/>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Two week build window. Addressed by relying on two meta analyses (Bibauw, Mayer) and a proposed future experiment.</a:t>
            </a:r>
          </a:p>
        </p:txBody>
      </p:sp>
      <p:sp>
        <p:nvSpPr>
          <p:cNvPr id="9" name="Rectangle 8"/>
          <p:cNvSpPr/>
          <p:nvPr/>
        </p:nvSpPr>
        <p:spPr>
          <a:xfrm>
            <a:off x="548640" y="2926080"/>
            <a:ext cx="11094415" cy="6400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2926080"/>
            <a:ext cx="50800" cy="64008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3017520"/>
            <a:ext cx="3657600" cy="457200"/>
          </a:xfrm>
          <a:prstGeom prst="rect">
            <a:avLst/>
          </a:prstGeom>
          <a:noFill/>
        </p:spPr>
        <p:txBody>
          <a:bodyPr wrap="square" lIns="0" tIns="0" rIns="0" bIns="0" anchor="t">
            <a:spAutoFit/>
          </a:bodyPr>
          <a:lstStyle/>
          <a:p>
            <a:pPr algn="l">
              <a:lnSpc>
                <a:spcPct val="125000"/>
              </a:lnSpc>
            </a:pPr>
            <a:r>
              <a:rPr sz="1050" b="1" i="0" spc="100">
                <a:solidFill>
                  <a:srgbClr val="E07B7B"/>
                </a:solidFill>
                <a:latin typeface="Inter"/>
              </a:rPr>
              <a:t>NO A/B OF THE PROTOTYPE</a:t>
            </a:r>
          </a:p>
        </p:txBody>
      </p:sp>
      <p:sp>
        <p:nvSpPr>
          <p:cNvPr id="12" name="TextBox 11"/>
          <p:cNvSpPr txBox="1"/>
          <p:nvPr/>
        </p:nvSpPr>
        <p:spPr>
          <a:xfrm>
            <a:off x="4663440" y="3017520"/>
            <a:ext cx="7040880" cy="457200"/>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A proof of concept only. Addressed by the proposed 24 week study with random assignment.</a:t>
            </a:r>
          </a:p>
        </p:txBody>
      </p:sp>
      <p:sp>
        <p:nvSpPr>
          <p:cNvPr id="13" name="Rectangle 12"/>
          <p:cNvSpPr/>
          <p:nvPr/>
        </p:nvSpPr>
        <p:spPr>
          <a:xfrm>
            <a:off x="548640" y="3657600"/>
            <a:ext cx="11094415" cy="6400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657600"/>
            <a:ext cx="50800" cy="6400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749040"/>
            <a:ext cx="3657600" cy="457200"/>
          </a:xfrm>
          <a:prstGeom prst="rect">
            <a:avLst/>
          </a:prstGeom>
          <a:noFill/>
        </p:spPr>
        <p:txBody>
          <a:bodyPr wrap="square" lIns="0" tIns="0" rIns="0" bIns="0" anchor="t">
            <a:spAutoFit/>
          </a:bodyPr>
          <a:lstStyle/>
          <a:p>
            <a:pPr algn="l">
              <a:lnSpc>
                <a:spcPct val="125000"/>
              </a:lnSpc>
            </a:pPr>
            <a:r>
              <a:rPr sz="1050" b="1" i="0" spc="100">
                <a:solidFill>
                  <a:srgbClr val="E0C27B"/>
                </a:solidFill>
                <a:latin typeface="Inter"/>
              </a:rPr>
              <a:t>SELF SELECTION ON DIALECT</a:t>
            </a:r>
          </a:p>
        </p:txBody>
      </p:sp>
      <p:sp>
        <p:nvSpPr>
          <p:cNvPr id="16" name="TextBox 15"/>
          <p:cNvSpPr txBox="1"/>
          <p:nvPr/>
        </p:nvSpPr>
        <p:spPr>
          <a:xfrm>
            <a:off x="4663440" y="3749040"/>
            <a:ext cx="7040880" cy="457200"/>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Dialect is a product input: learners pick based on where they're going or who they talk to. To isolate the dialect effect, the future RCT randomly assigns dialect and stratifies by self reported intended use context.</a:t>
            </a:r>
          </a:p>
        </p:txBody>
      </p:sp>
      <p:sp>
        <p:nvSpPr>
          <p:cNvPr id="17" name="Rectangle 16"/>
          <p:cNvSpPr/>
          <p:nvPr/>
        </p:nvSpPr>
        <p:spPr>
          <a:xfrm>
            <a:off x="548640" y="4389120"/>
            <a:ext cx="11094415" cy="6400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4389120"/>
            <a:ext cx="50800" cy="6400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480560"/>
            <a:ext cx="3657600" cy="457200"/>
          </a:xfrm>
          <a:prstGeom prst="rect">
            <a:avLst/>
          </a:prstGeom>
          <a:noFill/>
        </p:spPr>
        <p:txBody>
          <a:bodyPr wrap="square" lIns="0" tIns="0" rIns="0" bIns="0" anchor="t">
            <a:spAutoFit/>
          </a:bodyPr>
          <a:lstStyle/>
          <a:p>
            <a:pPr algn="l">
              <a:lnSpc>
                <a:spcPct val="125000"/>
              </a:lnSpc>
            </a:pPr>
            <a:r>
              <a:rPr sz="1050" b="1" i="0" spc="100">
                <a:solidFill>
                  <a:srgbClr val="E0C27B"/>
                </a:solidFill>
                <a:latin typeface="Inter"/>
              </a:rPr>
              <a:t>WHY 24 WEEKS, NOT WANG'S 12</a:t>
            </a:r>
          </a:p>
        </p:txBody>
      </p:sp>
      <p:sp>
        <p:nvSpPr>
          <p:cNvPr id="20" name="TextBox 19"/>
          <p:cNvSpPr txBox="1"/>
          <p:nvPr/>
        </p:nvSpPr>
        <p:spPr>
          <a:xfrm>
            <a:off x="4663440" y="4480560"/>
            <a:ext cx="7040880" cy="457200"/>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Wang (2024) ran 12 weeks and found no speaking gain. We extend the window to 24 weeks plus a 6 month follow up so retention has room to show up in the data.</a:t>
            </a:r>
          </a:p>
        </p:txBody>
      </p:sp>
      <p:sp>
        <p:nvSpPr>
          <p:cNvPr id="21" name="Rectangle 20"/>
          <p:cNvSpPr/>
          <p:nvPr/>
        </p:nvSpPr>
        <p:spPr>
          <a:xfrm>
            <a:off x="548640" y="5120640"/>
            <a:ext cx="11094415" cy="6400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 y="5120640"/>
            <a:ext cx="50800" cy="6400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5212080"/>
            <a:ext cx="3657600" cy="457200"/>
          </a:xfrm>
          <a:prstGeom prst="rect">
            <a:avLst/>
          </a:prstGeom>
          <a:noFill/>
        </p:spPr>
        <p:txBody>
          <a:bodyPr wrap="square" lIns="0" tIns="0" rIns="0" bIns="0" anchor="t">
            <a:spAutoFit/>
          </a:bodyPr>
          <a:lstStyle/>
          <a:p>
            <a:pPr algn="l">
              <a:lnSpc>
                <a:spcPct val="125000"/>
              </a:lnSpc>
            </a:pPr>
            <a:r>
              <a:rPr sz="1050" b="1" i="0" spc="100">
                <a:solidFill>
                  <a:srgbClr val="E0C27B"/>
                </a:solidFill>
                <a:latin typeface="Inter"/>
              </a:rPr>
              <a:t>KRISTENSEN (2024) GENERALIZABILITY</a:t>
            </a:r>
          </a:p>
        </p:txBody>
      </p:sp>
      <p:sp>
        <p:nvSpPr>
          <p:cNvPr id="24" name="TextBox 23"/>
          <p:cNvSpPr txBox="1"/>
          <p:nvPr/>
        </p:nvSpPr>
        <p:spPr>
          <a:xfrm>
            <a:off x="4663440" y="5212080"/>
            <a:ext cx="7040880" cy="457200"/>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That study sampled Norwegian second graders. We use it only for the mechanism it shows, with the caveat stated.</a:t>
            </a:r>
          </a:p>
        </p:txBody>
      </p:sp>
      <p:sp>
        <p:nvSpPr>
          <p:cNvPr id="25" name="Rectangle 24"/>
          <p:cNvSpPr/>
          <p:nvPr/>
        </p:nvSpPr>
        <p:spPr>
          <a:xfrm>
            <a:off x="548640" y="5852160"/>
            <a:ext cx="11094415" cy="6400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48640" y="5852160"/>
            <a:ext cx="50800" cy="64008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943600"/>
            <a:ext cx="3657600" cy="457200"/>
          </a:xfrm>
          <a:prstGeom prst="rect">
            <a:avLst/>
          </a:prstGeom>
          <a:noFill/>
        </p:spPr>
        <p:txBody>
          <a:bodyPr wrap="square" lIns="0" tIns="0" rIns="0" bIns="0" anchor="t">
            <a:spAutoFit/>
          </a:bodyPr>
          <a:lstStyle/>
          <a:p>
            <a:pPr algn="l">
              <a:lnSpc>
                <a:spcPct val="125000"/>
              </a:lnSpc>
            </a:pPr>
            <a:r>
              <a:rPr sz="1050" b="1" i="0" spc="100">
                <a:solidFill>
                  <a:srgbClr val="7B9FE0"/>
                </a:solidFill>
                <a:latin typeface="Inter"/>
              </a:rPr>
              <a:t>SHORT TERM BIAS IN THE APP LITERATURE</a:t>
            </a:r>
          </a:p>
        </p:txBody>
      </p:sp>
      <p:sp>
        <p:nvSpPr>
          <p:cNvPr id="28" name="TextBox 27"/>
          <p:cNvSpPr txBox="1"/>
          <p:nvPr/>
        </p:nvSpPr>
        <p:spPr>
          <a:xfrm>
            <a:off x="4663440" y="5943600"/>
            <a:ext cx="7040880" cy="457200"/>
          </a:xfrm>
          <a:prstGeom prst="rect">
            <a:avLst/>
          </a:prstGeom>
          <a:noFill/>
        </p:spPr>
        <p:txBody>
          <a:bodyPr wrap="square" lIns="0" tIns="0" rIns="0" bIns="0" anchor="t">
            <a:spAutoFit/>
          </a:bodyPr>
          <a:lstStyle/>
          <a:p>
            <a:pPr algn="l">
              <a:lnSpc>
                <a:spcPct val="130000"/>
              </a:lnSpc>
            </a:pPr>
            <a:r>
              <a:rPr sz="1050" b="0" i="0">
                <a:solidFill>
                  <a:srgbClr val="C8CDD8"/>
                </a:solidFill>
                <a:latin typeface="Inter"/>
              </a:rPr>
              <a:t>Mihaylova (2022) reports 78% of mobile app studies had high risk of bias and only 22% used randomization. We lean on meta analytic effects, not single study claims.</a:t>
            </a:r>
          </a:p>
        </p:txBody>
      </p:sp>
      <p:sp>
        <p:nvSpPr>
          <p:cNvPr id="29" name="TextBox 28"/>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30" name="TextBox 29"/>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AA"/>
                </a:solidFill>
                <a:latin typeface="Inter"/>
              </a:rPr>
              <a:t>PHASE 4 · HF ANALYSIS &amp; FINDINGS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Reason's Swiss Cheese Model. We walk it backward, not downward.</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HFACS is the method used to investigate aviation and industrial incidents. Same method, new domain.</a:t>
            </a:r>
          </a:p>
        </p:txBody>
      </p:sp>
      <p:sp>
        <p:nvSpPr>
          <p:cNvPr id="6" name="Rounded Rectangle 5"/>
          <p:cNvSpPr/>
          <p:nvPr/>
        </p:nvSpPr>
        <p:spPr>
          <a:xfrm>
            <a:off x="548640" y="2651760"/>
            <a:ext cx="5486400" cy="640080"/>
          </a:xfrm>
          <a:prstGeom prst="roundRect">
            <a:avLst>
              <a:gd name="adj" fmla="val 7000"/>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754880" y="2770632"/>
            <a:ext cx="411480" cy="402336"/>
          </a:xfrm>
          <a:prstGeom prst="roundRect">
            <a:avLst>
              <a:gd name="adj" fmla="val 7000"/>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761488"/>
            <a:ext cx="3840480" cy="274320"/>
          </a:xfrm>
          <a:prstGeom prst="rect">
            <a:avLst/>
          </a:prstGeom>
          <a:noFill/>
        </p:spPr>
        <p:txBody>
          <a:bodyPr wrap="square" lIns="0" tIns="0" rIns="0" bIns="0" anchor="t">
            <a:spAutoFit/>
          </a:bodyPr>
          <a:lstStyle/>
          <a:p>
            <a:pPr algn="l">
              <a:lnSpc>
                <a:spcPct val="125000"/>
              </a:lnSpc>
            </a:pPr>
            <a:r>
              <a:rPr sz="1050" b="1" i="0" spc="100">
                <a:solidFill>
                  <a:srgbClr val="7B9FE0"/>
                </a:solidFill>
                <a:latin typeface="Inter"/>
              </a:rPr>
              <a:t>L4 · ORGANIZATIONAL INFLUENCES</a:t>
            </a:r>
          </a:p>
        </p:txBody>
      </p:sp>
      <p:sp>
        <p:nvSpPr>
          <p:cNvPr id="9" name="TextBox 8"/>
          <p:cNvSpPr txBox="1"/>
          <p:nvPr/>
        </p:nvSpPr>
        <p:spPr>
          <a:xfrm>
            <a:off x="777240" y="2990088"/>
            <a:ext cx="3840480" cy="274320"/>
          </a:xfrm>
          <a:prstGeom prst="rect">
            <a:avLst/>
          </a:prstGeom>
          <a:noFill/>
        </p:spPr>
        <p:txBody>
          <a:bodyPr wrap="square" lIns="0" tIns="0" rIns="0" bIns="0" anchor="t">
            <a:spAutoFit/>
          </a:bodyPr>
          <a:lstStyle/>
          <a:p>
            <a:pPr algn="l">
              <a:lnSpc>
                <a:spcPct val="125000"/>
              </a:lnSpc>
            </a:pPr>
            <a:r>
              <a:rPr sz="950" b="0" i="0">
                <a:solidFill>
                  <a:srgbClr val="7A8290"/>
                </a:solidFill>
                <a:latin typeface="Inter"/>
              </a:rPr>
              <a:t>Culture, policy, business metrics, resources</a:t>
            </a:r>
          </a:p>
        </p:txBody>
      </p:sp>
      <p:sp>
        <p:nvSpPr>
          <p:cNvPr id="10" name="Rounded Rectangle 9"/>
          <p:cNvSpPr/>
          <p:nvPr/>
        </p:nvSpPr>
        <p:spPr>
          <a:xfrm>
            <a:off x="548640" y="3429000"/>
            <a:ext cx="5486400" cy="640080"/>
          </a:xfrm>
          <a:prstGeom prst="roundRect">
            <a:avLst>
              <a:gd name="adj" fmla="val 7000"/>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754880" y="3547872"/>
            <a:ext cx="411480" cy="402336"/>
          </a:xfrm>
          <a:prstGeom prst="roundRect">
            <a:avLst>
              <a:gd name="adj" fmla="val 7000"/>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538728"/>
            <a:ext cx="3840480" cy="274320"/>
          </a:xfrm>
          <a:prstGeom prst="rect">
            <a:avLst/>
          </a:prstGeom>
          <a:noFill/>
        </p:spPr>
        <p:txBody>
          <a:bodyPr wrap="square" lIns="0" tIns="0" rIns="0" bIns="0" anchor="t">
            <a:spAutoFit/>
          </a:bodyPr>
          <a:lstStyle/>
          <a:p>
            <a:pPr algn="l">
              <a:lnSpc>
                <a:spcPct val="125000"/>
              </a:lnSpc>
            </a:pPr>
            <a:r>
              <a:rPr sz="1050" b="1" i="0" spc="100">
                <a:solidFill>
                  <a:srgbClr val="E07BAA"/>
                </a:solidFill>
                <a:latin typeface="Inter"/>
              </a:rPr>
              <a:t>L3 · UNSAFE SUPERVISION</a:t>
            </a:r>
          </a:p>
        </p:txBody>
      </p:sp>
      <p:sp>
        <p:nvSpPr>
          <p:cNvPr id="13" name="TextBox 12"/>
          <p:cNvSpPr txBox="1"/>
          <p:nvPr/>
        </p:nvSpPr>
        <p:spPr>
          <a:xfrm>
            <a:off x="777240" y="3767328"/>
            <a:ext cx="3840480" cy="274320"/>
          </a:xfrm>
          <a:prstGeom prst="rect">
            <a:avLst/>
          </a:prstGeom>
          <a:noFill/>
        </p:spPr>
        <p:txBody>
          <a:bodyPr wrap="square" lIns="0" tIns="0" rIns="0" bIns="0" anchor="t">
            <a:spAutoFit/>
          </a:bodyPr>
          <a:lstStyle/>
          <a:p>
            <a:pPr algn="l">
              <a:lnSpc>
                <a:spcPct val="125000"/>
              </a:lnSpc>
            </a:pPr>
            <a:r>
              <a:rPr sz="950" b="0" i="0">
                <a:solidFill>
                  <a:srgbClr val="7A8290"/>
                </a:solidFill>
                <a:latin typeface="Inter"/>
              </a:rPr>
              <a:t>Oversight, planning, algorithmic control</a:t>
            </a:r>
          </a:p>
        </p:txBody>
      </p:sp>
      <p:sp>
        <p:nvSpPr>
          <p:cNvPr id="14" name="Rounded Rectangle 13"/>
          <p:cNvSpPr/>
          <p:nvPr/>
        </p:nvSpPr>
        <p:spPr>
          <a:xfrm>
            <a:off x="548640" y="4206240"/>
            <a:ext cx="5486400" cy="640080"/>
          </a:xfrm>
          <a:prstGeom prst="roundRect">
            <a:avLst>
              <a:gd name="adj" fmla="val 7000"/>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754880" y="4325112"/>
            <a:ext cx="411480" cy="402336"/>
          </a:xfrm>
          <a:prstGeom prst="roundRect">
            <a:avLst>
              <a:gd name="adj" fmla="val 7000"/>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315968"/>
            <a:ext cx="3840480" cy="274320"/>
          </a:xfrm>
          <a:prstGeom prst="rect">
            <a:avLst/>
          </a:prstGeom>
          <a:noFill/>
        </p:spPr>
        <p:txBody>
          <a:bodyPr wrap="square" lIns="0" tIns="0" rIns="0" bIns="0" anchor="t">
            <a:spAutoFit/>
          </a:bodyPr>
          <a:lstStyle/>
          <a:p>
            <a:pPr algn="l">
              <a:lnSpc>
                <a:spcPct val="125000"/>
              </a:lnSpc>
            </a:pPr>
            <a:r>
              <a:rPr sz="1050" b="1" i="0" spc="100">
                <a:solidFill>
                  <a:srgbClr val="E0C27B"/>
                </a:solidFill>
                <a:latin typeface="Inter"/>
              </a:rPr>
              <a:t>L2 · PRECONDITIONS</a:t>
            </a:r>
          </a:p>
        </p:txBody>
      </p:sp>
      <p:sp>
        <p:nvSpPr>
          <p:cNvPr id="17" name="TextBox 16"/>
          <p:cNvSpPr txBox="1"/>
          <p:nvPr/>
        </p:nvSpPr>
        <p:spPr>
          <a:xfrm>
            <a:off x="777240" y="4544568"/>
            <a:ext cx="3840480" cy="274320"/>
          </a:xfrm>
          <a:prstGeom prst="rect">
            <a:avLst/>
          </a:prstGeom>
          <a:noFill/>
        </p:spPr>
        <p:txBody>
          <a:bodyPr wrap="square" lIns="0" tIns="0" rIns="0" bIns="0" anchor="t">
            <a:spAutoFit/>
          </a:bodyPr>
          <a:lstStyle/>
          <a:p>
            <a:pPr algn="l">
              <a:lnSpc>
                <a:spcPct val="125000"/>
              </a:lnSpc>
            </a:pPr>
            <a:r>
              <a:rPr sz="950" b="0" i="0">
                <a:solidFill>
                  <a:srgbClr val="7A8290"/>
                </a:solidFill>
                <a:latin typeface="Inter"/>
              </a:rPr>
              <a:t>Environment, mental state, context</a:t>
            </a:r>
          </a:p>
        </p:txBody>
      </p:sp>
      <p:sp>
        <p:nvSpPr>
          <p:cNvPr id="18" name="Rounded Rectangle 17"/>
          <p:cNvSpPr/>
          <p:nvPr/>
        </p:nvSpPr>
        <p:spPr>
          <a:xfrm>
            <a:off x="548640" y="4983480"/>
            <a:ext cx="5486400" cy="640080"/>
          </a:xfrm>
          <a:prstGeom prst="roundRect">
            <a:avLst>
              <a:gd name="adj" fmla="val 7000"/>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754880" y="5102352"/>
            <a:ext cx="411480" cy="402336"/>
          </a:xfrm>
          <a:prstGeom prst="roundRect">
            <a:avLst>
              <a:gd name="adj" fmla="val 7000"/>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5093208"/>
            <a:ext cx="3840480" cy="274320"/>
          </a:xfrm>
          <a:prstGeom prst="rect">
            <a:avLst/>
          </a:prstGeom>
          <a:noFill/>
        </p:spPr>
        <p:txBody>
          <a:bodyPr wrap="square" lIns="0" tIns="0" rIns="0" bIns="0" anchor="t">
            <a:spAutoFit/>
          </a:bodyPr>
          <a:lstStyle/>
          <a:p>
            <a:pPr algn="l">
              <a:lnSpc>
                <a:spcPct val="125000"/>
              </a:lnSpc>
            </a:pPr>
            <a:r>
              <a:rPr sz="1050" b="1" i="0" spc="100">
                <a:solidFill>
                  <a:srgbClr val="E07B7B"/>
                </a:solidFill>
                <a:latin typeface="Inter"/>
              </a:rPr>
              <a:t>L1 · UNSAFE ACTS</a:t>
            </a:r>
          </a:p>
        </p:txBody>
      </p:sp>
      <p:sp>
        <p:nvSpPr>
          <p:cNvPr id="21" name="TextBox 20"/>
          <p:cNvSpPr txBox="1"/>
          <p:nvPr/>
        </p:nvSpPr>
        <p:spPr>
          <a:xfrm>
            <a:off x="777240" y="5321808"/>
            <a:ext cx="3840480" cy="274320"/>
          </a:xfrm>
          <a:prstGeom prst="rect">
            <a:avLst/>
          </a:prstGeom>
          <a:noFill/>
        </p:spPr>
        <p:txBody>
          <a:bodyPr wrap="square" lIns="0" tIns="0" rIns="0" bIns="0" anchor="t">
            <a:spAutoFit/>
          </a:bodyPr>
          <a:lstStyle/>
          <a:p>
            <a:pPr algn="l">
              <a:lnSpc>
                <a:spcPct val="125000"/>
              </a:lnSpc>
            </a:pPr>
            <a:r>
              <a:rPr sz="950" b="0" i="0">
                <a:solidFill>
                  <a:srgbClr val="7A8290"/>
                </a:solidFill>
                <a:latin typeface="Inter"/>
              </a:rPr>
              <a:t>Errors and violations at the operator level</a:t>
            </a:r>
          </a:p>
        </p:txBody>
      </p:sp>
      <p:sp>
        <p:nvSpPr>
          <p:cNvPr id="22" name="Rectangle 21"/>
          <p:cNvSpPr/>
          <p:nvPr/>
        </p:nvSpPr>
        <p:spPr>
          <a:xfrm>
            <a:off x="6309360" y="2651760"/>
            <a:ext cx="5486400" cy="118872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309360" y="2651760"/>
            <a:ext cx="50800" cy="118872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83680" y="2761488"/>
            <a:ext cx="5074920" cy="274320"/>
          </a:xfrm>
          <a:prstGeom prst="rect">
            <a:avLst/>
          </a:prstGeom>
          <a:noFill/>
        </p:spPr>
        <p:txBody>
          <a:bodyPr wrap="square" lIns="0" tIns="0" rIns="0" bIns="0" anchor="t">
            <a:spAutoFit/>
          </a:bodyPr>
          <a:lstStyle/>
          <a:p>
            <a:pPr algn="l">
              <a:lnSpc>
                <a:spcPct val="125000"/>
              </a:lnSpc>
            </a:pPr>
            <a:r>
              <a:rPr sz="1000" b="1" i="0" spc="120">
                <a:solidFill>
                  <a:srgbClr val="E07BAA"/>
                </a:solidFill>
                <a:latin typeface="Inter"/>
              </a:rPr>
              <a:t>THE SWISS CHEESE MODEL, IN PLAIN TERMS</a:t>
            </a:r>
          </a:p>
        </p:txBody>
      </p:sp>
      <p:sp>
        <p:nvSpPr>
          <p:cNvPr id="25" name="TextBox 24"/>
          <p:cNvSpPr txBox="1"/>
          <p:nvPr/>
        </p:nvSpPr>
        <p:spPr>
          <a:xfrm>
            <a:off x="6583680" y="3035808"/>
            <a:ext cx="5074920" cy="713232"/>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Every layer of a system has small weaknesses (holes). Most of the time the holes don't line up. When they do, the failure slips all the way through. Reason's model came out of aviation accident investigation.</a:t>
            </a:r>
          </a:p>
        </p:txBody>
      </p:sp>
      <p:sp>
        <p:nvSpPr>
          <p:cNvPr id="26" name="TextBox 25"/>
          <p:cNvSpPr txBox="1"/>
          <p:nvPr/>
        </p:nvSpPr>
        <p:spPr>
          <a:xfrm>
            <a:off x="6309360" y="3977639"/>
            <a:ext cx="5486400" cy="274320"/>
          </a:xfrm>
          <a:prstGeom prst="rect">
            <a:avLst/>
          </a:prstGeom>
          <a:noFill/>
        </p:spPr>
        <p:txBody>
          <a:bodyPr wrap="square" lIns="0" tIns="0" rIns="0" bIns="0" anchor="t">
            <a:spAutoFit/>
          </a:bodyPr>
          <a:lstStyle/>
          <a:p>
            <a:pPr algn="l">
              <a:lnSpc>
                <a:spcPct val="125000"/>
              </a:lnSpc>
            </a:pPr>
            <a:r>
              <a:rPr sz="1000" b="1" i="0" spc="150">
                <a:solidFill>
                  <a:srgbClr val="7A8290"/>
                </a:solidFill>
                <a:latin typeface="Inter"/>
              </a:rPr>
              <a:t>THE METHOD</a:t>
            </a:r>
          </a:p>
        </p:txBody>
      </p:sp>
      <p:sp>
        <p:nvSpPr>
          <p:cNvPr id="27" name="TextBox 26"/>
          <p:cNvSpPr txBox="1"/>
          <p:nvPr/>
        </p:nvSpPr>
        <p:spPr>
          <a:xfrm>
            <a:off x="6309360" y="4297680"/>
            <a:ext cx="5486400" cy="2011680"/>
          </a:xfrm>
          <a:prstGeom prst="rect">
            <a:avLst/>
          </a:prstGeom>
          <a:noFill/>
        </p:spPr>
        <p:txBody>
          <a:bodyPr wrap="square" lIns="0" tIns="0" rIns="0" bIns="0" anchor="t">
            <a:spAutoFit/>
          </a:bodyPr>
          <a:lstStyle/>
          <a:p>
            <a:pPr algn="l">
              <a:lnSpc>
                <a:spcPct val="150000"/>
              </a:lnSpc>
            </a:pPr>
            <a:r>
              <a:rPr sz="1100" b="0" i="0">
                <a:solidFill>
                  <a:srgbClr val="C8CDD8"/>
                </a:solidFill>
                <a:latin typeface="Inter"/>
              </a:rPr>
              <a:t>• Identify the observable failure. Learners can't speak after months of app use.</a:t>
            </a:r>
          </a:p>
          <a:p>
            <a:pPr algn="l">
              <a:lnSpc>
                <a:spcPct val="150000"/>
              </a:lnSpc>
            </a:pPr>
            <a:r>
              <a:rPr sz="1100" b="0" i="0">
                <a:solidFill>
                  <a:srgbClr val="C8CDD8"/>
                </a:solidFill>
                <a:latin typeface="Inter"/>
              </a:rPr>
              <a:t>• Work backward through all four HFACS layers.</a:t>
            </a:r>
          </a:p>
          <a:p>
            <a:pPr algn="l">
              <a:lnSpc>
                <a:spcPct val="150000"/>
              </a:lnSpc>
            </a:pPr>
            <a:r>
              <a:rPr sz="1100" b="0" i="0">
                <a:solidFill>
                  <a:srgbClr val="C8CDD8"/>
                </a:solidFill>
                <a:latin typeface="Inter"/>
              </a:rPr>
              <a:t>• Use evidence to support each layer.</a:t>
            </a:r>
          </a:p>
          <a:p>
            <a:pPr algn="l">
              <a:lnSpc>
                <a:spcPct val="150000"/>
              </a:lnSpc>
            </a:pPr>
            <a:r>
              <a:rPr sz="1100" b="0" i="0">
                <a:solidFill>
                  <a:srgbClr val="C8CDD8"/>
                </a:solidFill>
                <a:latin typeface="Inter"/>
              </a:rPr>
              <a:t>• Look for the system breakdown. Avoid blaming the individual.</a:t>
            </a:r>
          </a:p>
          <a:p>
            <a:pPr algn="l">
              <a:lnSpc>
                <a:spcPct val="150000"/>
              </a:lnSpc>
            </a:pPr>
            <a:r>
              <a:rPr sz="1100" b="0" i="0">
                <a:solidFill>
                  <a:srgbClr val="C8CDD8"/>
                </a:solidFill>
                <a:latin typeface="Inter"/>
              </a:rPr>
              <a:t>• Propose system level interventions in Phase 5.</a:t>
            </a:r>
          </a:p>
        </p:txBody>
      </p:sp>
      <p:sp>
        <p:nvSpPr>
          <p:cNvPr id="28" name="TextBox 27"/>
          <p:cNvSpPr txBox="1"/>
          <p:nvPr/>
        </p:nvSpPr>
        <p:spPr>
          <a:xfrm>
            <a:off x="6309360" y="6263640"/>
            <a:ext cx="5486400" cy="274320"/>
          </a:xfrm>
          <a:prstGeom prst="rect">
            <a:avLst/>
          </a:prstGeom>
          <a:noFill/>
        </p:spPr>
        <p:txBody>
          <a:bodyPr wrap="square" lIns="0" tIns="0" rIns="0" bIns="0" anchor="t">
            <a:spAutoFit/>
          </a:bodyPr>
          <a:lstStyle/>
          <a:p>
            <a:pPr algn="l">
              <a:lnSpc>
                <a:spcPct val="125000"/>
              </a:lnSpc>
            </a:pPr>
            <a:r>
              <a:rPr sz="1100" b="0" i="1">
                <a:solidFill>
                  <a:srgbClr val="E07BAA"/>
                </a:solidFill>
                <a:latin typeface="Inter"/>
              </a:rPr>
              <a:t>Course tenet: error is a system property, not a human shortcoming. Exxon Valdez. Sully. Now Duolingo.</a:t>
            </a:r>
          </a:p>
        </p:txBody>
      </p:sp>
      <p:sp>
        <p:nvSpPr>
          <p:cNvPr id="29" name="TextBox 28"/>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30" name="TextBox 29"/>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9FE0"/>
                </a:solidFill>
                <a:latin typeface="Inter"/>
              </a:rPr>
              <a:t>PHASE 4 · LEVEL 4 · ORGANIZATIONAL INFLUENCES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09728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Daily Active Users is the wrong metric, and the business is locked into keeping it.</a:t>
            </a:r>
          </a:p>
        </p:txBody>
      </p:sp>
      <p:sp>
        <p:nvSpPr>
          <p:cNvPr id="5" name="TextBox 4"/>
          <p:cNvSpPr txBox="1"/>
          <p:nvPr/>
        </p:nvSpPr>
        <p:spPr>
          <a:xfrm>
            <a:off x="548640" y="1920240"/>
            <a:ext cx="11094415" cy="36576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Level 4 sets the frame every layer below inherits. This is the Innovator's Dilemma at work.</a:t>
            </a:r>
          </a:p>
        </p:txBody>
      </p:sp>
      <p:sp>
        <p:nvSpPr>
          <p:cNvPr id="6" name="Rectangle 5"/>
          <p:cNvSpPr/>
          <p:nvPr/>
        </p:nvSpPr>
        <p:spPr>
          <a:xfrm>
            <a:off x="548640" y="2468880"/>
            <a:ext cx="11094415" cy="86868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468880"/>
            <a:ext cx="50800" cy="8686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578608"/>
            <a:ext cx="10682935" cy="274320"/>
          </a:xfrm>
          <a:prstGeom prst="rect">
            <a:avLst/>
          </a:prstGeom>
          <a:noFill/>
        </p:spPr>
        <p:txBody>
          <a:bodyPr wrap="square" lIns="0" tIns="0" rIns="0" bIns="0" anchor="t">
            <a:spAutoFit/>
          </a:bodyPr>
          <a:lstStyle/>
          <a:p>
            <a:pPr algn="l">
              <a:lnSpc>
                <a:spcPct val="125000"/>
              </a:lnSpc>
            </a:pPr>
            <a:r>
              <a:rPr sz="1000" b="1" i="0" spc="120">
                <a:solidFill>
                  <a:srgbClr val="E0C27B"/>
                </a:solidFill>
                <a:latin typeface="Inter"/>
              </a:rPr>
              <a:t>THE INNOVATOR'S DILEMMA (CHRISTENSEN)</a:t>
            </a:r>
          </a:p>
        </p:txBody>
      </p:sp>
      <p:sp>
        <p:nvSpPr>
          <p:cNvPr id="9" name="TextBox 8"/>
          <p:cNvSpPr txBox="1"/>
          <p:nvPr/>
        </p:nvSpPr>
        <p:spPr>
          <a:xfrm>
            <a:off x="822960" y="2880360"/>
            <a:ext cx="10682935" cy="41148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Established companies are so good at their existing, profitable product that they get blindsided by disruptive alternatives. The best thing for the business in the short term is also what blocks the bigger change.</a:t>
            </a:r>
          </a:p>
        </p:txBody>
      </p:sp>
      <p:sp>
        <p:nvSpPr>
          <p:cNvPr id="10" name="Rectangle 9"/>
          <p:cNvSpPr/>
          <p:nvPr/>
        </p:nvSpPr>
        <p:spPr>
          <a:xfrm>
            <a:off x="548640" y="3429000"/>
            <a:ext cx="11094415" cy="868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429000"/>
            <a:ext cx="50800" cy="86868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538728"/>
            <a:ext cx="2743200" cy="274320"/>
          </a:xfrm>
          <a:prstGeom prst="rect">
            <a:avLst/>
          </a:prstGeom>
          <a:noFill/>
        </p:spPr>
        <p:txBody>
          <a:bodyPr wrap="square" lIns="0" tIns="0" rIns="0" bIns="0" anchor="t">
            <a:spAutoFit/>
          </a:bodyPr>
          <a:lstStyle/>
          <a:p>
            <a:pPr algn="l">
              <a:lnSpc>
                <a:spcPct val="125000"/>
              </a:lnSpc>
            </a:pPr>
            <a:r>
              <a:rPr sz="1100" b="1" i="0" spc="120">
                <a:solidFill>
                  <a:srgbClr val="7B9FE0"/>
                </a:solidFill>
                <a:latin typeface="Inter"/>
              </a:rPr>
              <a:t>THE METRIC</a:t>
            </a:r>
          </a:p>
        </p:txBody>
      </p:sp>
      <p:sp>
        <p:nvSpPr>
          <p:cNvPr id="13" name="TextBox 12"/>
          <p:cNvSpPr txBox="1"/>
          <p:nvPr/>
        </p:nvSpPr>
        <p:spPr>
          <a:xfrm>
            <a:off x="868680" y="3840480"/>
            <a:ext cx="10972800" cy="41148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Daily Active Users is Duolingo's primary business metric. It shapes streak design, notification timing, exercise sequencing, and what gets measured in outcome research.</a:t>
            </a:r>
          </a:p>
        </p:txBody>
      </p:sp>
      <p:sp>
        <p:nvSpPr>
          <p:cNvPr id="14" name="Rectangle 13"/>
          <p:cNvSpPr/>
          <p:nvPr/>
        </p:nvSpPr>
        <p:spPr>
          <a:xfrm>
            <a:off x="548640" y="4389120"/>
            <a:ext cx="11094415" cy="868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4389120"/>
            <a:ext cx="50800" cy="8686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498848"/>
            <a:ext cx="2743200" cy="274320"/>
          </a:xfrm>
          <a:prstGeom prst="rect">
            <a:avLst/>
          </a:prstGeom>
          <a:noFill/>
        </p:spPr>
        <p:txBody>
          <a:bodyPr wrap="square" lIns="0" tIns="0" rIns="0" bIns="0" anchor="t">
            <a:spAutoFit/>
          </a:bodyPr>
          <a:lstStyle/>
          <a:p>
            <a:pPr algn="l">
              <a:lnSpc>
                <a:spcPct val="125000"/>
              </a:lnSpc>
            </a:pPr>
            <a:r>
              <a:rPr sz="1100" b="1" i="0" spc="120">
                <a:solidFill>
                  <a:srgbClr val="E0C27B"/>
                </a:solidFill>
                <a:latin typeface="Inter"/>
              </a:rPr>
              <a:t>THE DILEMMA</a:t>
            </a:r>
          </a:p>
        </p:txBody>
      </p:sp>
      <p:sp>
        <p:nvSpPr>
          <p:cNvPr id="17" name="TextBox 16"/>
          <p:cNvSpPr txBox="1"/>
          <p:nvPr/>
        </p:nvSpPr>
        <p:spPr>
          <a:xfrm>
            <a:off x="868680" y="4800600"/>
            <a:ext cx="10972800" cy="41148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A disruptive alternative (dialect specific conversation, adaptive speaking practice) costs more to build and does not move the daily return metric in the short term.</a:t>
            </a:r>
          </a:p>
        </p:txBody>
      </p:sp>
      <p:sp>
        <p:nvSpPr>
          <p:cNvPr id="18" name="Rectangle 17"/>
          <p:cNvSpPr/>
          <p:nvPr/>
        </p:nvSpPr>
        <p:spPr>
          <a:xfrm>
            <a:off x="548640" y="5349240"/>
            <a:ext cx="11094415" cy="868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 y="5349240"/>
            <a:ext cx="50800" cy="86868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8680" y="5458968"/>
            <a:ext cx="2743200" cy="274320"/>
          </a:xfrm>
          <a:prstGeom prst="rect">
            <a:avLst/>
          </a:prstGeom>
          <a:noFill/>
        </p:spPr>
        <p:txBody>
          <a:bodyPr wrap="square" lIns="0" tIns="0" rIns="0" bIns="0" anchor="t">
            <a:spAutoFit/>
          </a:bodyPr>
          <a:lstStyle/>
          <a:p>
            <a:pPr algn="l">
              <a:lnSpc>
                <a:spcPct val="125000"/>
              </a:lnSpc>
            </a:pPr>
            <a:r>
              <a:rPr sz="1100" b="1" i="0" spc="120">
                <a:solidFill>
                  <a:srgbClr val="E07B7B"/>
                </a:solidFill>
                <a:latin typeface="Inter"/>
              </a:rPr>
              <a:t>THE CONSEQUENCE</a:t>
            </a:r>
          </a:p>
        </p:txBody>
      </p:sp>
      <p:sp>
        <p:nvSpPr>
          <p:cNvPr id="21" name="TextBox 20"/>
          <p:cNvSpPr txBox="1"/>
          <p:nvPr/>
        </p:nvSpPr>
        <p:spPr>
          <a:xfrm>
            <a:off x="868680" y="5760720"/>
            <a:ext cx="10972800" cy="41148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Every layer downstream inherits this optimization. The algorithm, the interface, and the learner all act on what drives daily return. The cheese is pre holed at the top.</a:t>
            </a:r>
          </a:p>
        </p:txBody>
      </p:sp>
      <p:sp>
        <p:nvSpPr>
          <p:cNvPr id="22" name="TextBox 21"/>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3" name="TextBox 22"/>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9FE0"/>
                </a:solidFill>
                <a:latin typeface="Inter"/>
              </a:rPr>
              <a:t>PHASE 4 · LEVEL 4 · ORGANIZATIONAL INFLUENCES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Conversational style moves learning the most. The business underweights it.</a:t>
            </a:r>
          </a:p>
        </p:txBody>
      </p:sp>
      <p:sp>
        <p:nvSpPr>
          <p:cNvPr id="5" name="Rectangle 4"/>
          <p:cNvSpPr/>
          <p:nvPr/>
        </p:nvSpPr>
        <p:spPr>
          <a:xfrm>
            <a:off x="548640" y="2194560"/>
            <a:ext cx="5532120" cy="17830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194560"/>
            <a:ext cx="5532120" cy="36576"/>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423160"/>
            <a:ext cx="5166360" cy="731520"/>
          </a:xfrm>
          <a:prstGeom prst="rect">
            <a:avLst/>
          </a:prstGeom>
          <a:noFill/>
        </p:spPr>
        <p:txBody>
          <a:bodyPr wrap="square" lIns="0" tIns="0" rIns="0" bIns="0" anchor="t">
            <a:spAutoFit/>
          </a:bodyPr>
          <a:lstStyle/>
          <a:p>
            <a:pPr algn="l">
              <a:lnSpc>
                <a:spcPct val="125000"/>
              </a:lnSpc>
            </a:pPr>
            <a:r>
              <a:rPr sz="2800" b="1" i="0">
                <a:solidFill>
                  <a:srgbClr val="F0F2F5"/>
                </a:solidFill>
                <a:latin typeface="Inter"/>
              </a:rPr>
              <a:t>median d = 1.3</a:t>
            </a:r>
          </a:p>
        </p:txBody>
      </p:sp>
      <p:sp>
        <p:nvSpPr>
          <p:cNvPr id="8" name="TextBox 7"/>
          <p:cNvSpPr txBox="1"/>
          <p:nvPr/>
        </p:nvSpPr>
        <p:spPr>
          <a:xfrm>
            <a:off x="777240" y="3154680"/>
            <a:ext cx="5166360" cy="320040"/>
          </a:xfrm>
          <a:prstGeom prst="rect">
            <a:avLst/>
          </a:prstGeom>
          <a:noFill/>
        </p:spPr>
        <p:txBody>
          <a:bodyPr wrap="square" lIns="0" tIns="0" rIns="0" bIns="0" anchor="t">
            <a:spAutoFit/>
          </a:bodyPr>
          <a:lstStyle/>
          <a:p>
            <a:pPr algn="l">
              <a:lnSpc>
                <a:spcPct val="125000"/>
              </a:lnSpc>
            </a:pPr>
            <a:r>
              <a:rPr sz="1000" b="1" i="0" spc="120">
                <a:solidFill>
                  <a:srgbClr val="7A8290"/>
                </a:solidFill>
                <a:latin typeface="Inter"/>
              </a:rPr>
              <a:t>MAYER (2021) · CONVERSATIONAL STYLE</a:t>
            </a:r>
          </a:p>
        </p:txBody>
      </p:sp>
      <p:sp>
        <p:nvSpPr>
          <p:cNvPr id="9" name="TextBox 8"/>
          <p:cNvSpPr txBox="1"/>
          <p:nvPr/>
        </p:nvSpPr>
        <p:spPr>
          <a:xfrm>
            <a:off x="777240" y="3474720"/>
            <a:ext cx="5166360" cy="502920"/>
          </a:xfrm>
          <a:prstGeom prst="rect">
            <a:avLst/>
          </a:prstGeom>
          <a:noFill/>
        </p:spPr>
        <p:txBody>
          <a:bodyPr wrap="square" lIns="0" tIns="0" rIns="0" bIns="0" anchor="t">
            <a:spAutoFit/>
          </a:bodyPr>
          <a:lstStyle/>
          <a:p>
            <a:pPr algn="l">
              <a:lnSpc>
                <a:spcPct val="135000"/>
              </a:lnSpc>
            </a:pPr>
            <a:r>
              <a:rPr sz="1050" b="0" i="0">
                <a:solidFill>
                  <a:srgbClr val="C8CDD8"/>
                </a:solidFill>
                <a:latin typeface="Inter"/>
              </a:rPr>
              <a:t>Supported in 10 of 10 experiments. For context, anything above 0.8 is considered large in education research.</a:t>
            </a:r>
          </a:p>
        </p:txBody>
      </p:sp>
      <p:sp>
        <p:nvSpPr>
          <p:cNvPr id="10" name="Rectangle 9"/>
          <p:cNvSpPr/>
          <p:nvPr/>
        </p:nvSpPr>
        <p:spPr>
          <a:xfrm>
            <a:off x="6309360" y="2194560"/>
            <a:ext cx="5532120" cy="17830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2194560"/>
            <a:ext cx="5532120" cy="36576"/>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2423160"/>
            <a:ext cx="5166360" cy="731520"/>
          </a:xfrm>
          <a:prstGeom prst="rect">
            <a:avLst/>
          </a:prstGeom>
          <a:noFill/>
        </p:spPr>
        <p:txBody>
          <a:bodyPr wrap="square" lIns="0" tIns="0" rIns="0" bIns="0" anchor="t">
            <a:spAutoFit/>
          </a:bodyPr>
          <a:lstStyle/>
          <a:p>
            <a:pPr algn="l">
              <a:lnSpc>
                <a:spcPct val="125000"/>
              </a:lnSpc>
            </a:pPr>
            <a:r>
              <a:rPr sz="2800" b="1" i="0">
                <a:solidFill>
                  <a:srgbClr val="F0F2F5"/>
                </a:solidFill>
                <a:latin typeface="Inter"/>
              </a:rPr>
              <a:t>median d = 0.8</a:t>
            </a:r>
          </a:p>
        </p:txBody>
      </p:sp>
      <p:sp>
        <p:nvSpPr>
          <p:cNvPr id="13" name="TextBox 12"/>
          <p:cNvSpPr txBox="1"/>
          <p:nvPr/>
        </p:nvSpPr>
        <p:spPr>
          <a:xfrm>
            <a:off x="6537960" y="3154680"/>
            <a:ext cx="5166360" cy="320040"/>
          </a:xfrm>
          <a:prstGeom prst="rect">
            <a:avLst/>
          </a:prstGeom>
          <a:noFill/>
        </p:spPr>
        <p:txBody>
          <a:bodyPr wrap="square" lIns="0" tIns="0" rIns="0" bIns="0" anchor="t">
            <a:spAutoFit/>
          </a:bodyPr>
          <a:lstStyle/>
          <a:p>
            <a:pPr algn="l">
              <a:lnSpc>
                <a:spcPct val="125000"/>
              </a:lnSpc>
            </a:pPr>
            <a:r>
              <a:rPr sz="1000" b="1" i="0" spc="120">
                <a:solidFill>
                  <a:srgbClr val="7A8290"/>
                </a:solidFill>
                <a:latin typeface="Inter"/>
              </a:rPr>
              <a:t>MAYER (2021) · NATIVE ACCENTED VOICE</a:t>
            </a:r>
          </a:p>
        </p:txBody>
      </p:sp>
      <p:sp>
        <p:nvSpPr>
          <p:cNvPr id="14" name="TextBox 13"/>
          <p:cNvSpPr txBox="1"/>
          <p:nvPr/>
        </p:nvSpPr>
        <p:spPr>
          <a:xfrm>
            <a:off x="6537960" y="3474720"/>
            <a:ext cx="5166360" cy="502920"/>
          </a:xfrm>
          <a:prstGeom prst="rect">
            <a:avLst/>
          </a:prstGeom>
          <a:noFill/>
        </p:spPr>
        <p:txBody>
          <a:bodyPr wrap="square" lIns="0" tIns="0" rIns="0" bIns="0" anchor="t">
            <a:spAutoFit/>
          </a:bodyPr>
          <a:lstStyle/>
          <a:p>
            <a:pPr algn="l">
              <a:lnSpc>
                <a:spcPct val="135000"/>
              </a:lnSpc>
            </a:pPr>
            <a:r>
              <a:rPr sz="1050" b="0" i="0">
                <a:solidFill>
                  <a:srgbClr val="C8CDD8"/>
                </a:solidFill>
                <a:latin typeface="Inter"/>
              </a:rPr>
              <a:t>Motivates the proposed voice agent in Phase 5. The current prototype ships conversational style. Voice is future work.</a:t>
            </a:r>
          </a:p>
        </p:txBody>
      </p:sp>
      <p:sp>
        <p:nvSpPr>
          <p:cNvPr id="15" name="Rectangle 14"/>
          <p:cNvSpPr/>
          <p:nvPr/>
        </p:nvSpPr>
        <p:spPr>
          <a:xfrm>
            <a:off x="548640" y="4160520"/>
            <a:ext cx="11094415" cy="210312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4160520"/>
            <a:ext cx="50800" cy="210312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 y="4297680"/>
            <a:ext cx="10972800" cy="320040"/>
          </a:xfrm>
          <a:prstGeom prst="rect">
            <a:avLst/>
          </a:prstGeom>
          <a:noFill/>
        </p:spPr>
        <p:txBody>
          <a:bodyPr wrap="square" lIns="0" tIns="0" rIns="0" bIns="0" anchor="t">
            <a:spAutoFit/>
          </a:bodyPr>
          <a:lstStyle/>
          <a:p>
            <a:pPr algn="l">
              <a:lnSpc>
                <a:spcPct val="125000"/>
              </a:lnSpc>
            </a:pPr>
            <a:r>
              <a:rPr sz="1100" b="1" i="0" spc="120">
                <a:solidFill>
                  <a:srgbClr val="E07BAA"/>
                </a:solidFill>
                <a:latin typeface="Inter"/>
              </a:rPr>
              <a:t>TRANSPARENCY IS A VARIABLE, NOT A CONSTANT (LOFT ET AL., 2021)</a:t>
            </a:r>
          </a:p>
        </p:txBody>
      </p:sp>
      <p:sp>
        <p:nvSpPr>
          <p:cNvPr id="18" name="TextBox 17"/>
          <p:cNvSpPr txBox="1"/>
          <p:nvPr/>
        </p:nvSpPr>
        <p:spPr>
          <a:xfrm>
            <a:off x="868680" y="4663440"/>
            <a:ext cx="10972800" cy="150876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Older Human Factors research treated transparency as a fixed feature (always show more information). Modern research, including the Loft study assigned in this course, treats transparency as a design variable that can be tuned. The catch: showing confident projected outcomes to a user can make them feel justified moving faster, even when the underlying system is wrong.</a:t>
            </a:r>
          </a:p>
          <a:p>
            <a:pPr algn="l">
              <a:lnSpc>
                <a:spcPct val="140000"/>
              </a:lnSpc>
            </a:pPr>
            <a:endParaRPr sz="1100" b="0" i="0">
              <a:solidFill>
                <a:srgbClr val="C8CDD8"/>
              </a:solidFill>
              <a:latin typeface="Inter"/>
            </a:endParaRPr>
          </a:p>
          <a:p>
            <a:pPr algn="l">
              <a:lnSpc>
                <a:spcPct val="140000"/>
              </a:lnSpc>
            </a:pPr>
            <a:r>
              <a:rPr sz="1100" b="0" i="0">
                <a:solidFill>
                  <a:srgbClr val="C8CDD8"/>
                </a:solidFill>
                <a:latin typeface="Inter"/>
              </a:rPr>
              <a:t>Duolingo's progress UI is exactly this kind of projected outcome. It is highly transparent about a signal (XP and streaks) that does not include speaking.</a:t>
            </a:r>
          </a:p>
        </p:txBody>
      </p:sp>
      <p:sp>
        <p:nvSpPr>
          <p:cNvPr id="19" name="TextBox 18"/>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0" name="TextBox 19"/>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AA"/>
                </a:solidFill>
                <a:latin typeface="Inter"/>
              </a:rPr>
              <a:t>PHASE 4 · LEVEL 3 · UNSAFE SUPERVISION</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The supervisor inside the app is optimizing for the wrong signal.</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Birdbrain is the in app algorithm. Signal Detection Theory tells us what it can and cannot catch.</a:t>
            </a:r>
          </a:p>
        </p:txBody>
      </p:sp>
      <p:sp>
        <p:nvSpPr>
          <p:cNvPr id="6" name="Rectangle 5"/>
          <p:cNvSpPr/>
          <p:nvPr/>
        </p:nvSpPr>
        <p:spPr>
          <a:xfrm>
            <a:off x="548640" y="2423160"/>
            <a:ext cx="5486400" cy="137160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423160"/>
            <a:ext cx="50800" cy="137160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606040"/>
            <a:ext cx="5074920" cy="914400"/>
          </a:xfrm>
          <a:prstGeom prst="rect">
            <a:avLst/>
          </a:prstGeom>
          <a:noFill/>
        </p:spPr>
        <p:txBody>
          <a:bodyPr wrap="square" lIns="0" tIns="0" rIns="0" bIns="0" anchor="t">
            <a:spAutoFit/>
          </a:bodyPr>
          <a:lstStyle/>
          <a:p>
            <a:pPr algn="l">
              <a:lnSpc>
                <a:spcPct val="140000"/>
              </a:lnSpc>
            </a:pPr>
            <a:r>
              <a:rPr sz="1300" b="0" i="1">
                <a:solidFill>
                  <a:srgbClr val="F0F2F5"/>
                </a:solidFill>
                <a:latin typeface="Inter"/>
              </a:rPr>
              <a:t>"Birdbrain makes an educated guess about whether a learner will get a given exercise right."</a:t>
            </a:r>
          </a:p>
        </p:txBody>
      </p:sp>
      <p:sp>
        <p:nvSpPr>
          <p:cNvPr id="9" name="TextBox 8"/>
          <p:cNvSpPr txBox="1"/>
          <p:nvPr/>
        </p:nvSpPr>
        <p:spPr>
          <a:xfrm>
            <a:off x="822960" y="3474720"/>
            <a:ext cx="5074920" cy="274320"/>
          </a:xfrm>
          <a:prstGeom prst="rect">
            <a:avLst/>
          </a:prstGeom>
          <a:noFill/>
        </p:spPr>
        <p:txBody>
          <a:bodyPr wrap="square" lIns="0" tIns="0" rIns="0" bIns="0" anchor="t">
            <a:spAutoFit/>
          </a:bodyPr>
          <a:lstStyle/>
          <a:p>
            <a:pPr algn="l">
              <a:lnSpc>
                <a:spcPct val="125000"/>
              </a:lnSpc>
            </a:pPr>
            <a:r>
              <a:rPr sz="1000" b="0" i="0">
                <a:solidFill>
                  <a:srgbClr val="7A8290"/>
                </a:solidFill>
                <a:latin typeface="Inter"/>
              </a:rPr>
              <a:t>Duolingo engineering blog (Bicknell, 2020). Duolingo's own description of what its algorithm optimizes for.</a:t>
            </a:r>
          </a:p>
        </p:txBody>
      </p:sp>
      <p:sp>
        <p:nvSpPr>
          <p:cNvPr id="10" name="Rectangle 9"/>
          <p:cNvSpPr/>
          <p:nvPr/>
        </p:nvSpPr>
        <p:spPr>
          <a:xfrm>
            <a:off x="548640" y="3931920"/>
            <a:ext cx="5486400" cy="114300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931920"/>
            <a:ext cx="50800" cy="114300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4041648"/>
            <a:ext cx="5074920" cy="274320"/>
          </a:xfrm>
          <a:prstGeom prst="rect">
            <a:avLst/>
          </a:prstGeom>
          <a:noFill/>
        </p:spPr>
        <p:txBody>
          <a:bodyPr wrap="square" lIns="0" tIns="0" rIns="0" bIns="0" anchor="t">
            <a:spAutoFit/>
          </a:bodyPr>
          <a:lstStyle/>
          <a:p>
            <a:pPr algn="l">
              <a:lnSpc>
                <a:spcPct val="125000"/>
              </a:lnSpc>
            </a:pPr>
            <a:r>
              <a:rPr sz="1000" b="1" i="0" spc="120">
                <a:solidFill>
                  <a:srgbClr val="E07BAA"/>
                </a:solidFill>
                <a:latin typeface="Inter"/>
              </a:rPr>
              <a:t>WHAT BIRDBRAIN IS</a:t>
            </a:r>
          </a:p>
        </p:txBody>
      </p:sp>
      <p:sp>
        <p:nvSpPr>
          <p:cNvPr id="13" name="TextBox 12"/>
          <p:cNvSpPr txBox="1"/>
          <p:nvPr/>
        </p:nvSpPr>
        <p:spPr>
          <a:xfrm>
            <a:off x="822960" y="4315968"/>
            <a:ext cx="5074920" cy="667512"/>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Duolingo's in house AI. Every time you open the app, Birdbrain picks the next exercise for you. It is the layer between the content library and the learner.</a:t>
            </a:r>
          </a:p>
        </p:txBody>
      </p:sp>
      <p:sp>
        <p:nvSpPr>
          <p:cNvPr id="14" name="Rectangle 13"/>
          <p:cNvSpPr/>
          <p:nvPr/>
        </p:nvSpPr>
        <p:spPr>
          <a:xfrm>
            <a:off x="548640" y="5212080"/>
            <a:ext cx="5486400" cy="12344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212080"/>
            <a:ext cx="50800" cy="123444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5303520"/>
            <a:ext cx="5029200" cy="274320"/>
          </a:xfrm>
          <a:prstGeom prst="rect">
            <a:avLst/>
          </a:prstGeom>
          <a:noFill/>
        </p:spPr>
        <p:txBody>
          <a:bodyPr wrap="square" lIns="0" tIns="0" rIns="0" bIns="0" anchor="t">
            <a:spAutoFit/>
          </a:bodyPr>
          <a:lstStyle/>
          <a:p>
            <a:pPr algn="l">
              <a:lnSpc>
                <a:spcPct val="125000"/>
              </a:lnSpc>
            </a:pPr>
            <a:r>
              <a:rPr sz="1000" b="1" i="0" spc="120">
                <a:solidFill>
                  <a:srgbClr val="E07B7B"/>
                </a:solidFill>
                <a:latin typeface="Inter"/>
              </a:rPr>
              <a:t>SIGNAL DETECTION THEORY · WHAT BIRDBRAIN CAN SEE</a:t>
            </a:r>
          </a:p>
        </p:txBody>
      </p:sp>
      <p:sp>
        <p:nvSpPr>
          <p:cNvPr id="17" name="TextBox 16"/>
          <p:cNvSpPr txBox="1"/>
          <p:nvPr/>
        </p:nvSpPr>
        <p:spPr>
          <a:xfrm>
            <a:off x="868680" y="5577840"/>
            <a:ext cx="5029200" cy="86868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In SDT terms, a detector's sensitivity (d') is how well it separates signal from noise. Birdbrain's d' for item correctness is high. Its d' for conversational failure is effectively zero. It cannot detect what it never measures.</a:t>
            </a:r>
          </a:p>
        </p:txBody>
      </p:sp>
      <p:sp>
        <p:nvSpPr>
          <p:cNvPr id="18" name="Rectangle 17"/>
          <p:cNvSpPr/>
          <p:nvPr/>
        </p:nvSpPr>
        <p:spPr>
          <a:xfrm>
            <a:off x="6309360" y="2423160"/>
            <a:ext cx="5486400" cy="40233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2423160"/>
            <a:ext cx="50800" cy="402336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9400" y="2560320"/>
            <a:ext cx="5029200" cy="320040"/>
          </a:xfrm>
          <a:prstGeom prst="rect">
            <a:avLst/>
          </a:prstGeom>
          <a:noFill/>
        </p:spPr>
        <p:txBody>
          <a:bodyPr wrap="square" lIns="0" tIns="0" rIns="0" bIns="0" anchor="t">
            <a:spAutoFit/>
          </a:bodyPr>
          <a:lstStyle/>
          <a:p>
            <a:pPr algn="l">
              <a:lnSpc>
                <a:spcPct val="125000"/>
              </a:lnSpc>
            </a:pPr>
            <a:r>
              <a:rPr sz="1050" b="1" i="0" spc="120">
                <a:solidFill>
                  <a:srgbClr val="7B9FE0"/>
                </a:solidFill>
                <a:latin typeface="Inter"/>
              </a:rPr>
              <a:t>TADMUS MISMATCH (CANNON-BOWERS, 1998)</a:t>
            </a:r>
          </a:p>
        </p:txBody>
      </p:sp>
      <p:sp>
        <p:nvSpPr>
          <p:cNvPr id="21" name="TextBox 20"/>
          <p:cNvSpPr txBox="1"/>
          <p:nvPr/>
        </p:nvSpPr>
        <p:spPr>
          <a:xfrm>
            <a:off x="6629400" y="2926080"/>
            <a:ext cx="5029200" cy="3474720"/>
          </a:xfrm>
          <a:prstGeom prst="rect">
            <a:avLst/>
          </a:prstGeom>
          <a:noFill/>
        </p:spPr>
        <p:txBody>
          <a:bodyPr wrap="square" lIns="0" tIns="0" rIns="0" bIns="0" anchor="t">
            <a:spAutoFit/>
          </a:bodyPr>
          <a:lstStyle/>
          <a:p>
            <a:pPr algn="l">
              <a:lnSpc>
                <a:spcPct val="145000"/>
              </a:lnSpc>
            </a:pPr>
            <a:r>
              <a:rPr sz="1050" b="0" i="0" dirty="0">
                <a:solidFill>
                  <a:srgbClr val="C8CDD8"/>
                </a:solidFill>
                <a:latin typeface="Inter"/>
              </a:rPr>
              <a:t>TADMUS (Tactical Decision Making Under Stress) is the Navy funded research program we covered in Week 3. One core principle: operators under pressure need feedback that diagnoses the actual task, not feedback calibrated to a proxy the system happens to be tracking.</a:t>
            </a:r>
          </a:p>
          <a:p>
            <a:pPr algn="l">
              <a:lnSpc>
                <a:spcPct val="145000"/>
              </a:lnSpc>
            </a:pPr>
            <a:endParaRPr sz="1050" b="0" i="0" dirty="0">
              <a:solidFill>
                <a:srgbClr val="C8CDD8"/>
              </a:solidFill>
              <a:latin typeface="Inter"/>
            </a:endParaRPr>
          </a:p>
          <a:p>
            <a:pPr algn="l">
              <a:lnSpc>
                <a:spcPct val="145000"/>
              </a:lnSpc>
            </a:pPr>
            <a:r>
              <a:rPr sz="1050" b="0" i="0" dirty="0">
                <a:solidFill>
                  <a:srgbClr val="C8CDD8"/>
                </a:solidFill>
                <a:latin typeface="Inter"/>
              </a:rPr>
              <a:t>Duolingo's progress display is calibrated to Birdbrain's memorization state. The learner's mental model is of speaking competence. These are two different things. That is the textbook TADMUS mismatch.</a:t>
            </a:r>
          </a:p>
          <a:p>
            <a:pPr algn="l">
              <a:lnSpc>
                <a:spcPct val="145000"/>
              </a:lnSpc>
            </a:pPr>
            <a:endParaRPr sz="1050" b="0" i="0" dirty="0">
              <a:solidFill>
                <a:srgbClr val="C8CDD8"/>
              </a:solidFill>
              <a:latin typeface="Inter"/>
            </a:endParaRPr>
          </a:p>
          <a:p>
            <a:pPr algn="l">
              <a:lnSpc>
                <a:spcPct val="145000"/>
              </a:lnSpc>
            </a:pPr>
            <a:r>
              <a:rPr sz="1050" b="0" i="0" dirty="0">
                <a:solidFill>
                  <a:srgbClr val="C8CDD8"/>
                </a:solidFill>
                <a:latin typeface="Inter"/>
              </a:rPr>
              <a:t>Godwin-Jones (2018) makes the same point in language teaching terms. Duolingo's spaced drill scheduler optimizes for memorizing words, not for using them correctly in real conversation.</a:t>
            </a:r>
          </a:p>
        </p:txBody>
      </p:sp>
      <p:sp>
        <p:nvSpPr>
          <p:cNvPr id="22" name="TextBox 21"/>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3" name="TextBox 22"/>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C27B"/>
                </a:solidFill>
                <a:latin typeface="Inter"/>
              </a:rPr>
              <a:t>PHASE 4 · LEVEL 2 · PRECONDITIONS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The memory system Duolingo never engages.</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Baddeley's Working Memory model has four parts. Duolingo exercises one of them.</a:t>
            </a:r>
          </a:p>
        </p:txBody>
      </p:sp>
      <p:sp>
        <p:nvSpPr>
          <p:cNvPr id="6" name="Rectangle 5"/>
          <p:cNvSpPr/>
          <p:nvPr/>
        </p:nvSpPr>
        <p:spPr>
          <a:xfrm>
            <a:off x="548640" y="2286000"/>
            <a:ext cx="11094415" cy="86868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286000"/>
            <a:ext cx="50800" cy="8686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395728"/>
            <a:ext cx="10682935" cy="274320"/>
          </a:xfrm>
          <a:prstGeom prst="rect">
            <a:avLst/>
          </a:prstGeom>
          <a:noFill/>
        </p:spPr>
        <p:txBody>
          <a:bodyPr wrap="square" lIns="0" tIns="0" rIns="0" bIns="0" anchor="t">
            <a:spAutoFit/>
          </a:bodyPr>
          <a:lstStyle/>
          <a:p>
            <a:pPr algn="l">
              <a:lnSpc>
                <a:spcPct val="125000"/>
              </a:lnSpc>
            </a:pPr>
            <a:r>
              <a:rPr sz="1000" b="1" i="0" spc="120">
                <a:solidFill>
                  <a:srgbClr val="E0C27B"/>
                </a:solidFill>
                <a:latin typeface="Inter"/>
              </a:rPr>
              <a:t>BADDELEY'S WORKING MEMORY, IN PLAIN TERMS</a:t>
            </a:r>
          </a:p>
        </p:txBody>
      </p:sp>
      <p:sp>
        <p:nvSpPr>
          <p:cNvPr id="9" name="TextBox 8"/>
          <p:cNvSpPr txBox="1"/>
          <p:nvPr/>
        </p:nvSpPr>
        <p:spPr>
          <a:xfrm>
            <a:off x="822960" y="2670048"/>
            <a:ext cx="10682935" cy="393192"/>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The Phonological Loop is the part of working memory that rehearses words in your head (repeating a phone number silently). The Episodic Buffer binds what you are hearing right now to everything you already know: the setting, the situation, the meaning. Vocabulary without the Episodic Buffer does not transfer.</a:t>
            </a:r>
          </a:p>
        </p:txBody>
      </p:sp>
      <p:sp>
        <p:nvSpPr>
          <p:cNvPr id="10" name="Rectangle 9"/>
          <p:cNvSpPr/>
          <p:nvPr/>
        </p:nvSpPr>
        <p:spPr>
          <a:xfrm>
            <a:off x="548640" y="3291840"/>
            <a:ext cx="2697480" cy="11887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291840"/>
            <a:ext cx="2697480" cy="3810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429000"/>
            <a:ext cx="2331720" cy="320040"/>
          </a:xfrm>
          <a:prstGeom prst="rect">
            <a:avLst/>
          </a:prstGeom>
          <a:noFill/>
        </p:spPr>
        <p:txBody>
          <a:bodyPr wrap="square" lIns="0" tIns="0" rIns="0" bIns="0" anchor="t">
            <a:spAutoFit/>
          </a:bodyPr>
          <a:lstStyle/>
          <a:p>
            <a:pPr algn="l">
              <a:lnSpc>
                <a:spcPct val="125000"/>
              </a:lnSpc>
            </a:pPr>
            <a:r>
              <a:rPr sz="1000" b="1" i="0" spc="80">
                <a:solidFill>
                  <a:srgbClr val="7BE0B4"/>
                </a:solidFill>
                <a:latin typeface="Inter"/>
              </a:rPr>
              <a:t>PHONOLOGICAL LOOP</a:t>
            </a:r>
          </a:p>
        </p:txBody>
      </p:sp>
      <p:sp>
        <p:nvSpPr>
          <p:cNvPr id="13" name="TextBox 12"/>
          <p:cNvSpPr txBox="1"/>
          <p:nvPr/>
        </p:nvSpPr>
        <p:spPr>
          <a:xfrm>
            <a:off x="731520" y="3794760"/>
            <a:ext cx="2331720" cy="274320"/>
          </a:xfrm>
          <a:prstGeom prst="rect">
            <a:avLst/>
          </a:prstGeom>
          <a:noFill/>
        </p:spPr>
        <p:txBody>
          <a:bodyPr wrap="square" lIns="0" tIns="0" rIns="0" bIns="0" anchor="t">
            <a:spAutoFit/>
          </a:bodyPr>
          <a:lstStyle/>
          <a:p>
            <a:pPr algn="l">
              <a:lnSpc>
                <a:spcPct val="125000"/>
              </a:lnSpc>
            </a:pPr>
            <a:r>
              <a:rPr sz="1000" b="0" i="0">
                <a:solidFill>
                  <a:srgbClr val="C8CDD8"/>
                </a:solidFill>
                <a:latin typeface="Inter"/>
              </a:rPr>
              <a:t>Verbal rehearsal</a:t>
            </a:r>
          </a:p>
        </p:txBody>
      </p:sp>
      <p:sp>
        <p:nvSpPr>
          <p:cNvPr id="14" name="TextBox 13"/>
          <p:cNvSpPr txBox="1"/>
          <p:nvPr/>
        </p:nvSpPr>
        <p:spPr>
          <a:xfrm>
            <a:off x="731520" y="4114800"/>
            <a:ext cx="2331720" cy="274320"/>
          </a:xfrm>
          <a:prstGeom prst="rect">
            <a:avLst/>
          </a:prstGeom>
          <a:noFill/>
        </p:spPr>
        <p:txBody>
          <a:bodyPr wrap="square" lIns="0" tIns="0" rIns="0" bIns="0" anchor="t">
            <a:spAutoFit/>
          </a:bodyPr>
          <a:lstStyle/>
          <a:p>
            <a:pPr algn="l">
              <a:lnSpc>
                <a:spcPct val="125000"/>
              </a:lnSpc>
            </a:pPr>
            <a:r>
              <a:rPr sz="1100" b="1" i="1">
                <a:solidFill>
                  <a:srgbClr val="7BE0B4"/>
                </a:solidFill>
                <a:latin typeface="Inter"/>
              </a:rPr>
              <a:t>Heavily engaged</a:t>
            </a:r>
          </a:p>
        </p:txBody>
      </p:sp>
      <p:sp>
        <p:nvSpPr>
          <p:cNvPr id="15" name="Rectangle 14"/>
          <p:cNvSpPr/>
          <p:nvPr/>
        </p:nvSpPr>
        <p:spPr>
          <a:xfrm>
            <a:off x="3383280" y="3291840"/>
            <a:ext cx="2697480" cy="11887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83280" y="3291840"/>
            <a:ext cx="2697480" cy="38100"/>
          </a:xfrm>
          <a:prstGeom prst="rect">
            <a:avLst/>
          </a:prstGeom>
          <a:solidFill>
            <a:srgbClr val="7A8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6160" y="3429000"/>
            <a:ext cx="2331720" cy="320040"/>
          </a:xfrm>
          <a:prstGeom prst="rect">
            <a:avLst/>
          </a:prstGeom>
          <a:noFill/>
        </p:spPr>
        <p:txBody>
          <a:bodyPr wrap="square" lIns="0" tIns="0" rIns="0" bIns="0" anchor="t">
            <a:spAutoFit/>
          </a:bodyPr>
          <a:lstStyle/>
          <a:p>
            <a:pPr algn="l">
              <a:lnSpc>
                <a:spcPct val="125000"/>
              </a:lnSpc>
            </a:pPr>
            <a:r>
              <a:rPr sz="1000" b="1" i="0" spc="80">
                <a:solidFill>
                  <a:srgbClr val="7A8290"/>
                </a:solidFill>
                <a:latin typeface="Inter"/>
              </a:rPr>
              <a:t>VISUOSPATIAL SKETCHPAD</a:t>
            </a:r>
          </a:p>
        </p:txBody>
      </p:sp>
      <p:sp>
        <p:nvSpPr>
          <p:cNvPr id="18" name="TextBox 17"/>
          <p:cNvSpPr txBox="1"/>
          <p:nvPr/>
        </p:nvSpPr>
        <p:spPr>
          <a:xfrm>
            <a:off x="3566160" y="3794760"/>
            <a:ext cx="2331720" cy="274320"/>
          </a:xfrm>
          <a:prstGeom prst="rect">
            <a:avLst/>
          </a:prstGeom>
          <a:noFill/>
        </p:spPr>
        <p:txBody>
          <a:bodyPr wrap="square" lIns="0" tIns="0" rIns="0" bIns="0" anchor="t">
            <a:spAutoFit/>
          </a:bodyPr>
          <a:lstStyle/>
          <a:p>
            <a:pPr algn="l">
              <a:lnSpc>
                <a:spcPct val="125000"/>
              </a:lnSpc>
            </a:pPr>
            <a:r>
              <a:rPr sz="1000" b="0" i="0">
                <a:solidFill>
                  <a:srgbClr val="C8CDD8"/>
                </a:solidFill>
                <a:latin typeface="Inter"/>
              </a:rPr>
              <a:t>Visual imagery</a:t>
            </a:r>
          </a:p>
        </p:txBody>
      </p:sp>
      <p:sp>
        <p:nvSpPr>
          <p:cNvPr id="19" name="TextBox 18"/>
          <p:cNvSpPr txBox="1"/>
          <p:nvPr/>
        </p:nvSpPr>
        <p:spPr>
          <a:xfrm>
            <a:off x="3566160" y="4114800"/>
            <a:ext cx="2331720" cy="274320"/>
          </a:xfrm>
          <a:prstGeom prst="rect">
            <a:avLst/>
          </a:prstGeom>
          <a:noFill/>
        </p:spPr>
        <p:txBody>
          <a:bodyPr wrap="square" lIns="0" tIns="0" rIns="0" bIns="0" anchor="t">
            <a:spAutoFit/>
          </a:bodyPr>
          <a:lstStyle/>
          <a:p>
            <a:pPr algn="l">
              <a:lnSpc>
                <a:spcPct val="125000"/>
              </a:lnSpc>
            </a:pPr>
            <a:r>
              <a:rPr sz="1100" b="1" i="1">
                <a:solidFill>
                  <a:srgbClr val="7A8290"/>
                </a:solidFill>
                <a:latin typeface="Inter"/>
              </a:rPr>
              <a:t>Partially engaged</a:t>
            </a:r>
          </a:p>
        </p:txBody>
      </p:sp>
      <p:sp>
        <p:nvSpPr>
          <p:cNvPr id="20" name="Rectangle 19"/>
          <p:cNvSpPr/>
          <p:nvPr/>
        </p:nvSpPr>
        <p:spPr>
          <a:xfrm>
            <a:off x="6217920" y="3291840"/>
            <a:ext cx="2697480" cy="11887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3291840"/>
            <a:ext cx="2697480" cy="38100"/>
          </a:xfrm>
          <a:prstGeom prst="rect">
            <a:avLst/>
          </a:prstGeom>
          <a:solidFill>
            <a:srgbClr val="7A82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3429000"/>
            <a:ext cx="2331720" cy="320040"/>
          </a:xfrm>
          <a:prstGeom prst="rect">
            <a:avLst/>
          </a:prstGeom>
          <a:noFill/>
        </p:spPr>
        <p:txBody>
          <a:bodyPr wrap="square" lIns="0" tIns="0" rIns="0" bIns="0" anchor="t">
            <a:spAutoFit/>
          </a:bodyPr>
          <a:lstStyle/>
          <a:p>
            <a:pPr algn="l">
              <a:lnSpc>
                <a:spcPct val="125000"/>
              </a:lnSpc>
            </a:pPr>
            <a:r>
              <a:rPr sz="1000" b="1" i="0" spc="80">
                <a:solidFill>
                  <a:srgbClr val="7A8290"/>
                </a:solidFill>
                <a:latin typeface="Inter"/>
              </a:rPr>
              <a:t>CENTRAL EXECUTIVE</a:t>
            </a:r>
          </a:p>
        </p:txBody>
      </p:sp>
      <p:sp>
        <p:nvSpPr>
          <p:cNvPr id="23" name="TextBox 22"/>
          <p:cNvSpPr txBox="1"/>
          <p:nvPr/>
        </p:nvSpPr>
        <p:spPr>
          <a:xfrm>
            <a:off x="6400800" y="3794760"/>
            <a:ext cx="2331720" cy="274320"/>
          </a:xfrm>
          <a:prstGeom prst="rect">
            <a:avLst/>
          </a:prstGeom>
          <a:noFill/>
        </p:spPr>
        <p:txBody>
          <a:bodyPr wrap="square" lIns="0" tIns="0" rIns="0" bIns="0" anchor="t">
            <a:spAutoFit/>
          </a:bodyPr>
          <a:lstStyle/>
          <a:p>
            <a:pPr algn="l">
              <a:lnSpc>
                <a:spcPct val="125000"/>
              </a:lnSpc>
            </a:pPr>
            <a:r>
              <a:rPr sz="1000" b="0" i="0">
                <a:solidFill>
                  <a:srgbClr val="C8CDD8"/>
                </a:solidFill>
                <a:latin typeface="Inter"/>
              </a:rPr>
              <a:t>Attention and control</a:t>
            </a:r>
          </a:p>
        </p:txBody>
      </p:sp>
      <p:sp>
        <p:nvSpPr>
          <p:cNvPr id="24" name="TextBox 23"/>
          <p:cNvSpPr txBox="1"/>
          <p:nvPr/>
        </p:nvSpPr>
        <p:spPr>
          <a:xfrm>
            <a:off x="6400800" y="4114800"/>
            <a:ext cx="2331720" cy="274320"/>
          </a:xfrm>
          <a:prstGeom prst="rect">
            <a:avLst/>
          </a:prstGeom>
          <a:noFill/>
        </p:spPr>
        <p:txBody>
          <a:bodyPr wrap="square" lIns="0" tIns="0" rIns="0" bIns="0" anchor="t">
            <a:spAutoFit/>
          </a:bodyPr>
          <a:lstStyle/>
          <a:p>
            <a:pPr algn="l">
              <a:lnSpc>
                <a:spcPct val="125000"/>
              </a:lnSpc>
            </a:pPr>
            <a:r>
              <a:rPr sz="1100" b="1" i="1">
                <a:solidFill>
                  <a:srgbClr val="7A8290"/>
                </a:solidFill>
                <a:latin typeface="Inter"/>
              </a:rPr>
              <a:t>Partially engaged</a:t>
            </a:r>
          </a:p>
        </p:txBody>
      </p:sp>
      <p:sp>
        <p:nvSpPr>
          <p:cNvPr id="25" name="Rectangle 24"/>
          <p:cNvSpPr/>
          <p:nvPr/>
        </p:nvSpPr>
        <p:spPr>
          <a:xfrm>
            <a:off x="9052560" y="3291840"/>
            <a:ext cx="2697480" cy="11887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52560" y="3291840"/>
            <a:ext cx="2697480" cy="381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35440" y="3429000"/>
            <a:ext cx="2331720" cy="320040"/>
          </a:xfrm>
          <a:prstGeom prst="rect">
            <a:avLst/>
          </a:prstGeom>
          <a:noFill/>
        </p:spPr>
        <p:txBody>
          <a:bodyPr wrap="square" lIns="0" tIns="0" rIns="0" bIns="0" anchor="t">
            <a:spAutoFit/>
          </a:bodyPr>
          <a:lstStyle/>
          <a:p>
            <a:pPr algn="l">
              <a:lnSpc>
                <a:spcPct val="125000"/>
              </a:lnSpc>
            </a:pPr>
            <a:r>
              <a:rPr sz="1000" b="1" i="0" spc="80">
                <a:solidFill>
                  <a:srgbClr val="E07B7B"/>
                </a:solidFill>
                <a:latin typeface="Inter"/>
              </a:rPr>
              <a:t>EPISODIC BUFFER</a:t>
            </a:r>
          </a:p>
        </p:txBody>
      </p:sp>
      <p:sp>
        <p:nvSpPr>
          <p:cNvPr id="28" name="TextBox 27"/>
          <p:cNvSpPr txBox="1"/>
          <p:nvPr/>
        </p:nvSpPr>
        <p:spPr>
          <a:xfrm>
            <a:off x="9235440" y="3794760"/>
            <a:ext cx="2331720" cy="274320"/>
          </a:xfrm>
          <a:prstGeom prst="rect">
            <a:avLst/>
          </a:prstGeom>
          <a:noFill/>
        </p:spPr>
        <p:txBody>
          <a:bodyPr wrap="square" lIns="0" tIns="0" rIns="0" bIns="0" anchor="t">
            <a:spAutoFit/>
          </a:bodyPr>
          <a:lstStyle/>
          <a:p>
            <a:pPr algn="l">
              <a:lnSpc>
                <a:spcPct val="125000"/>
              </a:lnSpc>
            </a:pPr>
            <a:r>
              <a:rPr sz="1000" b="0" i="0">
                <a:solidFill>
                  <a:srgbClr val="C8CDD8"/>
                </a:solidFill>
                <a:latin typeface="Inter"/>
              </a:rPr>
              <a:t>Binds context and memory</a:t>
            </a:r>
          </a:p>
        </p:txBody>
      </p:sp>
      <p:sp>
        <p:nvSpPr>
          <p:cNvPr id="29" name="TextBox 28"/>
          <p:cNvSpPr txBox="1"/>
          <p:nvPr/>
        </p:nvSpPr>
        <p:spPr>
          <a:xfrm>
            <a:off x="9235440" y="4114800"/>
            <a:ext cx="2331720" cy="274320"/>
          </a:xfrm>
          <a:prstGeom prst="rect">
            <a:avLst/>
          </a:prstGeom>
          <a:noFill/>
        </p:spPr>
        <p:txBody>
          <a:bodyPr wrap="square" lIns="0" tIns="0" rIns="0" bIns="0" anchor="t">
            <a:spAutoFit/>
          </a:bodyPr>
          <a:lstStyle/>
          <a:p>
            <a:pPr algn="l">
              <a:lnSpc>
                <a:spcPct val="125000"/>
              </a:lnSpc>
            </a:pPr>
            <a:r>
              <a:rPr sz="1100" b="1" i="1">
                <a:solidFill>
                  <a:srgbClr val="E07B7B"/>
                </a:solidFill>
                <a:latin typeface="Inter"/>
              </a:rPr>
              <a:t>Never engaged</a:t>
            </a:r>
          </a:p>
        </p:txBody>
      </p:sp>
      <p:sp>
        <p:nvSpPr>
          <p:cNvPr id="30" name="Rectangle 29"/>
          <p:cNvSpPr/>
          <p:nvPr/>
        </p:nvSpPr>
        <p:spPr>
          <a:xfrm>
            <a:off x="548640" y="4663440"/>
            <a:ext cx="5532120" cy="17373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48640" y="4663440"/>
            <a:ext cx="5532120" cy="3810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8680" y="4846320"/>
            <a:ext cx="5029200" cy="320040"/>
          </a:xfrm>
          <a:prstGeom prst="rect">
            <a:avLst/>
          </a:prstGeom>
          <a:noFill/>
        </p:spPr>
        <p:txBody>
          <a:bodyPr wrap="square" lIns="0" tIns="0" rIns="0" bIns="0" anchor="t">
            <a:spAutoFit/>
          </a:bodyPr>
          <a:lstStyle/>
          <a:p>
            <a:pPr algn="l">
              <a:lnSpc>
                <a:spcPct val="125000"/>
              </a:lnSpc>
            </a:pPr>
            <a:r>
              <a:rPr sz="1000" b="1" i="0" spc="120">
                <a:solidFill>
                  <a:srgbClr val="7BE0B4"/>
                </a:solidFill>
                <a:latin typeface="Inter"/>
              </a:rPr>
              <a:t>ESSOE ET AL. (2022) · CONTEXT MATTERS</a:t>
            </a:r>
          </a:p>
        </p:txBody>
      </p:sp>
      <p:sp>
        <p:nvSpPr>
          <p:cNvPr id="33" name="TextBox 32"/>
          <p:cNvSpPr txBox="1"/>
          <p:nvPr/>
        </p:nvSpPr>
        <p:spPr>
          <a:xfrm>
            <a:off x="868680" y="5166360"/>
            <a:ext cx="5029200" cy="640080"/>
          </a:xfrm>
          <a:prstGeom prst="rect">
            <a:avLst/>
          </a:prstGeom>
          <a:noFill/>
        </p:spPr>
        <p:txBody>
          <a:bodyPr wrap="square" lIns="0" tIns="0" rIns="0" bIns="0" anchor="t">
            <a:spAutoFit/>
          </a:bodyPr>
          <a:lstStyle/>
          <a:p>
            <a:pPr algn="l">
              <a:lnSpc>
                <a:spcPct val="125000"/>
              </a:lnSpc>
            </a:pPr>
            <a:r>
              <a:rPr sz="2400" b="1" i="0">
                <a:solidFill>
                  <a:srgbClr val="F0F2F5"/>
                </a:solidFill>
                <a:latin typeface="Inter"/>
              </a:rPr>
              <a:t>92% versus 76%</a:t>
            </a:r>
          </a:p>
        </p:txBody>
      </p:sp>
      <p:sp>
        <p:nvSpPr>
          <p:cNvPr id="34" name="TextBox 33"/>
          <p:cNvSpPr txBox="1"/>
          <p:nvPr/>
        </p:nvSpPr>
        <p:spPr>
          <a:xfrm>
            <a:off x="868680" y="5760720"/>
            <a:ext cx="5029200" cy="59436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One week retention when vocabulary was studied in distinct contexts versus the same context. Also: 38% fewer cross language mix ups.</a:t>
            </a:r>
          </a:p>
        </p:txBody>
      </p:sp>
      <p:sp>
        <p:nvSpPr>
          <p:cNvPr id="35" name="Rectangle 34"/>
          <p:cNvSpPr/>
          <p:nvPr/>
        </p:nvSpPr>
        <p:spPr>
          <a:xfrm>
            <a:off x="6309360" y="4663440"/>
            <a:ext cx="5532120" cy="173736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309360" y="4663440"/>
            <a:ext cx="50800" cy="173736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583680" y="4846320"/>
            <a:ext cx="5120640" cy="1280160"/>
          </a:xfrm>
          <a:prstGeom prst="rect">
            <a:avLst/>
          </a:prstGeom>
          <a:noFill/>
        </p:spPr>
        <p:txBody>
          <a:bodyPr wrap="square" lIns="0" tIns="0" rIns="0" bIns="0" anchor="t">
            <a:spAutoFit/>
          </a:bodyPr>
          <a:lstStyle/>
          <a:p>
            <a:pPr algn="l">
              <a:lnSpc>
                <a:spcPct val="140000"/>
              </a:lnSpc>
            </a:pPr>
            <a:r>
              <a:rPr sz="1300" b="0" i="1">
                <a:solidFill>
                  <a:srgbClr val="F0F2F5"/>
                </a:solidFill>
                <a:latin typeface="Inter"/>
              </a:rPr>
              <a:t>Duolingo's gamified interface looks the same every session. Context binding never happens. This is why short term memorization gains don't turn into long term conversation skill. The Episodic Buffer simply never gets engaged.</a:t>
            </a:r>
          </a:p>
        </p:txBody>
      </p:sp>
      <p:sp>
        <p:nvSpPr>
          <p:cNvPr id="38" name="TextBox 37"/>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39" name="TextBox 38"/>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7B"/>
                </a:solidFill>
                <a:latin typeface="Inter"/>
              </a:rPr>
              <a:t>PHASE 4 · LEVEL 1 · UNSAFE ACTS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The learner acts on the only signal the system displays.</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That signal is the wrong one. The patterns that follow are well studied.</a:t>
            </a:r>
          </a:p>
        </p:txBody>
      </p:sp>
      <p:sp>
        <p:nvSpPr>
          <p:cNvPr id="6" name="Rectangle 5"/>
          <p:cNvSpPr/>
          <p:nvPr/>
        </p:nvSpPr>
        <p:spPr>
          <a:xfrm>
            <a:off x="548640" y="2331720"/>
            <a:ext cx="5532120" cy="14630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331720"/>
            <a:ext cx="50800" cy="146304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423160"/>
            <a:ext cx="5166360" cy="411480"/>
          </a:xfrm>
          <a:prstGeom prst="rect">
            <a:avLst/>
          </a:prstGeom>
          <a:noFill/>
        </p:spPr>
        <p:txBody>
          <a:bodyPr wrap="square" lIns="0" tIns="0" rIns="0" bIns="0" anchor="t">
            <a:spAutoFit/>
          </a:bodyPr>
          <a:lstStyle/>
          <a:p>
            <a:pPr algn="l">
              <a:lnSpc>
                <a:spcPct val="115000"/>
              </a:lnSpc>
            </a:pPr>
            <a:r>
              <a:rPr sz="1200" b="1" i="0" spc="100">
                <a:solidFill>
                  <a:srgbClr val="E07B7B"/>
                </a:solidFill>
                <a:latin typeface="Inter"/>
              </a:rPr>
              <a:t>FALSE ALARM (SDT)</a:t>
            </a:r>
          </a:p>
        </p:txBody>
      </p:sp>
      <p:sp>
        <p:nvSpPr>
          <p:cNvPr id="9" name="TextBox 8"/>
          <p:cNvSpPr txBox="1"/>
          <p:nvPr/>
        </p:nvSpPr>
        <p:spPr>
          <a:xfrm>
            <a:off x="749808" y="2743200"/>
            <a:ext cx="5166360" cy="1005840"/>
          </a:xfrm>
          <a:prstGeom prst="rect">
            <a:avLst/>
          </a:prstGeom>
          <a:noFill/>
        </p:spPr>
        <p:txBody>
          <a:bodyPr wrap="square" lIns="0" tIns="0" rIns="0" bIns="0" anchor="t">
            <a:spAutoFit/>
          </a:bodyPr>
          <a:lstStyle/>
          <a:p>
            <a:pPr algn="l">
              <a:lnSpc>
                <a:spcPct val="140000"/>
              </a:lnSpc>
            </a:pPr>
            <a:r>
              <a:rPr sz="1000" b="0" i="0">
                <a:solidFill>
                  <a:srgbClr val="C8CDD8"/>
                </a:solidFill>
                <a:latin typeface="Inter"/>
              </a:rPr>
              <a:t>In Signal Detection Theory, a false alarm is when the detector says "present" for a signal that isn't actually there. The learner feels confident because XP and streaks are visible. Those signals don't include real speaking ability. The confidence is a false alarm on a signal that was never there.</a:t>
            </a:r>
          </a:p>
        </p:txBody>
      </p:sp>
      <p:sp>
        <p:nvSpPr>
          <p:cNvPr id="10" name="Rectangle 9"/>
          <p:cNvSpPr/>
          <p:nvPr/>
        </p:nvSpPr>
        <p:spPr>
          <a:xfrm>
            <a:off x="6309360" y="2331720"/>
            <a:ext cx="5532120" cy="14630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2331720"/>
            <a:ext cx="50800" cy="146304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2423160"/>
            <a:ext cx="5166360" cy="411480"/>
          </a:xfrm>
          <a:prstGeom prst="rect">
            <a:avLst/>
          </a:prstGeom>
          <a:noFill/>
        </p:spPr>
        <p:txBody>
          <a:bodyPr wrap="square" lIns="0" tIns="0" rIns="0" bIns="0" anchor="t">
            <a:spAutoFit/>
          </a:bodyPr>
          <a:lstStyle/>
          <a:p>
            <a:pPr algn="l">
              <a:lnSpc>
                <a:spcPct val="115000"/>
              </a:lnSpc>
            </a:pPr>
            <a:r>
              <a:rPr sz="1200" b="1" i="0" spc="100">
                <a:solidFill>
                  <a:srgbClr val="E07BAA"/>
                </a:solidFill>
                <a:latin typeface="Inter"/>
              </a:rPr>
              <a:t>KORNELL (2008) · THE CONFIDENCE PROBLEM</a:t>
            </a:r>
          </a:p>
        </p:txBody>
      </p:sp>
      <p:sp>
        <p:nvSpPr>
          <p:cNvPr id="13" name="TextBox 12"/>
          <p:cNvSpPr txBox="1"/>
          <p:nvPr/>
        </p:nvSpPr>
        <p:spPr>
          <a:xfrm>
            <a:off x="6510528" y="2743200"/>
            <a:ext cx="5166360" cy="1005840"/>
          </a:xfrm>
          <a:prstGeom prst="rect">
            <a:avLst/>
          </a:prstGeom>
          <a:noFill/>
        </p:spPr>
        <p:txBody>
          <a:bodyPr wrap="square" lIns="0" tIns="0" rIns="0" bIns="0" anchor="t">
            <a:spAutoFit/>
          </a:bodyPr>
          <a:lstStyle/>
          <a:p>
            <a:pPr algn="l">
              <a:lnSpc>
                <a:spcPct val="140000"/>
              </a:lnSpc>
            </a:pPr>
            <a:r>
              <a:rPr sz="1000" b="0" i="0">
                <a:solidFill>
                  <a:srgbClr val="C8CDD8"/>
                </a:solidFill>
                <a:latin typeface="Inter"/>
              </a:rPr>
              <a:t>"Even after testing, and contrary to their own test performance, participants rated massing as more effective than spacing." Learners cannot tell what is working. They rely on what the system shows them, and the system is showing them the wrong thing.</a:t>
            </a:r>
          </a:p>
        </p:txBody>
      </p:sp>
      <p:sp>
        <p:nvSpPr>
          <p:cNvPr id="14" name="Rectangle 13"/>
          <p:cNvSpPr/>
          <p:nvPr/>
        </p:nvSpPr>
        <p:spPr>
          <a:xfrm>
            <a:off x="548640" y="3886200"/>
            <a:ext cx="5532120" cy="14630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886200"/>
            <a:ext cx="50800" cy="146304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977639"/>
            <a:ext cx="5166360" cy="411480"/>
          </a:xfrm>
          <a:prstGeom prst="rect">
            <a:avLst/>
          </a:prstGeom>
          <a:noFill/>
        </p:spPr>
        <p:txBody>
          <a:bodyPr wrap="square" lIns="0" tIns="0" rIns="0" bIns="0" anchor="t">
            <a:spAutoFit/>
          </a:bodyPr>
          <a:lstStyle/>
          <a:p>
            <a:pPr algn="l">
              <a:lnSpc>
                <a:spcPct val="115000"/>
              </a:lnSpc>
            </a:pPr>
            <a:r>
              <a:rPr sz="1200" b="1" i="0" spc="100">
                <a:solidFill>
                  <a:srgbClr val="E0C27B"/>
                </a:solidFill>
                <a:latin typeface="Inter"/>
              </a:rPr>
              <a:t>KRISTENSEN (2024) · ERROR REPETITION</a:t>
            </a:r>
          </a:p>
        </p:txBody>
      </p:sp>
      <p:sp>
        <p:nvSpPr>
          <p:cNvPr id="17" name="TextBox 16"/>
          <p:cNvSpPr txBox="1"/>
          <p:nvPr/>
        </p:nvSpPr>
        <p:spPr>
          <a:xfrm>
            <a:off x="749808" y="4297680"/>
            <a:ext cx="5166360" cy="1005840"/>
          </a:xfrm>
          <a:prstGeom prst="rect">
            <a:avLst/>
          </a:prstGeom>
          <a:noFill/>
        </p:spPr>
        <p:txBody>
          <a:bodyPr wrap="square" lIns="0" tIns="0" rIns="0" bIns="0" anchor="t">
            <a:spAutoFit/>
          </a:bodyPr>
          <a:lstStyle/>
          <a:p>
            <a:pPr algn="l">
              <a:lnSpc>
                <a:spcPct val="140000"/>
              </a:lnSpc>
            </a:pPr>
            <a:r>
              <a:rPr sz="1000" b="0" i="0">
                <a:solidFill>
                  <a:srgbClr val="C8CDD8"/>
                </a:solidFill>
                <a:latin typeface="Inter"/>
              </a:rPr>
              <a:t>"The propensity to repeat mistakes remained stable over time." More app time did not reduce the pattern. Caveat: this study sampled Norwegian second graders. We use it for the mechanism, not as evidence about adults specifically.</a:t>
            </a:r>
          </a:p>
        </p:txBody>
      </p:sp>
      <p:sp>
        <p:nvSpPr>
          <p:cNvPr id="18" name="Rectangle 17"/>
          <p:cNvSpPr/>
          <p:nvPr/>
        </p:nvSpPr>
        <p:spPr>
          <a:xfrm>
            <a:off x="6309360" y="3886200"/>
            <a:ext cx="5532120" cy="14630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309360" y="3886200"/>
            <a:ext cx="50800" cy="146304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10528" y="3977639"/>
            <a:ext cx="5166360" cy="411480"/>
          </a:xfrm>
          <a:prstGeom prst="rect">
            <a:avLst/>
          </a:prstGeom>
          <a:noFill/>
        </p:spPr>
        <p:txBody>
          <a:bodyPr wrap="square" lIns="0" tIns="0" rIns="0" bIns="0" anchor="t">
            <a:spAutoFit/>
          </a:bodyPr>
          <a:lstStyle/>
          <a:p>
            <a:pPr algn="l">
              <a:lnSpc>
                <a:spcPct val="115000"/>
              </a:lnSpc>
            </a:pPr>
            <a:r>
              <a:rPr sz="1200" b="1" i="0" spc="100">
                <a:solidFill>
                  <a:srgbClr val="7B9FE0"/>
                </a:solidFill>
                <a:latin typeface="Inter"/>
              </a:rPr>
              <a:t>PLAN CONTINUATION BIAS</a:t>
            </a:r>
          </a:p>
        </p:txBody>
      </p:sp>
      <p:sp>
        <p:nvSpPr>
          <p:cNvPr id="21" name="TextBox 20"/>
          <p:cNvSpPr txBox="1"/>
          <p:nvPr/>
        </p:nvSpPr>
        <p:spPr>
          <a:xfrm>
            <a:off x="6510528" y="4297680"/>
            <a:ext cx="5166360" cy="1005840"/>
          </a:xfrm>
          <a:prstGeom prst="rect">
            <a:avLst/>
          </a:prstGeom>
          <a:noFill/>
        </p:spPr>
        <p:txBody>
          <a:bodyPr wrap="square" lIns="0" tIns="0" rIns="0" bIns="0" anchor="t">
            <a:spAutoFit/>
          </a:bodyPr>
          <a:lstStyle/>
          <a:p>
            <a:pPr algn="l">
              <a:lnSpc>
                <a:spcPct val="140000"/>
              </a:lnSpc>
            </a:pPr>
            <a:r>
              <a:rPr sz="1000" b="0" i="0">
                <a:solidFill>
                  <a:srgbClr val="C8CDD8"/>
                </a:solidFill>
                <a:latin typeface="Inter"/>
              </a:rPr>
              <a:t>A well documented pattern we covered in Week 4 (Air India Express 812). People keep executing a plan even after the evidence says to stop. Learners keep extending streaks past mounting evidence of no real transfer, because the system suppresses the signals that would argue for a change.</a:t>
            </a:r>
          </a:p>
        </p:txBody>
      </p:sp>
      <p:sp>
        <p:nvSpPr>
          <p:cNvPr id="22" name="Rectangle 21"/>
          <p:cNvSpPr/>
          <p:nvPr/>
        </p:nvSpPr>
        <p:spPr>
          <a:xfrm>
            <a:off x="548640" y="5486400"/>
            <a:ext cx="11094415" cy="91440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5486400"/>
            <a:ext cx="50800" cy="9144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577840"/>
            <a:ext cx="10682935" cy="274320"/>
          </a:xfrm>
          <a:prstGeom prst="rect">
            <a:avLst/>
          </a:prstGeom>
          <a:noFill/>
        </p:spPr>
        <p:txBody>
          <a:bodyPr wrap="square" lIns="0" tIns="0" rIns="0" bIns="0" anchor="t">
            <a:spAutoFit/>
          </a:bodyPr>
          <a:lstStyle/>
          <a:p>
            <a:pPr algn="l">
              <a:lnSpc>
                <a:spcPct val="125000"/>
              </a:lnSpc>
            </a:pPr>
            <a:r>
              <a:rPr sz="1000" b="1" i="0" spc="120">
                <a:solidFill>
                  <a:srgbClr val="E07B7B"/>
                </a:solidFill>
                <a:latin typeface="Inter"/>
              </a:rPr>
              <a:t>FUNDAMENTAL ATTRIBUTION ERROR</a:t>
            </a:r>
          </a:p>
        </p:txBody>
      </p:sp>
      <p:sp>
        <p:nvSpPr>
          <p:cNvPr id="25" name="TextBox 24"/>
          <p:cNvSpPr txBox="1"/>
          <p:nvPr/>
        </p:nvSpPr>
        <p:spPr>
          <a:xfrm>
            <a:off x="822960" y="5852160"/>
            <a:ext cx="10682935" cy="50292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From Week 9: blaming a person's character for behavior that was actually caused by the situation around them. Calling the learner "lazy" for missing a streak is textbook FAE when the system design never gave them a real signal to act on.</a:t>
            </a:r>
          </a:p>
        </p:txBody>
      </p:sp>
      <p:sp>
        <p:nvSpPr>
          <p:cNvPr id="26" name="TextBox 25"/>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27" name="TextBox 26"/>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7BAA"/>
                </a:solidFill>
                <a:latin typeface="Inter"/>
              </a:rPr>
              <a:t>PHASE 4 · FAIL POINT MAP</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The holes line up. Name the enemy.</a:t>
            </a:r>
          </a:p>
        </p:txBody>
      </p:sp>
      <p:sp>
        <p:nvSpPr>
          <p:cNvPr id="5" name="Rounded Rectangle 4"/>
          <p:cNvSpPr/>
          <p:nvPr/>
        </p:nvSpPr>
        <p:spPr>
          <a:xfrm>
            <a:off x="548640" y="2194560"/>
            <a:ext cx="5669280" cy="777240"/>
          </a:xfrm>
          <a:prstGeom prst="roundRect">
            <a:avLst>
              <a:gd name="adj" fmla="val 7000"/>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423160"/>
            <a:ext cx="3931920" cy="365760"/>
          </a:xfrm>
          <a:prstGeom prst="rect">
            <a:avLst/>
          </a:prstGeom>
          <a:noFill/>
        </p:spPr>
        <p:txBody>
          <a:bodyPr wrap="square" lIns="0" tIns="0" rIns="0" bIns="0" anchor="t">
            <a:spAutoFit/>
          </a:bodyPr>
          <a:lstStyle/>
          <a:p>
            <a:pPr algn="l">
              <a:lnSpc>
                <a:spcPct val="110000"/>
              </a:lnSpc>
            </a:pPr>
            <a:r>
              <a:rPr b="1" sz="1100">
                <a:solidFill>
                  <a:srgbClr val="E07B7B"/>
                </a:solidFill>
              </a:rPr>
              <a:t>L1 · THE LEARNER HAS NO REAL SIGNAL</a:t>
            </a:r>
          </a:p>
        </p:txBody>
      </p:sp>
      <p:sp>
        <p:nvSpPr>
          <p:cNvPr id="8" name="Rounded Rectangle 7"/>
          <p:cNvSpPr/>
          <p:nvPr/>
        </p:nvSpPr>
        <p:spPr>
          <a:xfrm>
            <a:off x="548640" y="3063240"/>
            <a:ext cx="5669280" cy="777240"/>
          </a:xfrm>
          <a:prstGeom prst="roundRect">
            <a:avLst>
              <a:gd name="adj" fmla="val 7000"/>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3291840"/>
            <a:ext cx="3931920" cy="365760"/>
          </a:xfrm>
          <a:prstGeom prst="rect">
            <a:avLst/>
          </a:prstGeom>
          <a:noFill/>
        </p:spPr>
        <p:txBody>
          <a:bodyPr wrap="square" lIns="0" tIns="0" rIns="0" bIns="0" anchor="t">
            <a:spAutoFit/>
          </a:bodyPr>
          <a:lstStyle/>
          <a:p>
            <a:pPr algn="l">
              <a:lnSpc>
                <a:spcPct val="110000"/>
              </a:lnSpc>
            </a:pPr>
            <a:r>
              <a:rPr b="1" sz="1100">
                <a:solidFill>
                  <a:srgbClr val="E0C27B"/>
                </a:solidFill>
              </a:rPr>
              <a:t>L2 · EPISODIC BUFFER NEVER ENGAGED</a:t>
            </a:r>
          </a:p>
        </p:txBody>
      </p:sp>
      <p:sp>
        <p:nvSpPr>
          <p:cNvPr id="11" name="Rounded Rectangle 10"/>
          <p:cNvSpPr/>
          <p:nvPr/>
        </p:nvSpPr>
        <p:spPr>
          <a:xfrm>
            <a:off x="548640" y="3931920"/>
            <a:ext cx="5669280" cy="777240"/>
          </a:xfrm>
          <a:prstGeom prst="roundRect">
            <a:avLst>
              <a:gd name="adj" fmla="val 7000"/>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4160520"/>
            <a:ext cx="3931920" cy="365760"/>
          </a:xfrm>
          <a:prstGeom prst="rect">
            <a:avLst/>
          </a:prstGeom>
          <a:noFill/>
        </p:spPr>
        <p:txBody>
          <a:bodyPr wrap="square" lIns="0" tIns="0" rIns="0" bIns="0" anchor="t">
            <a:spAutoFit/>
          </a:bodyPr>
          <a:lstStyle/>
          <a:p>
            <a:pPr algn="l">
              <a:lnSpc>
                <a:spcPct val="110000"/>
              </a:lnSpc>
            </a:pPr>
            <a:r>
              <a:rPr b="1" sz="1100">
                <a:solidFill>
                  <a:srgbClr val="E07BAA"/>
                </a:solidFill>
              </a:rPr>
              <a:t>L3 · BIRDBRAIN OPTIMIZES ITEM CORRECTNESS</a:t>
            </a:r>
          </a:p>
        </p:txBody>
      </p:sp>
      <p:sp>
        <p:nvSpPr>
          <p:cNvPr id="14" name="Rounded Rectangle 13"/>
          <p:cNvSpPr/>
          <p:nvPr/>
        </p:nvSpPr>
        <p:spPr>
          <a:xfrm>
            <a:off x="548640" y="4800600"/>
            <a:ext cx="5669280" cy="777240"/>
          </a:xfrm>
          <a:prstGeom prst="roundRect">
            <a:avLst>
              <a:gd name="adj" fmla="val 7000"/>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5029200"/>
            <a:ext cx="3931920" cy="365760"/>
          </a:xfrm>
          <a:prstGeom prst="rect">
            <a:avLst/>
          </a:prstGeom>
          <a:noFill/>
        </p:spPr>
        <p:txBody>
          <a:bodyPr wrap="square" lIns="0" tIns="0" rIns="0" bIns="0" anchor="t">
            <a:spAutoFit/>
          </a:bodyPr>
          <a:lstStyle/>
          <a:p>
            <a:pPr algn="l">
              <a:lnSpc>
                <a:spcPct val="110000"/>
              </a:lnSpc>
            </a:pPr>
            <a:r>
              <a:rPr b="1" sz="1100">
                <a:solidFill>
                  <a:srgbClr val="7B9FE0"/>
                </a:solidFill>
              </a:rPr>
              <a:t>L4 · DAILY ACTIVE USER METRIC EXCLUDES SPEAKING</a:t>
            </a:r>
          </a:p>
        </p:txBody>
      </p:sp>
      <p:sp>
        <p:nvSpPr>
          <p:cNvPr id="17" name="TextBox 16"/>
          <p:cNvSpPr txBox="1"/>
          <p:nvPr/>
        </p:nvSpPr>
        <p:spPr>
          <a:xfrm>
            <a:off x="5989320" y="5650992"/>
            <a:ext cx="365760" cy="384048"/>
          </a:xfrm>
          <a:prstGeom prst="rect">
            <a:avLst/>
          </a:prstGeom>
          <a:noFill/>
        </p:spPr>
        <p:txBody>
          <a:bodyPr wrap="square" lIns="0" tIns="0" rIns="0" bIns="0" anchor="t">
            <a:spAutoFit/>
          </a:bodyPr>
          <a:lstStyle/>
          <a:p>
            <a:pPr algn="ctr">
              <a:lnSpc>
                <a:spcPct val="125000"/>
              </a:lnSpc>
            </a:pPr>
            <a:r>
              <a:rPr sz="3000" b="1" i="0">
                <a:solidFill>
                  <a:srgbClr val="E07B7B"/>
                </a:solidFill>
                <a:latin typeface="Inter"/>
              </a:rPr>
              <a:t>↓</a:t>
            </a:r>
          </a:p>
        </p:txBody>
      </p:sp>
      <p:sp>
        <p:nvSpPr>
          <p:cNvPr id="18" name="Rectangle 17"/>
          <p:cNvSpPr/>
          <p:nvPr/>
        </p:nvSpPr>
        <p:spPr>
          <a:xfrm>
            <a:off x="6492240" y="2194560"/>
            <a:ext cx="5303520" cy="9144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492240" y="2194560"/>
            <a:ext cx="50800" cy="9144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0" y="2286000"/>
            <a:ext cx="457200" cy="365760"/>
          </a:xfrm>
          <a:prstGeom prst="rect">
            <a:avLst/>
          </a:prstGeom>
          <a:noFill/>
        </p:spPr>
        <p:txBody>
          <a:bodyPr wrap="square" lIns="0" tIns="0" rIns="0" bIns="0" anchor="t">
            <a:spAutoFit/>
          </a:bodyPr>
          <a:lstStyle/>
          <a:p>
            <a:pPr algn="l">
              <a:lnSpc>
                <a:spcPct val="125000"/>
              </a:lnSpc>
            </a:pPr>
            <a:r>
              <a:rPr sz="1600" b="1" i="0">
                <a:solidFill>
                  <a:srgbClr val="E07B7B"/>
                </a:solidFill>
                <a:latin typeface="Inter"/>
              </a:rPr>
              <a:t>01</a:t>
            </a:r>
          </a:p>
        </p:txBody>
      </p:sp>
      <p:sp>
        <p:nvSpPr>
          <p:cNvPr id="21" name="TextBox 20"/>
          <p:cNvSpPr txBox="1"/>
          <p:nvPr/>
        </p:nvSpPr>
        <p:spPr>
          <a:xfrm>
            <a:off x="7132320" y="2304288"/>
            <a:ext cx="4572000" cy="365760"/>
          </a:xfrm>
          <a:prstGeom prst="rect">
            <a:avLst/>
          </a:prstGeom>
          <a:noFill/>
        </p:spPr>
        <p:txBody>
          <a:bodyPr wrap="square" lIns="0" tIns="0" rIns="0" bIns="0" anchor="t">
            <a:spAutoFit/>
          </a:bodyPr>
          <a:lstStyle/>
          <a:p>
            <a:pPr algn="l">
              <a:lnSpc>
                <a:spcPct val="125000"/>
              </a:lnSpc>
            </a:pPr>
            <a:r>
              <a:rPr sz="1100" b="1" i="0" spc="100">
                <a:solidFill>
                  <a:srgbClr val="E07B7B"/>
                </a:solidFill>
                <a:latin typeface="Inter"/>
              </a:rPr>
              <a:t>THE ISOLATED DRILL</a:t>
            </a:r>
          </a:p>
        </p:txBody>
      </p:sp>
      <p:sp>
        <p:nvSpPr>
          <p:cNvPr id="22" name="TextBox 21"/>
          <p:cNvSpPr txBox="1"/>
          <p:nvPr/>
        </p:nvSpPr>
        <p:spPr>
          <a:xfrm>
            <a:off x="7132320" y="2606040"/>
            <a:ext cx="4572000" cy="457200"/>
          </a:xfrm>
          <a:prstGeom prst="rect">
            <a:avLst/>
          </a:prstGeom>
          <a:noFill/>
        </p:spPr>
        <p:txBody>
          <a:bodyPr wrap="square" lIns="0" tIns="0" rIns="0" bIns="0" anchor="t">
            <a:spAutoFit/>
          </a:bodyPr>
          <a:lstStyle/>
          <a:p>
            <a:pPr algn="l">
              <a:lnSpc>
                <a:spcPct val="135000"/>
              </a:lnSpc>
            </a:pPr>
            <a:r>
              <a:rPr sz="1050" b="0" i="0">
                <a:solidFill>
                  <a:srgbClr val="C8CDD8"/>
                </a:solidFill>
                <a:latin typeface="Inter"/>
              </a:rPr>
              <a:t>Vocabulary taught as isolated items, never embedded in a real situation.</a:t>
            </a:r>
          </a:p>
        </p:txBody>
      </p:sp>
      <p:sp>
        <p:nvSpPr>
          <p:cNvPr id="23" name="Rectangle 22"/>
          <p:cNvSpPr/>
          <p:nvPr/>
        </p:nvSpPr>
        <p:spPr>
          <a:xfrm>
            <a:off x="6492240" y="3200400"/>
            <a:ext cx="5303520" cy="9144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92240" y="3200400"/>
            <a:ext cx="50800" cy="9144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0" y="3291840"/>
            <a:ext cx="457200" cy="365760"/>
          </a:xfrm>
          <a:prstGeom prst="rect">
            <a:avLst/>
          </a:prstGeom>
          <a:noFill/>
        </p:spPr>
        <p:txBody>
          <a:bodyPr wrap="square" lIns="0" tIns="0" rIns="0" bIns="0" anchor="t">
            <a:spAutoFit/>
          </a:bodyPr>
          <a:lstStyle/>
          <a:p>
            <a:pPr algn="l">
              <a:lnSpc>
                <a:spcPct val="125000"/>
              </a:lnSpc>
            </a:pPr>
            <a:r>
              <a:rPr sz="1600" b="1" i="0">
                <a:solidFill>
                  <a:srgbClr val="E0C27B"/>
                </a:solidFill>
                <a:latin typeface="Inter"/>
              </a:rPr>
              <a:t>02</a:t>
            </a:r>
          </a:p>
        </p:txBody>
      </p:sp>
      <p:sp>
        <p:nvSpPr>
          <p:cNvPr id="26" name="TextBox 25"/>
          <p:cNvSpPr txBox="1"/>
          <p:nvPr/>
        </p:nvSpPr>
        <p:spPr>
          <a:xfrm>
            <a:off x="7132320" y="3310128"/>
            <a:ext cx="4572000" cy="365760"/>
          </a:xfrm>
          <a:prstGeom prst="rect">
            <a:avLst/>
          </a:prstGeom>
          <a:noFill/>
        </p:spPr>
        <p:txBody>
          <a:bodyPr wrap="square" lIns="0" tIns="0" rIns="0" bIns="0" anchor="t">
            <a:spAutoFit/>
          </a:bodyPr>
          <a:lstStyle/>
          <a:p>
            <a:pPr algn="l">
              <a:lnSpc>
                <a:spcPct val="125000"/>
              </a:lnSpc>
            </a:pPr>
            <a:r>
              <a:rPr sz="1100" b="1" i="0" spc="100">
                <a:solidFill>
                  <a:srgbClr val="E0C27B"/>
                </a:solidFill>
                <a:latin typeface="Inter"/>
              </a:rPr>
              <a:t>THE WRONG SIGNAL</a:t>
            </a:r>
          </a:p>
        </p:txBody>
      </p:sp>
      <p:sp>
        <p:nvSpPr>
          <p:cNvPr id="27" name="TextBox 26"/>
          <p:cNvSpPr txBox="1"/>
          <p:nvPr/>
        </p:nvSpPr>
        <p:spPr>
          <a:xfrm>
            <a:off x="7132320" y="3611880"/>
            <a:ext cx="4572000" cy="457200"/>
          </a:xfrm>
          <a:prstGeom prst="rect">
            <a:avLst/>
          </a:prstGeom>
          <a:noFill/>
        </p:spPr>
        <p:txBody>
          <a:bodyPr wrap="square" lIns="0" tIns="0" rIns="0" bIns="0" anchor="t">
            <a:spAutoFit/>
          </a:bodyPr>
          <a:lstStyle/>
          <a:p>
            <a:pPr algn="l">
              <a:lnSpc>
                <a:spcPct val="135000"/>
              </a:lnSpc>
            </a:pPr>
            <a:r>
              <a:rPr sz="1050" b="0" i="0">
                <a:solidFill>
                  <a:srgbClr val="C8CDD8"/>
                </a:solidFill>
                <a:latin typeface="Inter"/>
              </a:rPr>
              <a:t>Confident feedback about XP and streaks. The wrong variable, amplified.</a:t>
            </a:r>
          </a:p>
        </p:txBody>
      </p:sp>
      <p:sp>
        <p:nvSpPr>
          <p:cNvPr id="28" name="Rectangle 27"/>
          <p:cNvSpPr/>
          <p:nvPr/>
        </p:nvSpPr>
        <p:spPr>
          <a:xfrm>
            <a:off x="6492240" y="4206240"/>
            <a:ext cx="5303520" cy="9144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92240" y="4206240"/>
            <a:ext cx="50800" cy="91440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675120" y="4297680"/>
            <a:ext cx="457200" cy="365760"/>
          </a:xfrm>
          <a:prstGeom prst="rect">
            <a:avLst/>
          </a:prstGeom>
          <a:noFill/>
        </p:spPr>
        <p:txBody>
          <a:bodyPr wrap="square" lIns="0" tIns="0" rIns="0" bIns="0" anchor="t">
            <a:spAutoFit/>
          </a:bodyPr>
          <a:lstStyle/>
          <a:p>
            <a:pPr algn="l">
              <a:lnSpc>
                <a:spcPct val="125000"/>
              </a:lnSpc>
            </a:pPr>
            <a:r>
              <a:rPr sz="1600" b="1" i="0">
                <a:solidFill>
                  <a:srgbClr val="E07BAA"/>
                </a:solidFill>
                <a:latin typeface="Inter"/>
              </a:rPr>
              <a:t>03</a:t>
            </a:r>
          </a:p>
        </p:txBody>
      </p:sp>
      <p:sp>
        <p:nvSpPr>
          <p:cNvPr id="31" name="TextBox 30"/>
          <p:cNvSpPr txBox="1"/>
          <p:nvPr/>
        </p:nvSpPr>
        <p:spPr>
          <a:xfrm>
            <a:off x="7132320" y="4315968"/>
            <a:ext cx="4572000" cy="365760"/>
          </a:xfrm>
          <a:prstGeom prst="rect">
            <a:avLst/>
          </a:prstGeom>
          <a:noFill/>
        </p:spPr>
        <p:txBody>
          <a:bodyPr wrap="square" lIns="0" tIns="0" rIns="0" bIns="0" anchor="t">
            <a:spAutoFit/>
          </a:bodyPr>
          <a:lstStyle/>
          <a:p>
            <a:pPr algn="l">
              <a:lnSpc>
                <a:spcPct val="125000"/>
              </a:lnSpc>
            </a:pPr>
            <a:r>
              <a:rPr sz="1100" b="1" i="0" spc="100">
                <a:solidFill>
                  <a:srgbClr val="E07BAA"/>
                </a:solidFill>
                <a:latin typeface="Inter"/>
              </a:rPr>
              <a:t>THE RECEPTIVE ONLY EVIDENCE BASE</a:t>
            </a:r>
          </a:p>
        </p:txBody>
      </p:sp>
      <p:sp>
        <p:nvSpPr>
          <p:cNvPr id="32" name="TextBox 31"/>
          <p:cNvSpPr txBox="1"/>
          <p:nvPr/>
        </p:nvSpPr>
        <p:spPr>
          <a:xfrm>
            <a:off x="7132320" y="4617720"/>
            <a:ext cx="4572000" cy="457200"/>
          </a:xfrm>
          <a:prstGeom prst="rect">
            <a:avLst/>
          </a:prstGeom>
          <a:noFill/>
        </p:spPr>
        <p:txBody>
          <a:bodyPr wrap="square" lIns="0" tIns="0" rIns="0" bIns="0" anchor="t">
            <a:spAutoFit/>
          </a:bodyPr>
          <a:lstStyle/>
          <a:p>
            <a:pPr algn="l">
              <a:lnSpc>
                <a:spcPct val="135000"/>
              </a:lnSpc>
            </a:pPr>
            <a:r>
              <a:rPr sz="1050" b="0" i="0">
                <a:solidFill>
                  <a:srgbClr val="C8CDD8"/>
                </a:solidFill>
                <a:latin typeface="Inter"/>
              </a:rPr>
              <a:t>Published outcome research covers reading and listening. Speaking is unsupervised by design.</a:t>
            </a:r>
          </a:p>
        </p:txBody>
      </p:sp>
      <p:sp>
        <p:nvSpPr>
          <p:cNvPr id="33" name="Rectangle 32"/>
          <p:cNvSpPr/>
          <p:nvPr/>
        </p:nvSpPr>
        <p:spPr>
          <a:xfrm>
            <a:off x="6492240" y="5212080"/>
            <a:ext cx="5303520" cy="9144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492240" y="5212080"/>
            <a:ext cx="50800" cy="9144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0" y="5303520"/>
            <a:ext cx="457200" cy="365760"/>
          </a:xfrm>
          <a:prstGeom prst="rect">
            <a:avLst/>
          </a:prstGeom>
          <a:noFill/>
        </p:spPr>
        <p:txBody>
          <a:bodyPr wrap="square" lIns="0" tIns="0" rIns="0" bIns="0" anchor="t">
            <a:spAutoFit/>
          </a:bodyPr>
          <a:lstStyle/>
          <a:p>
            <a:pPr algn="l">
              <a:lnSpc>
                <a:spcPct val="125000"/>
              </a:lnSpc>
            </a:pPr>
            <a:r>
              <a:rPr sz="1600" b="1" i="0">
                <a:solidFill>
                  <a:srgbClr val="7B9FE0"/>
                </a:solidFill>
                <a:latin typeface="Inter"/>
              </a:rPr>
              <a:t>04</a:t>
            </a:r>
          </a:p>
        </p:txBody>
      </p:sp>
      <p:sp>
        <p:nvSpPr>
          <p:cNvPr id="36" name="TextBox 35"/>
          <p:cNvSpPr txBox="1"/>
          <p:nvPr/>
        </p:nvSpPr>
        <p:spPr>
          <a:xfrm>
            <a:off x="7132320" y="5321808"/>
            <a:ext cx="4572000" cy="365760"/>
          </a:xfrm>
          <a:prstGeom prst="rect">
            <a:avLst/>
          </a:prstGeom>
          <a:noFill/>
        </p:spPr>
        <p:txBody>
          <a:bodyPr wrap="square" lIns="0" tIns="0" rIns="0" bIns="0" anchor="t">
            <a:spAutoFit/>
          </a:bodyPr>
          <a:lstStyle/>
          <a:p>
            <a:pPr algn="l">
              <a:lnSpc>
                <a:spcPct val="125000"/>
              </a:lnSpc>
            </a:pPr>
            <a:r>
              <a:rPr sz="1100" b="1" i="0" spc="100">
                <a:solidFill>
                  <a:srgbClr val="7B9FE0"/>
                </a:solidFill>
                <a:latin typeface="Inter"/>
              </a:rPr>
              <a:t>THE ALIGNED HOLES</a:t>
            </a:r>
          </a:p>
        </p:txBody>
      </p:sp>
      <p:sp>
        <p:nvSpPr>
          <p:cNvPr id="37" name="TextBox 36"/>
          <p:cNvSpPr txBox="1"/>
          <p:nvPr/>
        </p:nvSpPr>
        <p:spPr>
          <a:xfrm>
            <a:off x="7132320" y="5623560"/>
            <a:ext cx="4572000" cy="457200"/>
          </a:xfrm>
          <a:prstGeom prst="rect">
            <a:avLst/>
          </a:prstGeom>
          <a:noFill/>
        </p:spPr>
        <p:txBody>
          <a:bodyPr wrap="square" lIns="0" tIns="0" rIns="0" bIns="0" anchor="t">
            <a:spAutoFit/>
          </a:bodyPr>
          <a:lstStyle/>
          <a:p>
            <a:pPr algn="l">
              <a:lnSpc>
                <a:spcPct val="135000"/>
              </a:lnSpc>
            </a:pPr>
            <a:r>
              <a:rPr sz="1050" b="0" i="0">
                <a:solidFill>
                  <a:srgbClr val="C8CDD8"/>
                </a:solidFill>
                <a:latin typeface="Inter"/>
              </a:rPr>
              <a:t>Fix one layer alone and the cheese still lines up. The redesign has to span layers.</a:t>
            </a:r>
          </a:p>
        </p:txBody>
      </p:sp>
      <p:sp>
        <p:nvSpPr>
          <p:cNvPr id="38" name="TextBox 37"/>
          <p:cNvSpPr txBox="1"/>
          <p:nvPr/>
        </p:nvSpPr>
        <p:spPr>
          <a:xfrm>
            <a:off x="548640" y="6199632"/>
            <a:ext cx="11094415" cy="365760"/>
          </a:xfrm>
          <a:prstGeom prst="rect">
            <a:avLst/>
          </a:prstGeom>
          <a:noFill/>
        </p:spPr>
        <p:txBody>
          <a:bodyPr wrap="square" lIns="0" tIns="0" rIns="0" bIns="0" anchor="t">
            <a:spAutoFit/>
          </a:bodyPr>
          <a:lstStyle/>
          <a:p>
            <a:pPr algn="ctr">
              <a:lnSpc>
                <a:spcPct val="125000"/>
              </a:lnSpc>
            </a:pPr>
            <a:r>
              <a:rPr sz="1100" b="0" i="1">
                <a:solidFill>
                  <a:srgbClr val="7A8290"/>
                </a:solidFill>
                <a:latin typeface="Inter"/>
              </a:rPr>
              <a:t>Rosling. Tufte. Musk. Name the enemy.</a:t>
            </a:r>
          </a:p>
        </p:txBody>
      </p:sp>
      <p:sp>
        <p:nvSpPr>
          <p:cNvPr id="39" name="TextBox 38"/>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40" name="TextBox 39"/>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25</a:t>
            </a:r>
          </a:p>
        </p:txBody>
      </p:sp>
      <p:sp>
        <p:nvSpPr>
          <p:cNvPr id="41" name="Rectangle 40"/>
          <p:cNvSpPr/>
          <p:nvPr/>
        </p:nvSpPr>
        <p:spPr>
          <a:xfrm>
            <a:off x="548640" y="2194560"/>
            <a:ext cx="54864" cy="77724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3063240"/>
            <a:ext cx="54864" cy="77724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48640" y="3931920"/>
            <a:ext cx="54864" cy="77724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48640" y="4800600"/>
            <a:ext cx="54864" cy="77724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E0C27B"/>
                </a:solidFill>
                <a:latin typeface="Inter"/>
              </a:rPr>
              <a:t>PHASE 4 · DISCONFIRMING EVIDENCE</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The finding that complicates our own story.</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Not every AI chatbot has moved the needle on speaking. We have to say so.</a:t>
            </a:r>
          </a:p>
        </p:txBody>
      </p:sp>
      <p:sp>
        <p:nvSpPr>
          <p:cNvPr id="6" name="Rectangle 5"/>
          <p:cNvSpPr/>
          <p:nvPr/>
        </p:nvSpPr>
        <p:spPr>
          <a:xfrm>
            <a:off x="548640" y="2560320"/>
            <a:ext cx="11094415" cy="283464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560320"/>
            <a:ext cx="50800" cy="283464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743200"/>
            <a:ext cx="10972800" cy="365760"/>
          </a:xfrm>
          <a:prstGeom prst="rect">
            <a:avLst/>
          </a:prstGeom>
          <a:noFill/>
        </p:spPr>
        <p:txBody>
          <a:bodyPr wrap="square" lIns="0" tIns="0" rIns="0" bIns="0" anchor="t">
            <a:spAutoFit/>
          </a:bodyPr>
          <a:lstStyle/>
          <a:p>
            <a:pPr algn="l">
              <a:lnSpc>
                <a:spcPct val="125000"/>
              </a:lnSpc>
            </a:pPr>
            <a:r>
              <a:rPr sz="1050" b="1" i="0" spc="120">
                <a:solidFill>
                  <a:srgbClr val="E0C27B"/>
                </a:solidFill>
                <a:latin typeface="Inter"/>
              </a:rPr>
              <a:t>WANG (2024) · AI CHATBOT · 12 WEEK STUDY · n = 99 · INTERMEDIATE ADULT LEARNERS</a:t>
            </a:r>
          </a:p>
        </p:txBody>
      </p:sp>
      <p:sp>
        <p:nvSpPr>
          <p:cNvPr id="9" name="TextBox 8"/>
          <p:cNvSpPr txBox="1"/>
          <p:nvPr/>
        </p:nvSpPr>
        <p:spPr>
          <a:xfrm>
            <a:off x="868680" y="3200400"/>
            <a:ext cx="5303520" cy="274320"/>
          </a:xfrm>
          <a:prstGeom prst="rect">
            <a:avLst/>
          </a:prstGeom>
          <a:noFill/>
        </p:spPr>
        <p:txBody>
          <a:bodyPr wrap="square" lIns="0" tIns="0" rIns="0" bIns="0" anchor="t">
            <a:spAutoFit/>
          </a:bodyPr>
          <a:lstStyle/>
          <a:p>
            <a:pPr algn="l">
              <a:lnSpc>
                <a:spcPct val="125000"/>
              </a:lnSpc>
            </a:pPr>
            <a:r>
              <a:rPr sz="1050" b="1" i="0" spc="120">
                <a:solidFill>
                  <a:srgbClr val="7BE0B4"/>
                </a:solidFill>
                <a:latin typeface="Inter"/>
              </a:rPr>
              <a:t>WHAT IT DID MOVE</a:t>
            </a:r>
          </a:p>
        </p:txBody>
      </p:sp>
      <p:sp>
        <p:nvSpPr>
          <p:cNvPr id="10" name="TextBox 9"/>
          <p:cNvSpPr txBox="1"/>
          <p:nvPr/>
        </p:nvSpPr>
        <p:spPr>
          <a:xfrm>
            <a:off x="868680" y="3520440"/>
            <a:ext cx="5303520" cy="1645920"/>
          </a:xfrm>
          <a:prstGeom prst="rect">
            <a:avLst/>
          </a:prstGeom>
          <a:noFill/>
        </p:spPr>
        <p:txBody>
          <a:bodyPr wrap="square" lIns="0" tIns="0" rIns="0" bIns="0" anchor="t">
            <a:spAutoFit/>
          </a:bodyPr>
          <a:lstStyle/>
          <a:p>
            <a:pPr algn="l">
              <a:lnSpc>
                <a:spcPct val="150000"/>
              </a:lnSpc>
            </a:pPr>
            <a:r>
              <a:rPr sz="1150" b="0" i="0">
                <a:solidFill>
                  <a:srgbClr val="C8CDD8"/>
                </a:solidFill>
                <a:latin typeface="Inter"/>
              </a:rPr>
              <a:t>• Willingness to communicate (less anxiety about speaking)</a:t>
            </a:r>
          </a:p>
          <a:p>
            <a:pPr algn="l">
              <a:lnSpc>
                <a:spcPct val="150000"/>
              </a:lnSpc>
            </a:pPr>
            <a:r>
              <a:rPr sz="1150" b="0" i="0">
                <a:solidFill>
                  <a:srgbClr val="C8CDD8"/>
                </a:solidFill>
                <a:latin typeface="Inter"/>
              </a:rPr>
              <a:t>• Self rated ability to hold a conversation</a:t>
            </a:r>
          </a:p>
          <a:p>
            <a:pPr algn="l">
              <a:lnSpc>
                <a:spcPct val="150000"/>
              </a:lnSpc>
            </a:pPr>
            <a:r>
              <a:rPr sz="1150" b="0" i="0">
                <a:solidFill>
                  <a:srgbClr val="C8CDD8"/>
                </a:solidFill>
                <a:latin typeface="Inter"/>
              </a:rPr>
              <a:t>• Reported enjoyment of practice</a:t>
            </a:r>
          </a:p>
        </p:txBody>
      </p:sp>
      <p:sp>
        <p:nvSpPr>
          <p:cNvPr id="11" name="TextBox 10"/>
          <p:cNvSpPr txBox="1"/>
          <p:nvPr/>
        </p:nvSpPr>
        <p:spPr>
          <a:xfrm>
            <a:off x="6400800" y="3200400"/>
            <a:ext cx="5303520" cy="274320"/>
          </a:xfrm>
          <a:prstGeom prst="rect">
            <a:avLst/>
          </a:prstGeom>
          <a:noFill/>
        </p:spPr>
        <p:txBody>
          <a:bodyPr wrap="square" lIns="0" tIns="0" rIns="0" bIns="0" anchor="t">
            <a:spAutoFit/>
          </a:bodyPr>
          <a:lstStyle/>
          <a:p>
            <a:pPr algn="l">
              <a:lnSpc>
                <a:spcPct val="125000"/>
              </a:lnSpc>
            </a:pPr>
            <a:r>
              <a:rPr sz="1050" b="1" i="0" spc="120">
                <a:solidFill>
                  <a:srgbClr val="E07B7B"/>
                </a:solidFill>
                <a:latin typeface="Inter"/>
              </a:rPr>
              <a:t>WHAT IT DID NOT MOVE</a:t>
            </a:r>
          </a:p>
        </p:txBody>
      </p:sp>
      <p:sp>
        <p:nvSpPr>
          <p:cNvPr id="12" name="TextBox 11"/>
          <p:cNvSpPr txBox="1"/>
          <p:nvPr/>
        </p:nvSpPr>
        <p:spPr>
          <a:xfrm>
            <a:off x="6400800" y="3520440"/>
            <a:ext cx="5303520" cy="1645920"/>
          </a:xfrm>
          <a:prstGeom prst="rect">
            <a:avLst/>
          </a:prstGeom>
          <a:noFill/>
        </p:spPr>
        <p:txBody>
          <a:bodyPr wrap="square" lIns="0" tIns="0" rIns="0" bIns="0" anchor="t">
            <a:spAutoFit/>
          </a:bodyPr>
          <a:lstStyle/>
          <a:p>
            <a:pPr algn="l">
              <a:lnSpc>
                <a:spcPct val="150000"/>
              </a:lnSpc>
            </a:pPr>
            <a:r>
              <a:rPr sz="1150" b="0" i="0">
                <a:solidFill>
                  <a:srgbClr val="C8CDD8"/>
                </a:solidFill>
                <a:latin typeface="Inter"/>
              </a:rPr>
              <a:t>• Measured speaking performance</a:t>
            </a:r>
          </a:p>
          <a:p>
            <a:pPr algn="l">
              <a:lnSpc>
                <a:spcPct val="150000"/>
              </a:lnSpc>
            </a:pPr>
            <a:r>
              <a:rPr sz="1150" b="0" i="0">
                <a:solidFill>
                  <a:srgbClr val="C8CDD8"/>
                </a:solidFill>
                <a:latin typeface="Inter"/>
              </a:rPr>
              <a:t>• Between group differences on objective speaking tests</a:t>
            </a:r>
          </a:p>
          <a:p>
            <a:pPr algn="l">
              <a:lnSpc>
                <a:spcPct val="150000"/>
              </a:lnSpc>
            </a:pPr>
            <a:r>
              <a:rPr sz="1150" b="0" i="0">
                <a:solidFill>
                  <a:srgbClr val="C8CDD8"/>
                </a:solidFill>
                <a:latin typeface="Inter"/>
              </a:rPr>
              <a:t>• Transfer to real conversation outside the app</a:t>
            </a:r>
          </a:p>
        </p:txBody>
      </p:sp>
      <p:sp>
        <p:nvSpPr>
          <p:cNvPr id="13" name="Rectangle 12"/>
          <p:cNvSpPr/>
          <p:nvPr/>
        </p:nvSpPr>
        <p:spPr>
          <a:xfrm>
            <a:off x="548640" y="5577840"/>
            <a:ext cx="11094415" cy="91440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5577840"/>
            <a:ext cx="50800" cy="9144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5760720"/>
            <a:ext cx="10682935" cy="457200"/>
          </a:xfrm>
          <a:prstGeom prst="rect">
            <a:avLst/>
          </a:prstGeom>
          <a:noFill/>
        </p:spPr>
        <p:txBody>
          <a:bodyPr wrap="square" lIns="0" tIns="0" rIns="0" bIns="0" anchor="t">
            <a:spAutoFit/>
          </a:bodyPr>
          <a:lstStyle/>
          <a:p>
            <a:pPr algn="l">
              <a:lnSpc>
                <a:spcPct val="140000"/>
              </a:lnSpc>
            </a:pPr>
            <a:r>
              <a:rPr sz="1300" b="0" i="1">
                <a:solidFill>
                  <a:srgbClr val="F0F2F5"/>
                </a:solidFill>
                <a:latin typeface="Inter"/>
              </a:rPr>
              <a:t>Engagement is not transfer. A proof of concept is proof of plausibility, not proof of effect. This is why our proposed RCT runs 24 weeks with a 6 month follow up, and adds a dialect matched condition Wang did not test.</a:t>
            </a:r>
          </a:p>
        </p:txBody>
      </p:sp>
      <p:sp>
        <p:nvSpPr>
          <p:cNvPr id="16" name="TextBox 15"/>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7" name="TextBox 16"/>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PHASE 5 · REDESIGN &amp; RECOMMENDATIONS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Every intervention traces back to an HFACS finding.</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Each finding on the left points to one pillar of the redesign on the right.</a:t>
            </a:r>
          </a:p>
        </p:txBody>
      </p:sp>
      <p:sp>
        <p:nvSpPr>
          <p:cNvPr id="6" name="Rectangle 5"/>
          <p:cNvSpPr/>
          <p:nvPr/>
        </p:nvSpPr>
        <p:spPr>
          <a:xfrm>
            <a:off x="548640" y="2606040"/>
            <a:ext cx="5212080" cy="868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606040"/>
            <a:ext cx="50800" cy="86868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2834640"/>
            <a:ext cx="4846320" cy="502920"/>
          </a:xfrm>
          <a:prstGeom prst="rect">
            <a:avLst/>
          </a:prstGeom>
          <a:noFill/>
        </p:spPr>
        <p:txBody>
          <a:bodyPr wrap="square" lIns="0" tIns="0" rIns="0" bIns="0" anchor="t">
            <a:spAutoFit/>
          </a:bodyPr>
          <a:lstStyle/>
          <a:p>
            <a:pPr algn="l">
              <a:lnSpc>
                <a:spcPct val="135000"/>
              </a:lnSpc>
            </a:pPr>
            <a:r>
              <a:rPr sz="1100" b="1" i="0" spc="50">
                <a:solidFill>
                  <a:srgbClr val="F0F2F5"/>
                </a:solidFill>
                <a:latin typeface="Inter"/>
              </a:rPr>
              <a:t>L4 · WRONG METRIC · CONVERSATIONAL STYLE UNDERWEIGHTED</a:t>
            </a:r>
          </a:p>
        </p:txBody>
      </p:sp>
      <p:sp>
        <p:nvSpPr>
          <p:cNvPr id="9" name="TextBox 8"/>
          <p:cNvSpPr txBox="1"/>
          <p:nvPr/>
        </p:nvSpPr>
        <p:spPr>
          <a:xfrm>
            <a:off x="5897880" y="2788920"/>
            <a:ext cx="548640" cy="594360"/>
          </a:xfrm>
          <a:prstGeom prst="rect">
            <a:avLst/>
          </a:prstGeom>
          <a:noFill/>
        </p:spPr>
        <p:txBody>
          <a:bodyPr wrap="square" lIns="0" tIns="0" rIns="0" bIns="0" anchor="t">
            <a:spAutoFit/>
          </a:bodyPr>
          <a:lstStyle/>
          <a:p>
            <a:pPr algn="ctr">
              <a:lnSpc>
                <a:spcPct val="125000"/>
              </a:lnSpc>
            </a:pPr>
            <a:r>
              <a:rPr sz="2200" b="1" i="0">
                <a:solidFill>
                  <a:srgbClr val="7B9FE0"/>
                </a:solidFill>
                <a:latin typeface="Inter"/>
              </a:rPr>
              <a:t>→</a:t>
            </a:r>
          </a:p>
        </p:txBody>
      </p:sp>
      <p:sp>
        <p:nvSpPr>
          <p:cNvPr id="10" name="Rectangle 9"/>
          <p:cNvSpPr/>
          <p:nvPr/>
        </p:nvSpPr>
        <p:spPr>
          <a:xfrm>
            <a:off x="6537960" y="2606040"/>
            <a:ext cx="5212080" cy="86868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695176" y="2606040"/>
            <a:ext cx="54864" cy="86868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20840" y="2834640"/>
            <a:ext cx="4846320" cy="50292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PERSONA PILLAR (SHIPPED) · Carlos and Elena · Mayer d = 1.3</a:t>
            </a:r>
          </a:p>
        </p:txBody>
      </p:sp>
      <p:sp>
        <p:nvSpPr>
          <p:cNvPr id="13" name="Rectangle 12"/>
          <p:cNvSpPr/>
          <p:nvPr/>
        </p:nvSpPr>
        <p:spPr>
          <a:xfrm>
            <a:off x="548640" y="3566160"/>
            <a:ext cx="5212080" cy="868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566160"/>
            <a:ext cx="50800" cy="86868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794760"/>
            <a:ext cx="4846320" cy="502920"/>
          </a:xfrm>
          <a:prstGeom prst="rect">
            <a:avLst/>
          </a:prstGeom>
          <a:noFill/>
        </p:spPr>
        <p:txBody>
          <a:bodyPr wrap="square" lIns="0" tIns="0" rIns="0" bIns="0" anchor="t">
            <a:spAutoFit/>
          </a:bodyPr>
          <a:lstStyle/>
          <a:p>
            <a:pPr algn="l">
              <a:lnSpc>
                <a:spcPct val="135000"/>
              </a:lnSpc>
            </a:pPr>
            <a:r>
              <a:rPr sz="1100" b="1" i="0" spc="50">
                <a:solidFill>
                  <a:srgbClr val="F0F2F5"/>
                </a:solidFill>
                <a:latin typeface="Inter"/>
              </a:rPr>
              <a:t>L3 · BIRDBRAIN OPTIMIZES ITEM CORRECTNESS</a:t>
            </a:r>
          </a:p>
        </p:txBody>
      </p:sp>
      <p:sp>
        <p:nvSpPr>
          <p:cNvPr id="16" name="TextBox 15"/>
          <p:cNvSpPr txBox="1"/>
          <p:nvPr/>
        </p:nvSpPr>
        <p:spPr>
          <a:xfrm>
            <a:off x="5897880" y="3749040"/>
            <a:ext cx="548640" cy="594360"/>
          </a:xfrm>
          <a:prstGeom prst="rect">
            <a:avLst/>
          </a:prstGeom>
          <a:noFill/>
        </p:spPr>
        <p:txBody>
          <a:bodyPr wrap="square" lIns="0" tIns="0" rIns="0" bIns="0" anchor="t">
            <a:spAutoFit/>
          </a:bodyPr>
          <a:lstStyle/>
          <a:p>
            <a:pPr algn="ctr">
              <a:lnSpc>
                <a:spcPct val="125000"/>
              </a:lnSpc>
            </a:pPr>
            <a:r>
              <a:rPr sz="2200" b="1" i="0">
                <a:solidFill>
                  <a:srgbClr val="E07BAA"/>
                </a:solidFill>
                <a:latin typeface="Inter"/>
              </a:rPr>
              <a:t>→</a:t>
            </a:r>
          </a:p>
        </p:txBody>
      </p:sp>
      <p:sp>
        <p:nvSpPr>
          <p:cNvPr id="17" name="Rectangle 16"/>
          <p:cNvSpPr/>
          <p:nvPr/>
        </p:nvSpPr>
        <p:spPr>
          <a:xfrm>
            <a:off x="6537960" y="3566160"/>
            <a:ext cx="5212080" cy="86868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1695176" y="3566160"/>
            <a:ext cx="54864" cy="86868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20840" y="3794760"/>
            <a:ext cx="4846320" cy="50292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DIALOGUE PILLAR (SHIPPED) · scaffolded conversation · Bibauw d = 0.58</a:t>
            </a:r>
          </a:p>
        </p:txBody>
      </p:sp>
      <p:sp>
        <p:nvSpPr>
          <p:cNvPr id="20" name="Rectangle 19"/>
          <p:cNvSpPr/>
          <p:nvPr/>
        </p:nvSpPr>
        <p:spPr>
          <a:xfrm>
            <a:off x="548640" y="4526280"/>
            <a:ext cx="5212080" cy="868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526280"/>
            <a:ext cx="50800" cy="8686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754880"/>
            <a:ext cx="4846320" cy="502920"/>
          </a:xfrm>
          <a:prstGeom prst="rect">
            <a:avLst/>
          </a:prstGeom>
          <a:noFill/>
        </p:spPr>
        <p:txBody>
          <a:bodyPr wrap="square" lIns="0" tIns="0" rIns="0" bIns="0" anchor="t">
            <a:spAutoFit/>
          </a:bodyPr>
          <a:lstStyle/>
          <a:p>
            <a:pPr algn="l">
              <a:lnSpc>
                <a:spcPct val="135000"/>
              </a:lnSpc>
            </a:pPr>
            <a:r>
              <a:rPr sz="1100" b="1" i="0" spc="50">
                <a:solidFill>
                  <a:srgbClr val="F0F2F5"/>
                </a:solidFill>
                <a:latin typeface="Inter"/>
              </a:rPr>
              <a:t>L2 · EPISODIC BUFFER NEVER ENGAGED</a:t>
            </a:r>
          </a:p>
        </p:txBody>
      </p:sp>
      <p:sp>
        <p:nvSpPr>
          <p:cNvPr id="23" name="TextBox 22"/>
          <p:cNvSpPr txBox="1"/>
          <p:nvPr/>
        </p:nvSpPr>
        <p:spPr>
          <a:xfrm>
            <a:off x="5897880" y="4709160"/>
            <a:ext cx="548640" cy="594360"/>
          </a:xfrm>
          <a:prstGeom prst="rect">
            <a:avLst/>
          </a:prstGeom>
          <a:noFill/>
        </p:spPr>
        <p:txBody>
          <a:bodyPr wrap="square" lIns="0" tIns="0" rIns="0" bIns="0" anchor="t">
            <a:spAutoFit/>
          </a:bodyPr>
          <a:lstStyle/>
          <a:p>
            <a:pPr algn="ctr">
              <a:lnSpc>
                <a:spcPct val="125000"/>
              </a:lnSpc>
            </a:pPr>
            <a:r>
              <a:rPr sz="2200" b="1" i="0">
                <a:solidFill>
                  <a:srgbClr val="E0C27B"/>
                </a:solidFill>
                <a:latin typeface="Inter"/>
              </a:rPr>
              <a:t>→</a:t>
            </a:r>
          </a:p>
        </p:txBody>
      </p:sp>
      <p:sp>
        <p:nvSpPr>
          <p:cNvPr id="24" name="Rectangle 23"/>
          <p:cNvSpPr/>
          <p:nvPr/>
        </p:nvSpPr>
        <p:spPr>
          <a:xfrm>
            <a:off x="6537960" y="4526280"/>
            <a:ext cx="5212080" cy="86868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1695176" y="4526280"/>
            <a:ext cx="54864" cy="8686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20840" y="4754880"/>
            <a:ext cx="4846320" cy="50292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CONTEXT PILLAR (SHIPPED) · scenario specific sessions (restaurant, market, meeting)</a:t>
            </a:r>
          </a:p>
        </p:txBody>
      </p:sp>
      <p:sp>
        <p:nvSpPr>
          <p:cNvPr id="27" name="Rectangle 26"/>
          <p:cNvSpPr/>
          <p:nvPr/>
        </p:nvSpPr>
        <p:spPr>
          <a:xfrm>
            <a:off x="548640" y="5486400"/>
            <a:ext cx="5212080" cy="8686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5486400"/>
            <a:ext cx="50800" cy="86868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715000"/>
            <a:ext cx="4846320" cy="502920"/>
          </a:xfrm>
          <a:prstGeom prst="rect">
            <a:avLst/>
          </a:prstGeom>
          <a:noFill/>
        </p:spPr>
        <p:txBody>
          <a:bodyPr wrap="square" lIns="0" tIns="0" rIns="0" bIns="0" anchor="t">
            <a:spAutoFit/>
          </a:bodyPr>
          <a:lstStyle/>
          <a:p>
            <a:pPr algn="l">
              <a:lnSpc>
                <a:spcPct val="135000"/>
              </a:lnSpc>
            </a:pPr>
            <a:r>
              <a:rPr sz="1100" b="1" i="0" spc="50">
                <a:solidFill>
                  <a:srgbClr val="F0F2F5"/>
                </a:solidFill>
                <a:latin typeface="Inter"/>
              </a:rPr>
              <a:t>L1 · WRONG SIGNAL · NO PRODUCTION FEEDBACK</a:t>
            </a:r>
          </a:p>
        </p:txBody>
      </p:sp>
      <p:sp>
        <p:nvSpPr>
          <p:cNvPr id="30" name="TextBox 29"/>
          <p:cNvSpPr txBox="1"/>
          <p:nvPr/>
        </p:nvSpPr>
        <p:spPr>
          <a:xfrm>
            <a:off x="5897880" y="5669280"/>
            <a:ext cx="548640" cy="594360"/>
          </a:xfrm>
          <a:prstGeom prst="rect">
            <a:avLst/>
          </a:prstGeom>
          <a:noFill/>
        </p:spPr>
        <p:txBody>
          <a:bodyPr wrap="square" lIns="0" tIns="0" rIns="0" bIns="0" anchor="t">
            <a:spAutoFit/>
          </a:bodyPr>
          <a:lstStyle/>
          <a:p>
            <a:pPr algn="ctr">
              <a:lnSpc>
                <a:spcPct val="125000"/>
              </a:lnSpc>
            </a:pPr>
            <a:r>
              <a:rPr sz="2200" b="1" i="0">
                <a:solidFill>
                  <a:srgbClr val="E07B7B"/>
                </a:solidFill>
                <a:latin typeface="Inter"/>
              </a:rPr>
              <a:t>→</a:t>
            </a:r>
          </a:p>
        </p:txBody>
      </p:sp>
      <p:sp>
        <p:nvSpPr>
          <p:cNvPr id="31" name="Rectangle 30"/>
          <p:cNvSpPr/>
          <p:nvPr/>
        </p:nvSpPr>
        <p:spPr>
          <a:xfrm>
            <a:off x="6537960" y="5486400"/>
            <a:ext cx="5212080" cy="868680"/>
          </a:xfrm>
          <a:prstGeom prst="rect">
            <a:avLst/>
          </a:prstGeom>
          <a:solidFill>
            <a:srgbClr val="13161B"/>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1695176" y="5486400"/>
            <a:ext cx="54864" cy="86868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20840" y="5715000"/>
            <a:ext cx="4846320" cy="502920"/>
          </a:xfrm>
          <a:prstGeom prst="rect">
            <a:avLst/>
          </a:prstGeom>
          <a:noFill/>
        </p:spPr>
        <p:txBody>
          <a:bodyPr wrap="square" lIns="0" tIns="0" rIns="0" bIns="0" anchor="t">
            <a:spAutoFit/>
          </a:bodyPr>
          <a:lstStyle/>
          <a:p>
            <a:pPr algn="l">
              <a:lnSpc>
                <a:spcPct val="135000"/>
              </a:lnSpc>
            </a:pPr>
            <a:r>
              <a:rPr sz="1100" b="0" i="0">
                <a:solidFill>
                  <a:srgbClr val="C8CDD8"/>
                </a:solidFill>
                <a:latin typeface="Inter"/>
              </a:rPr>
              <a:t>VOICE PILLAR (PROPOSED) · future voice agent · Mayer d = 0.8 · adds a production signal</a:t>
            </a:r>
          </a:p>
        </p:txBody>
      </p:sp>
      <p:sp>
        <p:nvSpPr>
          <p:cNvPr id="34" name="TextBox 33"/>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35" name="TextBox 34"/>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PHASE 5 · REDESIGN</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Three pillars shipped. Each backed by a meta analysis or a replicated finding.</a:t>
            </a:r>
          </a:p>
        </p:txBody>
      </p:sp>
      <p:sp>
        <p:nvSpPr>
          <p:cNvPr id="5" name="Rectangle 4"/>
          <p:cNvSpPr/>
          <p:nvPr/>
        </p:nvSpPr>
        <p:spPr>
          <a:xfrm>
            <a:off x="548640" y="2560320"/>
            <a:ext cx="3611880" cy="33832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560320"/>
            <a:ext cx="50800" cy="338328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49808" y="2697480"/>
            <a:ext cx="3246120" cy="411480"/>
          </a:xfrm>
          <a:prstGeom prst="rect">
            <a:avLst/>
          </a:prstGeom>
          <a:noFill/>
        </p:spPr>
        <p:txBody>
          <a:bodyPr wrap="square" lIns="0" tIns="0" rIns="0" bIns="0" anchor="t">
            <a:spAutoFit/>
          </a:bodyPr>
          <a:lstStyle/>
          <a:p>
            <a:pPr algn="l">
              <a:lnSpc>
                <a:spcPct val="115000"/>
              </a:lnSpc>
            </a:pPr>
            <a:r>
              <a:rPr sz="1200" b="1" i="0" spc="100">
                <a:solidFill>
                  <a:srgbClr val="7B9FE0"/>
                </a:solidFill>
                <a:latin typeface="Inter"/>
              </a:rPr>
              <a:t>DIALOGUE WORKS</a:t>
            </a:r>
          </a:p>
        </p:txBody>
      </p:sp>
      <p:sp>
        <p:nvSpPr>
          <p:cNvPr id="8" name="TextBox 7"/>
          <p:cNvSpPr txBox="1"/>
          <p:nvPr/>
        </p:nvSpPr>
        <p:spPr>
          <a:xfrm>
            <a:off x="749808" y="3063240"/>
            <a:ext cx="3246120" cy="278892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Bibauw et al. (2022)</a:t>
            </a:r>
          </a:p>
          <a:p>
            <a:pPr algn="l">
              <a:lnSpc>
                <a:spcPct val="140000"/>
              </a:lnSpc>
            </a:pPr>
            <a:r>
              <a:rPr sz="1050" b="0" i="0">
                <a:solidFill>
                  <a:srgbClr val="C8CDD8"/>
                </a:solidFill>
                <a:latin typeface="Inter"/>
              </a:rPr>
              <a:t>d = 0.58 across 17 studies and 100 comparisons.</a:t>
            </a:r>
          </a:p>
          <a:p>
            <a:pPr algn="l">
              <a:lnSpc>
                <a:spcPct val="140000"/>
              </a:lnSpc>
            </a:pPr>
            <a:endParaRPr sz="1050" b="0" i="0">
              <a:solidFill>
                <a:srgbClr val="C8CDD8"/>
              </a:solidFill>
              <a:latin typeface="Inter"/>
            </a:endParaRPr>
          </a:p>
          <a:p>
            <a:pPr algn="l">
              <a:lnSpc>
                <a:spcPct val="140000"/>
              </a:lnSpc>
            </a:pPr>
            <a:r>
              <a:rPr sz="1050" b="0" i="0">
                <a:solidFill>
                  <a:srgbClr val="C8CDD8"/>
                </a:solidFill>
                <a:latin typeface="Inter"/>
              </a:rPr>
              <a:t>A medium meta analytic effect for dialogue based language practice over traditional methods.</a:t>
            </a:r>
          </a:p>
          <a:p>
            <a:pPr algn="l">
              <a:lnSpc>
                <a:spcPct val="140000"/>
              </a:lnSpc>
            </a:pPr>
            <a:endParaRPr sz="1050" b="0" i="0">
              <a:solidFill>
                <a:srgbClr val="C8CDD8"/>
              </a:solidFill>
              <a:latin typeface="Inter"/>
            </a:endParaRPr>
          </a:p>
          <a:p>
            <a:pPr algn="l">
              <a:lnSpc>
                <a:spcPct val="140000"/>
              </a:lnSpc>
            </a:pPr>
            <a:r>
              <a:rPr sz="1050" b="0" i="0">
                <a:solidFill>
                  <a:srgbClr val="C8CDD8"/>
                </a:solidFill>
                <a:latin typeface="Inter"/>
              </a:rPr>
              <a:t>"System guided interaction outperformed fully free conversation." That is the design guidance for our scaffolded agent.</a:t>
            </a:r>
          </a:p>
        </p:txBody>
      </p:sp>
      <p:sp>
        <p:nvSpPr>
          <p:cNvPr id="9" name="Rectangle 8"/>
          <p:cNvSpPr/>
          <p:nvPr/>
        </p:nvSpPr>
        <p:spPr>
          <a:xfrm>
            <a:off x="4297680" y="2560320"/>
            <a:ext cx="3611880" cy="33832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97680" y="2560320"/>
            <a:ext cx="50800" cy="338328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98848" y="2697480"/>
            <a:ext cx="3246120" cy="411480"/>
          </a:xfrm>
          <a:prstGeom prst="rect">
            <a:avLst/>
          </a:prstGeom>
          <a:noFill/>
        </p:spPr>
        <p:txBody>
          <a:bodyPr wrap="square" lIns="0" tIns="0" rIns="0" bIns="0" anchor="t">
            <a:spAutoFit/>
          </a:bodyPr>
          <a:lstStyle/>
          <a:p>
            <a:pPr algn="l">
              <a:lnSpc>
                <a:spcPct val="115000"/>
              </a:lnSpc>
            </a:pPr>
            <a:r>
              <a:rPr sz="1200" b="1" i="0" spc="100">
                <a:solidFill>
                  <a:srgbClr val="E07BAA"/>
                </a:solidFill>
                <a:latin typeface="Inter"/>
              </a:rPr>
              <a:t>PERSONA MATTERS</a:t>
            </a:r>
          </a:p>
        </p:txBody>
      </p:sp>
      <p:sp>
        <p:nvSpPr>
          <p:cNvPr id="12" name="TextBox 11"/>
          <p:cNvSpPr txBox="1"/>
          <p:nvPr/>
        </p:nvSpPr>
        <p:spPr>
          <a:xfrm>
            <a:off x="4498848" y="3063240"/>
            <a:ext cx="3246120" cy="278892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Mayer (2021)</a:t>
            </a:r>
          </a:p>
          <a:p>
            <a:pPr algn="l">
              <a:lnSpc>
                <a:spcPct val="140000"/>
              </a:lnSpc>
            </a:pPr>
            <a:r>
              <a:rPr sz="1050" b="0" i="0">
                <a:solidFill>
                  <a:srgbClr val="C8CDD8"/>
                </a:solidFill>
                <a:latin typeface="Inter"/>
              </a:rPr>
              <a:t>Conversational style: d = 1.3 across 10 of 10 experiments.</a:t>
            </a:r>
          </a:p>
          <a:p>
            <a:pPr algn="l">
              <a:lnSpc>
                <a:spcPct val="140000"/>
              </a:lnSpc>
            </a:pPr>
            <a:endParaRPr sz="1050" b="0" i="0">
              <a:solidFill>
                <a:srgbClr val="C8CDD8"/>
              </a:solidFill>
              <a:latin typeface="Inter"/>
            </a:endParaRPr>
          </a:p>
          <a:p>
            <a:pPr algn="l">
              <a:lnSpc>
                <a:spcPct val="140000"/>
              </a:lnSpc>
            </a:pPr>
            <a:r>
              <a:rPr sz="1050" b="0" i="0">
                <a:solidFill>
                  <a:srgbClr val="C8CDD8"/>
                </a:solidFill>
                <a:latin typeface="Inter"/>
              </a:rPr>
              <a:t>One of the largest effect sizes in multimedia learning.</a:t>
            </a:r>
          </a:p>
          <a:p>
            <a:pPr algn="l">
              <a:lnSpc>
                <a:spcPct val="140000"/>
              </a:lnSpc>
            </a:pPr>
            <a:endParaRPr sz="1050" b="0" i="0">
              <a:solidFill>
                <a:srgbClr val="C8CDD8"/>
              </a:solidFill>
              <a:latin typeface="Inter"/>
            </a:endParaRPr>
          </a:p>
          <a:p>
            <a:pPr algn="l">
              <a:lnSpc>
                <a:spcPct val="140000"/>
              </a:lnSpc>
            </a:pPr>
            <a:r>
              <a:rPr sz="1050" b="0" i="0">
                <a:solidFill>
                  <a:srgbClr val="C8CDD8"/>
                </a:solidFill>
                <a:latin typeface="Inter"/>
              </a:rPr>
              <a:t>This is not UX decoration. Mayer's research shows conversational style is the mechanism, not the garnish. (Voice and embodiment are future work.)</a:t>
            </a:r>
          </a:p>
        </p:txBody>
      </p:sp>
      <p:sp>
        <p:nvSpPr>
          <p:cNvPr id="13" name="Rectangle 12"/>
          <p:cNvSpPr/>
          <p:nvPr/>
        </p:nvSpPr>
        <p:spPr>
          <a:xfrm>
            <a:off x="8046720" y="2560320"/>
            <a:ext cx="3611880" cy="338328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2560320"/>
            <a:ext cx="50800" cy="33832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47888" y="2697480"/>
            <a:ext cx="3246120" cy="411480"/>
          </a:xfrm>
          <a:prstGeom prst="rect">
            <a:avLst/>
          </a:prstGeom>
          <a:noFill/>
        </p:spPr>
        <p:txBody>
          <a:bodyPr wrap="square" lIns="0" tIns="0" rIns="0" bIns="0" anchor="t">
            <a:spAutoFit/>
          </a:bodyPr>
          <a:lstStyle/>
          <a:p>
            <a:pPr algn="l">
              <a:lnSpc>
                <a:spcPct val="115000"/>
              </a:lnSpc>
            </a:pPr>
            <a:r>
              <a:rPr sz="1200" b="1" i="0" spc="100">
                <a:solidFill>
                  <a:srgbClr val="E0C27B"/>
                </a:solidFill>
                <a:latin typeface="Inter"/>
              </a:rPr>
              <a:t>DIALECT IS THE INPUT</a:t>
            </a:r>
          </a:p>
        </p:txBody>
      </p:sp>
      <p:sp>
        <p:nvSpPr>
          <p:cNvPr id="16" name="TextBox 15"/>
          <p:cNvSpPr txBox="1"/>
          <p:nvPr/>
        </p:nvSpPr>
        <p:spPr>
          <a:xfrm>
            <a:off x="8247888" y="3063240"/>
            <a:ext cx="3246120" cy="2788920"/>
          </a:xfrm>
          <a:prstGeom prst="rect">
            <a:avLst/>
          </a:prstGeom>
          <a:noFill/>
        </p:spPr>
        <p:txBody>
          <a:bodyPr wrap="square" lIns="0" tIns="0" rIns="0" bIns="0" anchor="t">
            <a:spAutoFit/>
          </a:bodyPr>
          <a:lstStyle/>
          <a:p>
            <a:pPr algn="l">
              <a:lnSpc>
                <a:spcPct val="140000"/>
              </a:lnSpc>
            </a:pPr>
            <a:r>
              <a:rPr sz="1050" b="0" i="0">
                <a:solidFill>
                  <a:srgbClr val="C8CDD8"/>
                </a:solidFill>
                <a:latin typeface="Inter"/>
              </a:rPr>
              <a:t>Geeslin and Long (2014)</a:t>
            </a:r>
          </a:p>
          <a:p>
            <a:pPr algn="l">
              <a:lnSpc>
                <a:spcPct val="140000"/>
              </a:lnSpc>
            </a:pPr>
            <a:endParaRPr sz="1050" b="0" i="0">
              <a:solidFill>
                <a:srgbClr val="C8CDD8"/>
              </a:solidFill>
              <a:latin typeface="Inter"/>
            </a:endParaRPr>
          </a:p>
          <a:p>
            <a:pPr algn="l">
              <a:lnSpc>
                <a:spcPct val="140000"/>
              </a:lnSpc>
            </a:pPr>
            <a:r>
              <a:rPr sz="1050" b="0" i="0">
                <a:solidFill>
                  <a:srgbClr val="C8CDD8"/>
                </a:solidFill>
                <a:latin typeface="Inter"/>
              </a:rPr>
              <a:t>Real conversation requires learning the regional differences in how people actually speak.</a:t>
            </a:r>
          </a:p>
          <a:p>
            <a:pPr algn="l">
              <a:lnSpc>
                <a:spcPct val="140000"/>
              </a:lnSpc>
            </a:pPr>
            <a:endParaRPr sz="1050" b="0" i="0">
              <a:solidFill>
                <a:srgbClr val="C8CDD8"/>
              </a:solidFill>
              <a:latin typeface="Inter"/>
            </a:endParaRPr>
          </a:p>
          <a:p>
            <a:pPr algn="l">
              <a:lnSpc>
                <a:spcPct val="140000"/>
              </a:lnSpc>
            </a:pPr>
            <a:r>
              <a:rPr sz="1050" b="0" i="0">
                <a:solidFill>
                  <a:srgbClr val="C8CDD8"/>
                </a:solidFill>
                <a:latin typeface="Inter"/>
              </a:rPr>
              <a:t>Mexican Spanish and Castilian Spanish differ in sounds, idioms, and formality. The learner needs real regional input, matched to where they are going.</a:t>
            </a:r>
          </a:p>
          <a:p>
            <a:pPr algn="l">
              <a:lnSpc>
                <a:spcPct val="140000"/>
              </a:lnSpc>
            </a:pPr>
            <a:endParaRPr sz="1050" b="0" i="0">
              <a:solidFill>
                <a:srgbClr val="C8CDD8"/>
              </a:solidFill>
              <a:latin typeface="Inter"/>
            </a:endParaRPr>
          </a:p>
          <a:p>
            <a:pPr algn="l">
              <a:lnSpc>
                <a:spcPct val="140000"/>
              </a:lnSpc>
            </a:pPr>
            <a:r>
              <a:rPr sz="1050" b="0" i="0">
                <a:solidFill>
                  <a:srgbClr val="C8CDD8"/>
                </a:solidFill>
                <a:latin typeface="Inter"/>
              </a:rPr>
              <a:t>Carlos and Elena are regionally authentic, not generic "Spanish."</a:t>
            </a:r>
          </a:p>
        </p:txBody>
      </p:sp>
      <p:sp>
        <p:nvSpPr>
          <p:cNvPr id="17" name="TextBox 16"/>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8" name="TextBox 17"/>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PHASE 5 · PROTOTYPE</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Carlos. The Mexican Spanish tutor.</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Built in the repo. Dialect pill, scenario pill, correction callouts, and severity badges.</a:t>
            </a:r>
          </a:p>
        </p:txBody>
      </p:sp>
      <p:sp>
        <p:nvSpPr>
          <p:cNvPr id="9" name="Rectangle 8"/>
          <p:cNvSpPr/>
          <p:nvPr/>
        </p:nvSpPr>
        <p:spPr>
          <a:xfrm>
            <a:off x="4389120" y="2331720"/>
            <a:ext cx="7315200" cy="41148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2331720"/>
            <a:ext cx="50800" cy="411480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2468879"/>
            <a:ext cx="6949440" cy="365760"/>
          </a:xfrm>
          <a:prstGeom prst="rect">
            <a:avLst/>
          </a:prstGeom>
          <a:noFill/>
        </p:spPr>
        <p:txBody>
          <a:bodyPr wrap="square" lIns="0" tIns="0" rIns="0" bIns="0" anchor="t">
            <a:spAutoFit/>
          </a:bodyPr>
          <a:lstStyle/>
          <a:p>
            <a:pPr algn="l">
              <a:lnSpc>
                <a:spcPct val="125000"/>
              </a:lnSpc>
            </a:pPr>
            <a:r>
              <a:rPr sz="1100" b="1" i="0" spc="120">
                <a:solidFill>
                  <a:srgbClr val="7BE0B4"/>
                </a:solidFill>
                <a:latin typeface="Inter"/>
              </a:rPr>
              <a:t>REGIONAL AUTHENTICITY</a:t>
            </a:r>
          </a:p>
        </p:txBody>
      </p:sp>
      <p:sp>
        <p:nvSpPr>
          <p:cNvPr id="12" name="TextBox 11"/>
          <p:cNvSpPr txBox="1"/>
          <p:nvPr/>
        </p:nvSpPr>
        <p:spPr>
          <a:xfrm>
            <a:off x="4617720" y="2880360"/>
            <a:ext cx="6949440" cy="3429000"/>
          </a:xfrm>
          <a:prstGeom prst="rect">
            <a:avLst/>
          </a:prstGeom>
          <a:noFill/>
        </p:spPr>
        <p:txBody>
          <a:bodyPr wrap="square" lIns="0" tIns="0" rIns="0" bIns="0" anchor="t">
            <a:spAutoFit/>
          </a:bodyPr>
          <a:lstStyle/>
          <a:p>
            <a:pPr algn="l">
              <a:lnSpc>
                <a:spcPct val="150000"/>
              </a:lnSpc>
            </a:pPr>
            <a:r>
              <a:rPr sz="1100" b="0" i="0">
                <a:solidFill>
                  <a:srgbClr val="C8CDD8"/>
                </a:solidFill>
                <a:latin typeface="Inter"/>
              </a:rPr>
              <a:t>Carlos uses:</a:t>
            </a:r>
          </a:p>
          <a:p>
            <a:pPr algn="l">
              <a:lnSpc>
                <a:spcPct val="150000"/>
              </a:lnSpc>
            </a:pPr>
            <a:endParaRPr sz="1100" b="0" i="0">
              <a:solidFill>
                <a:srgbClr val="C8CDD8"/>
              </a:solidFill>
              <a:latin typeface="Inter"/>
            </a:endParaRPr>
          </a:p>
          <a:p>
            <a:pPr algn="l">
              <a:lnSpc>
                <a:spcPct val="150000"/>
              </a:lnSpc>
            </a:pPr>
            <a:r>
              <a:rPr sz="1100" b="0" i="0">
                <a:solidFill>
                  <a:srgbClr val="C8CDD8"/>
                </a:solidFill>
                <a:latin typeface="Inter"/>
              </a:rPr>
              <a:t>• Mexican pronunciation (soft /s/, ustedes, no voseo)</a:t>
            </a:r>
          </a:p>
          <a:p>
            <a:pPr algn="l">
              <a:lnSpc>
                <a:spcPct val="150000"/>
              </a:lnSpc>
            </a:pPr>
            <a:r>
              <a:rPr sz="1100" b="0" i="0">
                <a:solidFill>
                  <a:srgbClr val="C8CDD8"/>
                </a:solidFill>
                <a:latin typeface="Inter"/>
              </a:rPr>
              <a:t>• Mexican idioms (chido, órale, qué onda, ahorita)</a:t>
            </a:r>
          </a:p>
          <a:p>
            <a:pPr algn="l">
              <a:lnSpc>
                <a:spcPct val="150000"/>
              </a:lnSpc>
            </a:pPr>
            <a:r>
              <a:rPr sz="1100" b="0" i="0">
                <a:solidFill>
                  <a:srgbClr val="C8CDD8"/>
                </a:solidFill>
                <a:latin typeface="Inter"/>
              </a:rPr>
              <a:t>• Restaurant vocabulary aligned with Mexican dining (la cuenta, propina, tortillas over pan)</a:t>
            </a:r>
          </a:p>
          <a:p>
            <a:pPr algn="l">
              <a:lnSpc>
                <a:spcPct val="150000"/>
              </a:lnSpc>
            </a:pPr>
            <a:r>
              <a:rPr sz="1100" b="0" i="0">
                <a:solidFill>
                  <a:srgbClr val="C8CDD8"/>
                </a:solidFill>
                <a:latin typeface="Inter"/>
              </a:rPr>
              <a:t>• A warm but corrective tutor tone.</a:t>
            </a:r>
          </a:p>
          <a:p>
            <a:pPr algn="l">
              <a:lnSpc>
                <a:spcPct val="150000"/>
              </a:lnSpc>
            </a:pPr>
            <a:endParaRPr sz="1100" b="0" i="0">
              <a:solidFill>
                <a:srgbClr val="C8CDD8"/>
              </a:solidFill>
              <a:latin typeface="Inter"/>
            </a:endParaRPr>
          </a:p>
          <a:p>
            <a:pPr algn="l">
              <a:lnSpc>
                <a:spcPct val="150000"/>
              </a:lnSpc>
            </a:pPr>
            <a:r>
              <a:rPr sz="1100" b="0" i="0">
                <a:solidFill>
                  <a:srgbClr val="C8CDD8"/>
                </a:solidFill>
                <a:latin typeface="Inter"/>
              </a:rPr>
              <a:t>This is Geeslin and Long (2014) put into practice.</a:t>
            </a:r>
          </a:p>
        </p:txBody>
      </p:sp>
      <p:sp>
        <p:nvSpPr>
          <p:cNvPr id="13" name="TextBox 12"/>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4" name="TextBox 13"/>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29</a:t>
            </a:r>
          </a:p>
        </p:txBody>
      </p:sp>
      <p:pic>
        <p:nvPicPr>
          <p:cNvPr id="15" name="Picture 14" descr="image.png"/>
          <p:cNvPicPr>
            <a:picLocks noChangeAspect="1"/>
          </p:cNvPicPr>
          <p:nvPr/>
        </p:nvPicPr>
        <p:blipFill>
          <a:blip r:embed="rId2"/>
          <a:stretch>
            <a:fillRect/>
          </a:stretch>
        </p:blipFill>
        <p:spPr>
          <a:xfrm>
            <a:off x="1265255" y="2331720"/>
            <a:ext cx="2224369" cy="41148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PHASE 5 · PROTOTYPE</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Elena. The Castilian Spanish tutor.</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Same UI, different dialect. One click in the dropdown swaps the linguistic profile.</a:t>
            </a:r>
          </a:p>
        </p:txBody>
      </p:sp>
      <p:sp>
        <p:nvSpPr>
          <p:cNvPr id="9" name="Rectangle 8"/>
          <p:cNvSpPr/>
          <p:nvPr/>
        </p:nvSpPr>
        <p:spPr>
          <a:xfrm>
            <a:off x="4389120" y="2331720"/>
            <a:ext cx="7315200" cy="41148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2331720"/>
            <a:ext cx="50800" cy="411480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2468879"/>
            <a:ext cx="6949440" cy="365760"/>
          </a:xfrm>
          <a:prstGeom prst="rect">
            <a:avLst/>
          </a:prstGeom>
          <a:noFill/>
        </p:spPr>
        <p:txBody>
          <a:bodyPr wrap="square" lIns="0" tIns="0" rIns="0" bIns="0" anchor="t">
            <a:spAutoFit/>
          </a:bodyPr>
          <a:lstStyle/>
          <a:p>
            <a:pPr algn="l">
              <a:lnSpc>
                <a:spcPct val="125000"/>
              </a:lnSpc>
            </a:pPr>
            <a:r>
              <a:rPr sz="1100" b="1" i="0" spc="120">
                <a:solidFill>
                  <a:srgbClr val="E07BAA"/>
                </a:solidFill>
                <a:latin typeface="Inter"/>
              </a:rPr>
              <a:t>REGIONAL AUTHENTICITY</a:t>
            </a:r>
          </a:p>
        </p:txBody>
      </p:sp>
      <p:sp>
        <p:nvSpPr>
          <p:cNvPr id="12" name="TextBox 11"/>
          <p:cNvSpPr txBox="1"/>
          <p:nvPr/>
        </p:nvSpPr>
        <p:spPr>
          <a:xfrm>
            <a:off x="4617720" y="2880360"/>
            <a:ext cx="6949440" cy="3429000"/>
          </a:xfrm>
          <a:prstGeom prst="rect">
            <a:avLst/>
          </a:prstGeom>
          <a:noFill/>
        </p:spPr>
        <p:txBody>
          <a:bodyPr wrap="square" lIns="0" tIns="0" rIns="0" bIns="0" anchor="t">
            <a:spAutoFit/>
          </a:bodyPr>
          <a:lstStyle/>
          <a:p>
            <a:pPr algn="l">
              <a:lnSpc>
                <a:spcPct val="150000"/>
              </a:lnSpc>
            </a:pPr>
            <a:r>
              <a:rPr sz="1100" b="0" i="0">
                <a:solidFill>
                  <a:srgbClr val="C8CDD8"/>
                </a:solidFill>
                <a:latin typeface="Inter"/>
              </a:rPr>
              <a:t>Elena uses:</a:t>
            </a:r>
          </a:p>
          <a:p>
            <a:pPr algn="l">
              <a:lnSpc>
                <a:spcPct val="150000"/>
              </a:lnSpc>
            </a:pPr>
            <a:endParaRPr sz="1100" b="0" i="0">
              <a:solidFill>
                <a:srgbClr val="C8CDD8"/>
              </a:solidFill>
              <a:latin typeface="Inter"/>
            </a:endParaRPr>
          </a:p>
          <a:p>
            <a:pPr algn="l">
              <a:lnSpc>
                <a:spcPct val="150000"/>
              </a:lnSpc>
            </a:pPr>
            <a:r>
              <a:rPr sz="1100" b="0" i="0">
                <a:solidFill>
                  <a:srgbClr val="C8CDD8"/>
                </a:solidFill>
                <a:latin typeface="Inter"/>
              </a:rPr>
              <a:t>• Castilian pronunciation (distinción; /s/ versus /θ/)</a:t>
            </a:r>
          </a:p>
          <a:p>
            <a:pPr algn="l">
              <a:lnSpc>
                <a:spcPct val="150000"/>
              </a:lnSpc>
            </a:pPr>
            <a:r>
              <a:rPr sz="1100" b="0" i="0">
                <a:solidFill>
                  <a:srgbClr val="C8CDD8"/>
                </a:solidFill>
                <a:latin typeface="Inter"/>
              </a:rPr>
              <a:t>• Peninsular grammar (vosotros forms)</a:t>
            </a:r>
          </a:p>
          <a:p>
            <a:pPr algn="l">
              <a:lnSpc>
                <a:spcPct val="150000"/>
              </a:lnSpc>
            </a:pPr>
            <a:r>
              <a:rPr sz="1100" b="0" i="0">
                <a:solidFill>
                  <a:srgbClr val="C8CDD8"/>
                </a:solidFill>
                <a:latin typeface="Inter"/>
              </a:rPr>
              <a:t>• Castilian idioms (vale, tío and tía, guay)</a:t>
            </a:r>
          </a:p>
          <a:p>
            <a:pPr algn="l">
              <a:lnSpc>
                <a:spcPct val="150000"/>
              </a:lnSpc>
            </a:pPr>
            <a:r>
              <a:rPr sz="1100" b="0" i="0">
                <a:solidFill>
                  <a:srgbClr val="C8CDD8"/>
                </a:solidFill>
                <a:latin typeface="Inter"/>
              </a:rPr>
              <a:t>• Peninsular market vocabulary (metric weights, regional produce, Mercadona norms)</a:t>
            </a:r>
          </a:p>
          <a:p>
            <a:pPr algn="l">
              <a:lnSpc>
                <a:spcPct val="150000"/>
              </a:lnSpc>
            </a:pPr>
            <a:endParaRPr sz="1100" b="0" i="0">
              <a:solidFill>
                <a:srgbClr val="C8CDD8"/>
              </a:solidFill>
              <a:latin typeface="Inter"/>
            </a:endParaRPr>
          </a:p>
          <a:p>
            <a:pPr algn="l">
              <a:lnSpc>
                <a:spcPct val="150000"/>
              </a:lnSpc>
            </a:pPr>
            <a:r>
              <a:rPr sz="1100" b="0" i="0">
                <a:solidFill>
                  <a:srgbClr val="C8CDD8"/>
                </a:solidFill>
                <a:latin typeface="Inter"/>
              </a:rPr>
              <a:t>Same framework. One dropdown switch changes the whole regional identity.</a:t>
            </a:r>
          </a:p>
        </p:txBody>
      </p:sp>
      <p:sp>
        <p:nvSpPr>
          <p:cNvPr id="13" name="TextBox 12"/>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4" name="TextBox 13"/>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30</a:t>
            </a:r>
          </a:p>
        </p:txBody>
      </p:sp>
      <p:pic>
        <p:nvPicPr>
          <p:cNvPr id="15" name="Picture 14" descr="image.png"/>
          <p:cNvPicPr>
            <a:picLocks noChangeAspect="1"/>
          </p:cNvPicPr>
          <p:nvPr/>
        </p:nvPicPr>
        <p:blipFill>
          <a:blip r:embed="rId2"/>
          <a:stretch>
            <a:fillRect/>
          </a:stretch>
        </p:blipFill>
        <p:spPr>
          <a:xfrm>
            <a:off x="1218707" y="2331720"/>
            <a:ext cx="2317464" cy="4114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PHASE 5 · SYSTEM MAP</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The loop changes shape when we change what it measures.</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BEFORE is today's Duolingo. TARGET is the full redesign, including the proposed voice agent.</a:t>
            </a:r>
          </a:p>
        </p:txBody>
      </p:sp>
      <p:sp>
        <p:nvSpPr>
          <p:cNvPr id="6" name="Rectangle 5"/>
          <p:cNvSpPr/>
          <p:nvPr/>
        </p:nvSpPr>
        <p:spPr>
          <a:xfrm>
            <a:off x="548640" y="2377440"/>
            <a:ext cx="11094415" cy="18288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377440"/>
            <a:ext cx="50800" cy="18288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560320"/>
            <a:ext cx="2743200" cy="320040"/>
          </a:xfrm>
          <a:prstGeom prst="rect">
            <a:avLst/>
          </a:prstGeom>
          <a:noFill/>
        </p:spPr>
        <p:txBody>
          <a:bodyPr wrap="square" lIns="0" tIns="0" rIns="0" bIns="0" anchor="t">
            <a:spAutoFit/>
          </a:bodyPr>
          <a:lstStyle/>
          <a:p>
            <a:pPr algn="l">
              <a:lnSpc>
                <a:spcPct val="125000"/>
              </a:lnSpc>
            </a:pPr>
            <a:r>
              <a:rPr sz="1100" b="1" i="0" spc="150">
                <a:solidFill>
                  <a:srgbClr val="E07B7B"/>
                </a:solidFill>
                <a:latin typeface="Inter"/>
              </a:rPr>
              <a:t>BEFORE (TODAY)</a:t>
            </a:r>
          </a:p>
        </p:txBody>
      </p:sp>
      <p:sp>
        <p:nvSpPr>
          <p:cNvPr id="9" name="TextBox 8"/>
          <p:cNvSpPr txBox="1"/>
          <p:nvPr/>
        </p:nvSpPr>
        <p:spPr>
          <a:xfrm>
            <a:off x="868680" y="3017520"/>
            <a:ext cx="10972800" cy="457200"/>
          </a:xfrm>
          <a:prstGeom prst="rect">
            <a:avLst/>
          </a:prstGeom>
          <a:noFill/>
        </p:spPr>
        <p:txBody>
          <a:bodyPr wrap="square" lIns="0" tIns="0" rIns="0" bIns="0" anchor="t">
            <a:spAutoFit/>
          </a:bodyPr>
          <a:lstStyle/>
          <a:p>
            <a:pPr algn="l">
              <a:lnSpc>
                <a:spcPct val="125000"/>
              </a:lnSpc>
            </a:pPr>
            <a:r>
              <a:rPr sz="2200" b="1" i="0">
                <a:solidFill>
                  <a:srgbClr val="F0F2F5"/>
                </a:solidFill>
                <a:latin typeface="Inter"/>
              </a:rPr>
              <a:t>Learner   →   Item   →   XP</a:t>
            </a:r>
          </a:p>
        </p:txBody>
      </p:sp>
      <p:sp>
        <p:nvSpPr>
          <p:cNvPr id="10" name="TextBox 9"/>
          <p:cNvSpPr txBox="1"/>
          <p:nvPr/>
        </p:nvSpPr>
        <p:spPr>
          <a:xfrm>
            <a:off x="868680" y="3520440"/>
            <a:ext cx="10972800" cy="457200"/>
          </a:xfrm>
          <a:prstGeom prst="rect">
            <a:avLst/>
          </a:prstGeom>
          <a:noFill/>
        </p:spPr>
        <p:txBody>
          <a:bodyPr wrap="square" lIns="0" tIns="0" rIns="0" bIns="0" anchor="t">
            <a:spAutoFit/>
          </a:bodyPr>
          <a:lstStyle/>
          <a:p>
            <a:pPr algn="l">
              <a:lnSpc>
                <a:spcPct val="125000"/>
              </a:lnSpc>
            </a:pPr>
            <a:r>
              <a:rPr sz="1200" b="0" i="1">
                <a:solidFill>
                  <a:srgbClr val="C8CDD8"/>
                </a:solidFill>
                <a:latin typeface="Inter"/>
              </a:rPr>
              <a:t>A closed loop on the wrong variable. The learner's goal (speaking) is not in the circuit.</a:t>
            </a:r>
          </a:p>
        </p:txBody>
      </p:sp>
      <p:sp>
        <p:nvSpPr>
          <p:cNvPr id="11" name="Rectangle 10"/>
          <p:cNvSpPr/>
          <p:nvPr/>
        </p:nvSpPr>
        <p:spPr>
          <a:xfrm>
            <a:off x="548640" y="4389120"/>
            <a:ext cx="11094415" cy="18288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4389120"/>
            <a:ext cx="50800" cy="182880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572000"/>
            <a:ext cx="5486400" cy="320040"/>
          </a:xfrm>
          <a:prstGeom prst="rect">
            <a:avLst/>
          </a:prstGeom>
          <a:noFill/>
        </p:spPr>
        <p:txBody>
          <a:bodyPr wrap="square" lIns="0" tIns="0" rIns="0" bIns="0" anchor="t">
            <a:spAutoFit/>
          </a:bodyPr>
          <a:lstStyle/>
          <a:p>
            <a:pPr algn="l">
              <a:lnSpc>
                <a:spcPct val="125000"/>
              </a:lnSpc>
            </a:pPr>
            <a:r>
              <a:rPr sz="1100" b="1" i="0" spc="150">
                <a:solidFill>
                  <a:srgbClr val="7BE0B4"/>
                </a:solidFill>
                <a:latin typeface="Inter"/>
              </a:rPr>
              <a:t>TARGET (FULL REDESIGN · INCLUDES FUTURE VOICE AGENT)</a:t>
            </a:r>
          </a:p>
        </p:txBody>
      </p:sp>
      <p:sp>
        <p:nvSpPr>
          <p:cNvPr id="14" name="TextBox 13"/>
          <p:cNvSpPr txBox="1"/>
          <p:nvPr/>
        </p:nvSpPr>
        <p:spPr>
          <a:xfrm>
            <a:off x="868680" y="5029200"/>
            <a:ext cx="10972800" cy="457200"/>
          </a:xfrm>
          <a:prstGeom prst="rect">
            <a:avLst/>
          </a:prstGeom>
          <a:noFill/>
        </p:spPr>
        <p:txBody>
          <a:bodyPr wrap="square" lIns="0" tIns="0" rIns="0" bIns="0" anchor="t">
            <a:spAutoFit/>
          </a:bodyPr>
          <a:lstStyle/>
          <a:p>
            <a:pPr algn="l">
              <a:lnSpc>
                <a:spcPct val="125000"/>
              </a:lnSpc>
            </a:pPr>
            <a:r>
              <a:rPr sz="1500" b="1" i="0">
                <a:solidFill>
                  <a:srgbClr val="F0F2F5"/>
                </a:solidFill>
                <a:latin typeface="Inter"/>
              </a:rPr>
              <a:t>Learner   ↔   Dialect Agent   ↔   Scaffolded Dialogue   →   bound context   →   production feedback</a:t>
            </a:r>
          </a:p>
        </p:txBody>
      </p:sp>
      <p:sp>
        <p:nvSpPr>
          <p:cNvPr id="15" name="TextBox 14"/>
          <p:cNvSpPr txBox="1"/>
          <p:nvPr/>
        </p:nvSpPr>
        <p:spPr>
          <a:xfrm>
            <a:off x="868680" y="5532120"/>
            <a:ext cx="10972800" cy="457200"/>
          </a:xfrm>
          <a:prstGeom prst="rect">
            <a:avLst/>
          </a:prstGeom>
          <a:noFill/>
        </p:spPr>
        <p:txBody>
          <a:bodyPr wrap="square" lIns="0" tIns="0" rIns="0" bIns="0" anchor="t">
            <a:spAutoFit/>
          </a:bodyPr>
          <a:lstStyle/>
          <a:p>
            <a:pPr algn="l">
              <a:lnSpc>
                <a:spcPct val="125000"/>
              </a:lnSpc>
            </a:pPr>
            <a:r>
              <a:rPr sz="1200" b="0" i="1">
                <a:solidFill>
                  <a:srgbClr val="C8CDD8"/>
                </a:solidFill>
                <a:latin typeface="Inter"/>
              </a:rPr>
              <a:t>The agent sits in the middle. Context binds. Feedback is about what the learner produced, not what they recognized.</a:t>
            </a:r>
          </a:p>
        </p:txBody>
      </p:sp>
      <p:sp>
        <p:nvSpPr>
          <p:cNvPr id="16" name="TextBox 15"/>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7" name="TextBox 16"/>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PHASE 5 · GAP ANALYSIS &amp; TRADE OFFS</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What we did not build, and the trade offs if we did.</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A gap analysis exposes blind spots. The trade offs keep the proposal honest.</a:t>
            </a:r>
          </a:p>
        </p:txBody>
      </p:sp>
      <p:sp>
        <p:nvSpPr>
          <p:cNvPr id="6" name="Rectangle 5"/>
          <p:cNvSpPr/>
          <p:nvPr/>
        </p:nvSpPr>
        <p:spPr>
          <a:xfrm>
            <a:off x="548640" y="2651760"/>
            <a:ext cx="5532120" cy="32004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651760"/>
            <a:ext cx="50800" cy="320040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788920"/>
            <a:ext cx="5166360" cy="411480"/>
          </a:xfrm>
          <a:prstGeom prst="rect">
            <a:avLst/>
          </a:prstGeom>
          <a:noFill/>
        </p:spPr>
        <p:txBody>
          <a:bodyPr wrap="square" lIns="0" tIns="0" rIns="0" bIns="0" anchor="t">
            <a:spAutoFit/>
          </a:bodyPr>
          <a:lstStyle/>
          <a:p>
            <a:pPr algn="l">
              <a:lnSpc>
                <a:spcPct val="115000"/>
              </a:lnSpc>
            </a:pPr>
            <a:r>
              <a:rPr sz="1200" b="1" i="0" spc="100">
                <a:solidFill>
                  <a:srgbClr val="E07B7B"/>
                </a:solidFill>
                <a:latin typeface="Inter"/>
              </a:rPr>
              <a:t>GAPS · WHAT IS MISSING</a:t>
            </a:r>
          </a:p>
        </p:txBody>
      </p:sp>
      <p:sp>
        <p:nvSpPr>
          <p:cNvPr id="9" name="TextBox 8"/>
          <p:cNvSpPr txBox="1"/>
          <p:nvPr/>
        </p:nvSpPr>
        <p:spPr>
          <a:xfrm>
            <a:off x="749808" y="3154680"/>
            <a:ext cx="5166360" cy="260604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Voice input and output is not yet implemented.</a:t>
            </a:r>
          </a:p>
          <a:p>
            <a:pPr algn="l">
              <a:lnSpc>
                <a:spcPct val="140000"/>
              </a:lnSpc>
            </a:pPr>
            <a:r>
              <a:rPr sz="1100" b="0" i="0">
                <a:solidFill>
                  <a:srgbClr val="C8CDD8"/>
                </a:solidFill>
                <a:latin typeface="Inter"/>
              </a:rPr>
              <a:t>• The content agent (blogs, songs, news) was descoped from the original proposal.</a:t>
            </a:r>
          </a:p>
          <a:p>
            <a:pPr algn="l">
              <a:lnSpc>
                <a:spcPct val="140000"/>
              </a:lnSpc>
            </a:pPr>
            <a:r>
              <a:rPr sz="1100" b="0" i="0">
                <a:solidFill>
                  <a:srgbClr val="C8CDD8"/>
                </a:solidFill>
                <a:latin typeface="Inter"/>
              </a:rPr>
              <a:t>• No A/B test was run. This is a proof of concept only.</a:t>
            </a:r>
          </a:p>
          <a:p>
            <a:pPr algn="l">
              <a:lnSpc>
                <a:spcPct val="140000"/>
              </a:lnSpc>
            </a:pPr>
            <a:r>
              <a:rPr sz="1100" b="0" i="0">
                <a:solidFill>
                  <a:srgbClr val="C8CDD8"/>
                </a:solidFill>
                <a:latin typeface="Inter"/>
              </a:rPr>
              <a:t>• No eye tracking data yet. The IX Lab is the next step.</a:t>
            </a:r>
          </a:p>
          <a:p>
            <a:pPr algn="l">
              <a:lnSpc>
                <a:spcPct val="140000"/>
              </a:lnSpc>
            </a:pPr>
            <a:r>
              <a:rPr sz="1100" b="0" i="0">
                <a:solidFill>
                  <a:srgbClr val="C8CDD8"/>
                </a:solidFill>
                <a:latin typeface="Inter"/>
              </a:rPr>
              <a:t>• No long term retention data on the prototype.</a:t>
            </a:r>
          </a:p>
          <a:p>
            <a:pPr algn="l">
              <a:lnSpc>
                <a:spcPct val="140000"/>
              </a:lnSpc>
            </a:pPr>
            <a:r>
              <a:rPr sz="1100" b="0" i="0">
                <a:solidFill>
                  <a:srgbClr val="C8CDD8"/>
                </a:solidFill>
                <a:latin typeface="Inter"/>
              </a:rPr>
              <a:t>• Two dialects shipped (Mexican and Castilian). Spanish alone has dozens.</a:t>
            </a:r>
          </a:p>
        </p:txBody>
      </p:sp>
      <p:sp>
        <p:nvSpPr>
          <p:cNvPr id="10" name="Rectangle 9"/>
          <p:cNvSpPr/>
          <p:nvPr/>
        </p:nvSpPr>
        <p:spPr>
          <a:xfrm>
            <a:off x="6309360" y="2651760"/>
            <a:ext cx="5532120" cy="320040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2651760"/>
            <a:ext cx="50800" cy="32004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0528" y="2788920"/>
            <a:ext cx="5166360" cy="411480"/>
          </a:xfrm>
          <a:prstGeom prst="rect">
            <a:avLst/>
          </a:prstGeom>
          <a:noFill/>
        </p:spPr>
        <p:txBody>
          <a:bodyPr wrap="square" lIns="0" tIns="0" rIns="0" bIns="0" anchor="t">
            <a:spAutoFit/>
          </a:bodyPr>
          <a:lstStyle/>
          <a:p>
            <a:pPr algn="l">
              <a:lnSpc>
                <a:spcPct val="115000"/>
              </a:lnSpc>
            </a:pPr>
            <a:r>
              <a:rPr sz="1200" b="1" i="0" spc="100">
                <a:solidFill>
                  <a:srgbClr val="E0C27B"/>
                </a:solidFill>
                <a:latin typeface="Inter"/>
              </a:rPr>
              <a:t>TRADE OFFS · WHAT WE WOULD WEIGH</a:t>
            </a:r>
          </a:p>
        </p:txBody>
      </p:sp>
      <p:sp>
        <p:nvSpPr>
          <p:cNvPr id="13" name="TextBox 12"/>
          <p:cNvSpPr txBox="1"/>
          <p:nvPr/>
        </p:nvSpPr>
        <p:spPr>
          <a:xfrm>
            <a:off x="6510528" y="3154680"/>
            <a:ext cx="5166360" cy="2606040"/>
          </a:xfrm>
          <a:prstGeom prst="rect">
            <a:avLst/>
          </a:prstGeom>
          <a:noFill/>
        </p:spPr>
        <p:txBody>
          <a:bodyPr wrap="square" lIns="0" tIns="0" rIns="0" bIns="0" anchor="t">
            <a:spAutoFit/>
          </a:bodyPr>
          <a:lstStyle/>
          <a:p>
            <a:pPr algn="l">
              <a:lnSpc>
                <a:spcPct val="140000"/>
              </a:lnSpc>
            </a:pPr>
            <a:r>
              <a:rPr sz="1100" b="0" i="0">
                <a:solidFill>
                  <a:srgbClr val="C8CDD8"/>
                </a:solidFill>
                <a:latin typeface="Inter"/>
              </a:rPr>
              <a:t>• Regional authenticity vs. voice model availability. The Castilian voice pool is deeper than the Mexican one (applies once voice is built).</a:t>
            </a:r>
          </a:p>
          <a:p>
            <a:pPr algn="l">
              <a:lnSpc>
                <a:spcPct val="140000"/>
              </a:lnSpc>
            </a:pPr>
            <a:r>
              <a:rPr sz="1100" b="0" i="0">
                <a:solidFill>
                  <a:srgbClr val="C8CDD8"/>
                </a:solidFill>
                <a:latin typeface="Inter"/>
              </a:rPr>
              <a:t>• Latency vs. response quality. Fast turn taking competes with deeper model reasoning.</a:t>
            </a:r>
          </a:p>
          <a:p>
            <a:pPr algn="l">
              <a:lnSpc>
                <a:spcPct val="140000"/>
              </a:lnSpc>
            </a:pPr>
            <a:r>
              <a:rPr sz="1100" b="0" i="0">
                <a:solidFill>
                  <a:srgbClr val="C8CDD8"/>
                </a:solidFill>
                <a:latin typeface="Inter"/>
              </a:rPr>
              <a:t>• Scope vs. feasibility. A four agent vision against a two week build window.</a:t>
            </a:r>
          </a:p>
          <a:p>
            <a:pPr algn="l">
              <a:lnSpc>
                <a:spcPct val="140000"/>
              </a:lnSpc>
            </a:pPr>
            <a:r>
              <a:rPr sz="1100" b="0" i="0">
                <a:solidFill>
                  <a:srgbClr val="C8CDD8"/>
                </a:solidFill>
                <a:latin typeface="Inter"/>
              </a:rPr>
              <a:t>• Correction strength vs. learner anxiety. Too harsh a correction kills willingness to communicate (per Wang 2024).</a:t>
            </a:r>
          </a:p>
          <a:p>
            <a:pPr algn="l">
              <a:lnSpc>
                <a:spcPct val="140000"/>
              </a:lnSpc>
            </a:pPr>
            <a:r>
              <a:rPr sz="1100" b="0" i="0">
                <a:solidFill>
                  <a:srgbClr val="C8CDD8"/>
                </a:solidFill>
                <a:latin typeface="Inter"/>
              </a:rPr>
              <a:t>• Regional specificity vs. user reach. A Mexican agent underserves an Argentine learner.</a:t>
            </a:r>
          </a:p>
        </p:txBody>
      </p:sp>
      <p:sp>
        <p:nvSpPr>
          <p:cNvPr id="14" name="TextBox 13"/>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5" name="TextBox 14"/>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PHASE 5 · FUTURE WORK</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Four agents. One coherent architecture.</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What we shipped is one layer. The voice agent closes the Level 1 signal gap.</a:t>
            </a:r>
          </a:p>
        </p:txBody>
      </p:sp>
      <p:sp>
        <p:nvSpPr>
          <p:cNvPr id="6" name="Rectangle 5"/>
          <p:cNvSpPr/>
          <p:nvPr/>
        </p:nvSpPr>
        <p:spPr>
          <a:xfrm>
            <a:off x="548640" y="2468880"/>
            <a:ext cx="2697480" cy="26517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468880"/>
            <a:ext cx="2697480" cy="3810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651760"/>
            <a:ext cx="2331720" cy="365760"/>
          </a:xfrm>
          <a:prstGeom prst="rect">
            <a:avLst/>
          </a:prstGeom>
          <a:noFill/>
        </p:spPr>
        <p:txBody>
          <a:bodyPr wrap="square" lIns="0" tIns="0" rIns="0" bIns="0" anchor="t">
            <a:spAutoFit/>
          </a:bodyPr>
          <a:lstStyle/>
          <a:p>
            <a:pPr algn="l">
              <a:lnSpc>
                <a:spcPct val="125000"/>
              </a:lnSpc>
            </a:pPr>
            <a:r>
              <a:rPr sz="1050" b="1" i="0" spc="120">
                <a:solidFill>
                  <a:srgbClr val="7B9FE0"/>
                </a:solidFill>
                <a:latin typeface="Inter"/>
              </a:rPr>
              <a:t>CONTENT AGENT</a:t>
            </a:r>
          </a:p>
        </p:txBody>
      </p:sp>
      <p:sp>
        <p:nvSpPr>
          <p:cNvPr id="9" name="TextBox 8"/>
          <p:cNvSpPr txBox="1"/>
          <p:nvPr/>
        </p:nvSpPr>
        <p:spPr>
          <a:xfrm>
            <a:off x="731520" y="2971800"/>
            <a:ext cx="2331720" cy="274320"/>
          </a:xfrm>
          <a:prstGeom prst="rect">
            <a:avLst/>
          </a:prstGeom>
          <a:noFill/>
        </p:spPr>
        <p:txBody>
          <a:bodyPr wrap="square" lIns="0" tIns="0" rIns="0" bIns="0" anchor="t">
            <a:spAutoFit/>
          </a:bodyPr>
          <a:lstStyle/>
          <a:p>
            <a:pPr algn="l">
              <a:lnSpc>
                <a:spcPct val="125000"/>
              </a:lnSpc>
            </a:pPr>
            <a:r>
              <a:rPr sz="950" b="1" i="0" spc="150">
                <a:solidFill>
                  <a:srgbClr val="E0C27B"/>
                </a:solidFill>
                <a:latin typeface="Inter"/>
              </a:rPr>
              <a:t>PROPOSED</a:t>
            </a:r>
          </a:p>
        </p:txBody>
      </p:sp>
      <p:sp>
        <p:nvSpPr>
          <p:cNvPr id="10" name="TextBox 9"/>
          <p:cNvSpPr txBox="1"/>
          <p:nvPr/>
        </p:nvSpPr>
        <p:spPr>
          <a:xfrm>
            <a:off x="731520" y="3383280"/>
            <a:ext cx="2331720" cy="1645920"/>
          </a:xfrm>
          <a:prstGeom prst="rect">
            <a:avLst/>
          </a:prstGeom>
          <a:noFill/>
        </p:spPr>
        <p:txBody>
          <a:bodyPr wrap="square" lIns="0" tIns="0" rIns="0" bIns="0" anchor="t">
            <a:spAutoFit/>
          </a:bodyPr>
          <a:lstStyle/>
          <a:p>
            <a:pPr algn="l">
              <a:lnSpc>
                <a:spcPct val="145000"/>
              </a:lnSpc>
            </a:pPr>
            <a:r>
              <a:rPr sz="1050" b="0" i="0">
                <a:solidFill>
                  <a:srgbClr val="C8CDD8"/>
                </a:solidFill>
                <a:latin typeface="Inter"/>
              </a:rPr>
              <a:t>Surfaces target language material: blogs, songs, news, speeches.</a:t>
            </a:r>
          </a:p>
          <a:p>
            <a:pPr algn="l">
              <a:lnSpc>
                <a:spcPct val="145000"/>
              </a:lnSpc>
            </a:pPr>
            <a:endParaRPr sz="1050" b="0" i="0">
              <a:solidFill>
                <a:srgbClr val="C8CDD8"/>
              </a:solidFill>
              <a:latin typeface="Inter"/>
            </a:endParaRPr>
          </a:p>
          <a:p>
            <a:pPr algn="l">
              <a:lnSpc>
                <a:spcPct val="145000"/>
              </a:lnSpc>
            </a:pPr>
            <a:r>
              <a:rPr sz="1050" b="0" i="0">
                <a:solidFill>
                  <a:srgbClr val="C8CDD8"/>
                </a:solidFill>
                <a:latin typeface="Inter"/>
              </a:rPr>
              <a:t>Addresses the Level 2 hole by giving the learner real context to bind to, even outside of a conversation.</a:t>
            </a:r>
          </a:p>
        </p:txBody>
      </p:sp>
      <p:sp>
        <p:nvSpPr>
          <p:cNvPr id="11" name="Rectangle 10"/>
          <p:cNvSpPr/>
          <p:nvPr/>
        </p:nvSpPr>
        <p:spPr>
          <a:xfrm>
            <a:off x="3383280" y="2468880"/>
            <a:ext cx="2697480" cy="26517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83280" y="2468880"/>
            <a:ext cx="2697480" cy="3810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66160" y="2651760"/>
            <a:ext cx="2331720" cy="365760"/>
          </a:xfrm>
          <a:prstGeom prst="rect">
            <a:avLst/>
          </a:prstGeom>
          <a:noFill/>
        </p:spPr>
        <p:txBody>
          <a:bodyPr wrap="square" lIns="0" tIns="0" rIns="0" bIns="0" anchor="t">
            <a:spAutoFit/>
          </a:bodyPr>
          <a:lstStyle/>
          <a:p>
            <a:pPr algn="l">
              <a:lnSpc>
                <a:spcPct val="125000"/>
              </a:lnSpc>
            </a:pPr>
            <a:r>
              <a:rPr sz="1050" b="1" i="0" spc="120">
                <a:solidFill>
                  <a:srgbClr val="7BE0B4"/>
                </a:solidFill>
                <a:latin typeface="Inter"/>
              </a:rPr>
              <a:t>CONVERSATIONAL AGENT</a:t>
            </a:r>
          </a:p>
        </p:txBody>
      </p:sp>
      <p:sp>
        <p:nvSpPr>
          <p:cNvPr id="14" name="TextBox 13"/>
          <p:cNvSpPr txBox="1"/>
          <p:nvPr/>
        </p:nvSpPr>
        <p:spPr>
          <a:xfrm>
            <a:off x="3566160" y="2971800"/>
            <a:ext cx="233172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BUILT</a:t>
            </a:r>
          </a:p>
        </p:txBody>
      </p:sp>
      <p:sp>
        <p:nvSpPr>
          <p:cNvPr id="15" name="TextBox 14"/>
          <p:cNvSpPr txBox="1"/>
          <p:nvPr/>
        </p:nvSpPr>
        <p:spPr>
          <a:xfrm>
            <a:off x="3566160" y="3383280"/>
            <a:ext cx="2331720" cy="1645920"/>
          </a:xfrm>
          <a:prstGeom prst="rect">
            <a:avLst/>
          </a:prstGeom>
          <a:noFill/>
        </p:spPr>
        <p:txBody>
          <a:bodyPr wrap="square" lIns="0" tIns="0" rIns="0" bIns="0" anchor="t">
            <a:spAutoFit/>
          </a:bodyPr>
          <a:lstStyle/>
          <a:p>
            <a:pPr algn="l">
              <a:lnSpc>
                <a:spcPct val="145000"/>
              </a:lnSpc>
            </a:pPr>
            <a:r>
              <a:rPr sz="1050" b="0" i="0">
                <a:solidFill>
                  <a:srgbClr val="C8CDD8"/>
                </a:solidFill>
                <a:latin typeface="Inter"/>
              </a:rPr>
              <a:t>Scaffolded dialogue, scenario lock, and severity graded corrections.</a:t>
            </a:r>
          </a:p>
          <a:p>
            <a:pPr algn="l">
              <a:lnSpc>
                <a:spcPct val="145000"/>
              </a:lnSpc>
            </a:pPr>
            <a:endParaRPr sz="1050" b="0" i="0">
              <a:solidFill>
                <a:srgbClr val="C8CDD8"/>
              </a:solidFill>
              <a:latin typeface="Inter"/>
            </a:endParaRPr>
          </a:p>
          <a:p>
            <a:pPr algn="l">
              <a:lnSpc>
                <a:spcPct val="145000"/>
              </a:lnSpc>
            </a:pPr>
            <a:r>
              <a:rPr sz="1050" b="0" i="0">
                <a:solidFill>
                  <a:srgbClr val="C8CDD8"/>
                </a:solidFill>
                <a:latin typeface="Inter"/>
              </a:rPr>
              <a:t>Bibauw's d = 0.58 evidence put into practice in a working proof of concept.</a:t>
            </a:r>
          </a:p>
        </p:txBody>
      </p:sp>
      <p:sp>
        <p:nvSpPr>
          <p:cNvPr id="16" name="Rectangle 15"/>
          <p:cNvSpPr/>
          <p:nvPr/>
        </p:nvSpPr>
        <p:spPr>
          <a:xfrm>
            <a:off x="6217920" y="2468880"/>
            <a:ext cx="2697480" cy="26517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0" y="2468880"/>
            <a:ext cx="2697480" cy="3810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2651760"/>
            <a:ext cx="2331720" cy="365760"/>
          </a:xfrm>
          <a:prstGeom prst="rect">
            <a:avLst/>
          </a:prstGeom>
          <a:noFill/>
        </p:spPr>
        <p:txBody>
          <a:bodyPr wrap="square" lIns="0" tIns="0" rIns="0" bIns="0" anchor="t">
            <a:spAutoFit/>
          </a:bodyPr>
          <a:lstStyle/>
          <a:p>
            <a:pPr algn="l">
              <a:lnSpc>
                <a:spcPct val="125000"/>
              </a:lnSpc>
            </a:pPr>
            <a:r>
              <a:rPr sz="1050" b="1" i="0" spc="120">
                <a:solidFill>
                  <a:srgbClr val="E07BAA"/>
                </a:solidFill>
                <a:latin typeface="Inter"/>
              </a:rPr>
              <a:t>DIALECT AGENTS</a:t>
            </a:r>
          </a:p>
        </p:txBody>
      </p:sp>
      <p:sp>
        <p:nvSpPr>
          <p:cNvPr id="19" name="TextBox 18"/>
          <p:cNvSpPr txBox="1"/>
          <p:nvPr/>
        </p:nvSpPr>
        <p:spPr>
          <a:xfrm>
            <a:off x="6400800" y="2971800"/>
            <a:ext cx="233172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BUILT</a:t>
            </a:r>
          </a:p>
        </p:txBody>
      </p:sp>
      <p:sp>
        <p:nvSpPr>
          <p:cNvPr id="20" name="TextBox 19"/>
          <p:cNvSpPr txBox="1"/>
          <p:nvPr/>
        </p:nvSpPr>
        <p:spPr>
          <a:xfrm>
            <a:off x="6400800" y="3383280"/>
            <a:ext cx="2331720" cy="1645920"/>
          </a:xfrm>
          <a:prstGeom prst="rect">
            <a:avLst/>
          </a:prstGeom>
          <a:noFill/>
        </p:spPr>
        <p:txBody>
          <a:bodyPr wrap="square" lIns="0" tIns="0" rIns="0" bIns="0" anchor="t">
            <a:spAutoFit/>
          </a:bodyPr>
          <a:lstStyle/>
          <a:p>
            <a:pPr algn="l">
              <a:lnSpc>
                <a:spcPct val="145000"/>
              </a:lnSpc>
            </a:pPr>
            <a:r>
              <a:rPr sz="1050" b="0" i="0">
                <a:solidFill>
                  <a:srgbClr val="C8CDD8"/>
                </a:solidFill>
                <a:latin typeface="Inter"/>
              </a:rPr>
              <a:t>Carlos (Mexican) and Elena (Castilian).</a:t>
            </a:r>
          </a:p>
          <a:p>
            <a:pPr algn="l">
              <a:lnSpc>
                <a:spcPct val="145000"/>
              </a:lnSpc>
            </a:pPr>
            <a:endParaRPr sz="1050" b="0" i="0">
              <a:solidFill>
                <a:srgbClr val="C8CDD8"/>
              </a:solidFill>
              <a:latin typeface="Inter"/>
            </a:endParaRPr>
          </a:p>
          <a:p>
            <a:pPr algn="l">
              <a:lnSpc>
                <a:spcPct val="145000"/>
              </a:lnSpc>
            </a:pPr>
            <a:r>
              <a:rPr sz="1050" b="0" i="0">
                <a:solidFill>
                  <a:srgbClr val="C8CDD8"/>
                </a:solidFill>
                <a:latin typeface="Inter"/>
              </a:rPr>
              <a:t>Mayer's conversational style research and Geeslin's regional variation research put into practice.</a:t>
            </a:r>
          </a:p>
        </p:txBody>
      </p:sp>
      <p:sp>
        <p:nvSpPr>
          <p:cNvPr id="21" name="Rectangle 20"/>
          <p:cNvSpPr/>
          <p:nvPr/>
        </p:nvSpPr>
        <p:spPr>
          <a:xfrm>
            <a:off x="9052560" y="2468880"/>
            <a:ext cx="2697480" cy="265176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052560" y="2468880"/>
            <a:ext cx="2697480" cy="3810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35440" y="2651760"/>
            <a:ext cx="2331720" cy="365760"/>
          </a:xfrm>
          <a:prstGeom prst="rect">
            <a:avLst/>
          </a:prstGeom>
          <a:noFill/>
        </p:spPr>
        <p:txBody>
          <a:bodyPr wrap="square" lIns="0" tIns="0" rIns="0" bIns="0" anchor="t">
            <a:spAutoFit/>
          </a:bodyPr>
          <a:lstStyle/>
          <a:p>
            <a:pPr algn="l">
              <a:lnSpc>
                <a:spcPct val="125000"/>
              </a:lnSpc>
            </a:pPr>
            <a:r>
              <a:rPr sz="1050" b="1" i="0" spc="120">
                <a:solidFill>
                  <a:srgbClr val="E0C27B"/>
                </a:solidFill>
                <a:latin typeface="Inter"/>
              </a:rPr>
              <a:t>VOICE AGENT</a:t>
            </a:r>
          </a:p>
        </p:txBody>
      </p:sp>
      <p:sp>
        <p:nvSpPr>
          <p:cNvPr id="24" name="TextBox 23"/>
          <p:cNvSpPr txBox="1"/>
          <p:nvPr/>
        </p:nvSpPr>
        <p:spPr>
          <a:xfrm>
            <a:off x="9235440" y="2971800"/>
            <a:ext cx="2331720" cy="274320"/>
          </a:xfrm>
          <a:prstGeom prst="rect">
            <a:avLst/>
          </a:prstGeom>
          <a:noFill/>
        </p:spPr>
        <p:txBody>
          <a:bodyPr wrap="square" lIns="0" tIns="0" rIns="0" bIns="0" anchor="t">
            <a:spAutoFit/>
          </a:bodyPr>
          <a:lstStyle/>
          <a:p>
            <a:pPr algn="l">
              <a:lnSpc>
                <a:spcPct val="125000"/>
              </a:lnSpc>
            </a:pPr>
            <a:r>
              <a:rPr sz="950" b="1" i="0" spc="150">
                <a:solidFill>
                  <a:srgbClr val="E0C27B"/>
                </a:solidFill>
                <a:latin typeface="Inter"/>
              </a:rPr>
              <a:t>PROPOSED</a:t>
            </a:r>
          </a:p>
        </p:txBody>
      </p:sp>
      <p:sp>
        <p:nvSpPr>
          <p:cNvPr id="25" name="TextBox 24"/>
          <p:cNvSpPr txBox="1"/>
          <p:nvPr/>
        </p:nvSpPr>
        <p:spPr>
          <a:xfrm>
            <a:off x="9235440" y="3383280"/>
            <a:ext cx="2331720" cy="1645920"/>
          </a:xfrm>
          <a:prstGeom prst="rect">
            <a:avLst/>
          </a:prstGeom>
          <a:noFill/>
        </p:spPr>
        <p:txBody>
          <a:bodyPr wrap="square" lIns="0" tIns="0" rIns="0" bIns="0" anchor="t">
            <a:spAutoFit/>
          </a:bodyPr>
          <a:lstStyle/>
          <a:p>
            <a:pPr algn="l">
              <a:lnSpc>
                <a:spcPct val="145000"/>
              </a:lnSpc>
            </a:pPr>
            <a:r>
              <a:rPr sz="1050" b="0" i="0">
                <a:solidFill>
                  <a:srgbClr val="C8CDD8"/>
                </a:solidFill>
                <a:latin typeface="Inter"/>
              </a:rPr>
              <a:t>Speech to text in. Dialect authentic text to speech out. Fast enough turn taking to feel conversational.</a:t>
            </a:r>
          </a:p>
          <a:p>
            <a:pPr algn="l">
              <a:lnSpc>
                <a:spcPct val="145000"/>
              </a:lnSpc>
            </a:pPr>
            <a:endParaRPr sz="1050" b="0" i="0">
              <a:solidFill>
                <a:srgbClr val="C8CDD8"/>
              </a:solidFill>
              <a:latin typeface="Inter"/>
            </a:endParaRPr>
          </a:p>
          <a:p>
            <a:pPr algn="l">
              <a:lnSpc>
                <a:spcPct val="145000"/>
              </a:lnSpc>
            </a:pPr>
            <a:r>
              <a:rPr sz="1050" b="0" i="0">
                <a:solidFill>
                  <a:srgbClr val="C8CDD8"/>
                </a:solidFill>
                <a:latin typeface="Inter"/>
              </a:rPr>
              <a:t>Closes the Level 1 signal loop: the learner speaks, the system hears, and the system can finally measure production.</a:t>
            </a:r>
          </a:p>
        </p:txBody>
      </p:sp>
      <p:sp>
        <p:nvSpPr>
          <p:cNvPr id="26" name="Rectangle 25"/>
          <p:cNvSpPr/>
          <p:nvPr/>
        </p:nvSpPr>
        <p:spPr>
          <a:xfrm>
            <a:off x="548640" y="5394960"/>
            <a:ext cx="11094415" cy="100584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5394960"/>
            <a:ext cx="50800" cy="100584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2960" y="5577840"/>
            <a:ext cx="10682935" cy="548640"/>
          </a:xfrm>
          <a:prstGeom prst="rect">
            <a:avLst/>
          </a:prstGeom>
          <a:noFill/>
        </p:spPr>
        <p:txBody>
          <a:bodyPr wrap="square" lIns="0" tIns="0" rIns="0" bIns="0" anchor="t">
            <a:spAutoFit/>
          </a:bodyPr>
          <a:lstStyle/>
          <a:p>
            <a:pPr algn="l">
              <a:lnSpc>
                <a:spcPct val="140000"/>
              </a:lnSpc>
            </a:pPr>
            <a:r>
              <a:rPr sz="1300" b="0" i="1">
                <a:solidFill>
                  <a:srgbClr val="F0F2F5"/>
                </a:solidFill>
                <a:latin typeface="Inter"/>
              </a:rPr>
              <a:t>The voice layer follows three design principles from this course: recovery (fall back to text if speech fails), redundancy (show the correction even when it is spoken), and reduced cognitive load (voice for production, visual for feedback).</a:t>
            </a:r>
          </a:p>
        </p:txBody>
      </p:sp>
      <p:sp>
        <p:nvSpPr>
          <p:cNvPr id="29" name="TextBox 28"/>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30" name="TextBox 29"/>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274320"/>
          </a:xfrm>
          <a:prstGeom prst="rect">
            <a:avLst/>
          </a:prstGeom>
          <a:noFill/>
        </p:spPr>
        <p:txBody>
          <a:bodyPr wrap="square" lIns="0" tIns="0" rIns="0" bIns="0" anchor="t">
            <a:spAutoFit/>
          </a:bodyPr>
          <a:lstStyle/>
          <a:p>
            <a:pPr algn="l">
              <a:lnSpc>
                <a:spcPct val="125000"/>
              </a:lnSpc>
            </a:pPr>
            <a:r>
              <a:rPr sz="950" b="1" i="0" spc="150">
                <a:solidFill>
                  <a:srgbClr val="7BE0B4"/>
                </a:solidFill>
                <a:latin typeface="Inter"/>
              </a:rPr>
              <a:t>PHASE 5 · ACTION PLAN</a:t>
            </a:r>
          </a:p>
        </p:txBody>
      </p:sp>
      <p:sp>
        <p:nvSpPr>
          <p:cNvPr id="3" name="Rectangle 2"/>
          <p:cNvSpPr/>
          <p:nvPr/>
        </p:nvSpPr>
        <p:spPr>
          <a:xfrm>
            <a:off x="5120640" y="512064"/>
            <a:ext cx="6583680" cy="6350"/>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822960"/>
            <a:ext cx="11094415" cy="1371600"/>
          </a:xfrm>
          <a:prstGeom prst="rect">
            <a:avLst/>
          </a:prstGeom>
          <a:noFill/>
        </p:spPr>
        <p:txBody>
          <a:bodyPr wrap="square" lIns="0" tIns="0" rIns="0" bIns="0" anchor="t">
            <a:spAutoFit/>
          </a:bodyPr>
          <a:lstStyle/>
          <a:p>
            <a:pPr algn="l">
              <a:lnSpc>
                <a:spcPct val="118000"/>
              </a:lnSpc>
            </a:pPr>
            <a:r>
              <a:rPr sz="2800" b="0" i="0">
                <a:solidFill>
                  <a:srgbClr val="F0F2F5"/>
                </a:solidFill>
                <a:latin typeface="Inter"/>
              </a:rPr>
              <a:t>Feasible, and actionable.</a:t>
            </a:r>
          </a:p>
        </p:txBody>
      </p:sp>
      <p:sp>
        <p:nvSpPr>
          <p:cNvPr id="5" name="TextBox 4"/>
          <p:cNvSpPr txBox="1"/>
          <p:nvPr/>
        </p:nvSpPr>
        <p:spPr>
          <a:xfrm>
            <a:off x="548640" y="1691640"/>
            <a:ext cx="11094415" cy="457200"/>
          </a:xfrm>
          <a:prstGeom prst="rect">
            <a:avLst/>
          </a:prstGeom>
          <a:noFill/>
        </p:spPr>
        <p:txBody>
          <a:bodyPr wrap="square" lIns="0" tIns="0" rIns="0" bIns="0" anchor="t">
            <a:spAutoFit/>
          </a:bodyPr>
          <a:lstStyle/>
          <a:p>
            <a:pPr algn="l">
              <a:lnSpc>
                <a:spcPct val="130000"/>
              </a:lnSpc>
            </a:pPr>
            <a:r>
              <a:rPr sz="1500" b="0" i="0">
                <a:solidFill>
                  <a:srgbClr val="C8CDD8"/>
                </a:solidFill>
                <a:latin typeface="Inter"/>
              </a:rPr>
              <a:t>Each step converts one gap analysis item into evidence.</a:t>
            </a:r>
          </a:p>
        </p:txBody>
      </p:sp>
      <p:sp>
        <p:nvSpPr>
          <p:cNvPr id="6" name="Rectangle 5"/>
          <p:cNvSpPr/>
          <p:nvPr/>
        </p:nvSpPr>
        <p:spPr>
          <a:xfrm>
            <a:off x="548640" y="2468880"/>
            <a:ext cx="11094415" cy="11887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468880"/>
            <a:ext cx="50800" cy="118872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651760"/>
            <a:ext cx="4572000" cy="320040"/>
          </a:xfrm>
          <a:prstGeom prst="rect">
            <a:avLst/>
          </a:prstGeom>
          <a:noFill/>
        </p:spPr>
        <p:txBody>
          <a:bodyPr wrap="square" lIns="0" tIns="0" rIns="0" bIns="0" anchor="t">
            <a:spAutoFit/>
          </a:bodyPr>
          <a:lstStyle/>
          <a:p>
            <a:pPr algn="l">
              <a:lnSpc>
                <a:spcPct val="125000"/>
              </a:lnSpc>
            </a:pPr>
            <a:r>
              <a:rPr sz="1100" b="1" i="0" spc="120">
                <a:solidFill>
                  <a:srgbClr val="7B9FE0"/>
                </a:solidFill>
                <a:latin typeface="Inter"/>
              </a:rPr>
              <a:t>IMMEDIATE · 0 TO 4 WEEKS</a:t>
            </a:r>
          </a:p>
        </p:txBody>
      </p:sp>
      <p:sp>
        <p:nvSpPr>
          <p:cNvPr id="9" name="TextBox 8"/>
          <p:cNvSpPr txBox="1"/>
          <p:nvPr/>
        </p:nvSpPr>
        <p:spPr>
          <a:xfrm>
            <a:off x="868680" y="3017520"/>
            <a:ext cx="10972800" cy="548640"/>
          </a:xfrm>
          <a:prstGeom prst="rect">
            <a:avLst/>
          </a:prstGeom>
          <a:noFill/>
        </p:spPr>
        <p:txBody>
          <a:bodyPr wrap="square" lIns="0" tIns="0" rIns="0" bIns="0" anchor="t">
            <a:spAutoFit/>
          </a:bodyPr>
          <a:lstStyle/>
          <a:p>
            <a:pPr algn="l">
              <a:lnSpc>
                <a:spcPct val="145000"/>
              </a:lnSpc>
            </a:pPr>
            <a:r>
              <a:rPr sz="1100" b="0" i="0">
                <a:solidFill>
                  <a:srgbClr val="C8CDD8"/>
                </a:solidFill>
                <a:latin typeface="Inter"/>
              </a:rPr>
              <a:t>An eye tracking study at UT's IX Lab. Sharpens the Level 1 attention claim from conceptual to measurable. Where does the learner actually look: at UI ornaments (XP, streak flame) or at linguistic content?</a:t>
            </a:r>
          </a:p>
        </p:txBody>
      </p:sp>
      <p:sp>
        <p:nvSpPr>
          <p:cNvPr id="10" name="Rectangle 9"/>
          <p:cNvSpPr/>
          <p:nvPr/>
        </p:nvSpPr>
        <p:spPr>
          <a:xfrm>
            <a:off x="548640" y="3840480"/>
            <a:ext cx="11094415" cy="11887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3840480"/>
            <a:ext cx="50800" cy="118872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4023360"/>
            <a:ext cx="4572000" cy="320040"/>
          </a:xfrm>
          <a:prstGeom prst="rect">
            <a:avLst/>
          </a:prstGeom>
          <a:noFill/>
        </p:spPr>
        <p:txBody>
          <a:bodyPr wrap="square" lIns="0" tIns="0" rIns="0" bIns="0" anchor="t">
            <a:spAutoFit/>
          </a:bodyPr>
          <a:lstStyle/>
          <a:p>
            <a:pPr algn="l">
              <a:lnSpc>
                <a:spcPct val="125000"/>
              </a:lnSpc>
            </a:pPr>
            <a:r>
              <a:rPr sz="1100" b="1" i="0" spc="120">
                <a:solidFill>
                  <a:srgbClr val="E0C27B"/>
                </a:solidFill>
                <a:latin typeface="Inter"/>
              </a:rPr>
              <a:t>NEAR TERM · 1 TO 6 MONTHS</a:t>
            </a:r>
          </a:p>
        </p:txBody>
      </p:sp>
      <p:sp>
        <p:nvSpPr>
          <p:cNvPr id="13" name="TextBox 12"/>
          <p:cNvSpPr txBox="1"/>
          <p:nvPr/>
        </p:nvSpPr>
        <p:spPr>
          <a:xfrm>
            <a:off x="868680" y="4389120"/>
            <a:ext cx="10972800" cy="548640"/>
          </a:xfrm>
          <a:prstGeom prst="rect">
            <a:avLst/>
          </a:prstGeom>
          <a:noFill/>
        </p:spPr>
        <p:txBody>
          <a:bodyPr wrap="square" lIns="0" tIns="0" rIns="0" bIns="0" anchor="t">
            <a:spAutoFit/>
          </a:bodyPr>
          <a:lstStyle/>
          <a:p>
            <a:pPr algn="l">
              <a:lnSpc>
                <a:spcPct val="145000"/>
              </a:lnSpc>
            </a:pPr>
            <a:r>
              <a:rPr sz="1100" b="0" i="0">
                <a:solidFill>
                  <a:srgbClr val="C8CDD8"/>
                </a:solidFill>
                <a:latin typeface="Inter"/>
              </a:rPr>
              <a:t>A 24 week randomized controlled trial that extends Wang (2024) in three ways: adds a dialect matched condition, extends measurement to week 24, and adds a 6 month follow up for retention. ACTFL speaking interview scored by a blinded rater. Random assignment stratified by baseline proficiency and intended use context.</a:t>
            </a:r>
          </a:p>
        </p:txBody>
      </p:sp>
      <p:sp>
        <p:nvSpPr>
          <p:cNvPr id="14" name="Rectangle 13"/>
          <p:cNvSpPr/>
          <p:nvPr/>
        </p:nvSpPr>
        <p:spPr>
          <a:xfrm>
            <a:off x="548640" y="5212080"/>
            <a:ext cx="11094415" cy="1188720"/>
          </a:xfrm>
          <a:prstGeom prst="rect">
            <a:avLst/>
          </a:prstGeom>
          <a:solidFill>
            <a:srgbClr val="1A1E26"/>
          </a:solidFill>
          <a:ln w="6350">
            <a:solidFill>
              <a:srgbClr val="282C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5212080"/>
            <a:ext cx="50800" cy="118872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5394960"/>
            <a:ext cx="4572000" cy="320040"/>
          </a:xfrm>
          <a:prstGeom prst="rect">
            <a:avLst/>
          </a:prstGeom>
          <a:noFill/>
        </p:spPr>
        <p:txBody>
          <a:bodyPr wrap="square" lIns="0" tIns="0" rIns="0" bIns="0" anchor="t">
            <a:spAutoFit/>
          </a:bodyPr>
          <a:lstStyle/>
          <a:p>
            <a:pPr algn="l">
              <a:lnSpc>
                <a:spcPct val="125000"/>
              </a:lnSpc>
            </a:pPr>
            <a:r>
              <a:rPr sz="1100" b="1" i="0" spc="120">
                <a:solidFill>
                  <a:srgbClr val="E07BAA"/>
                </a:solidFill>
                <a:latin typeface="Inter"/>
              </a:rPr>
              <a:t>LONG TERM · 6 TO 12 MONTHS</a:t>
            </a:r>
          </a:p>
        </p:txBody>
      </p:sp>
      <p:sp>
        <p:nvSpPr>
          <p:cNvPr id="17" name="TextBox 16"/>
          <p:cNvSpPr txBox="1"/>
          <p:nvPr/>
        </p:nvSpPr>
        <p:spPr>
          <a:xfrm>
            <a:off x="868680" y="5760720"/>
            <a:ext cx="10972800" cy="548640"/>
          </a:xfrm>
          <a:prstGeom prst="rect">
            <a:avLst/>
          </a:prstGeom>
          <a:noFill/>
        </p:spPr>
        <p:txBody>
          <a:bodyPr wrap="square" lIns="0" tIns="0" rIns="0" bIns="0" anchor="t">
            <a:spAutoFit/>
          </a:bodyPr>
          <a:lstStyle/>
          <a:p>
            <a:pPr algn="l">
              <a:lnSpc>
                <a:spcPct val="145000"/>
              </a:lnSpc>
            </a:pPr>
            <a:r>
              <a:rPr sz="1100" b="0" i="0">
                <a:solidFill>
                  <a:srgbClr val="C8CDD8"/>
                </a:solidFill>
                <a:latin typeface="Inter"/>
              </a:rPr>
              <a:t>A longitudinal speaking assessment, which is the metric Duolingo's outcome research has never published. Retention of productive skills at 6 and 12 months, with voice agent condition learners as the primary cell.</a:t>
            </a:r>
          </a:p>
        </p:txBody>
      </p:sp>
      <p:sp>
        <p:nvSpPr>
          <p:cNvPr id="18" name="TextBox 17"/>
          <p:cNvSpPr txBox="1"/>
          <p:nvPr/>
        </p:nvSpPr>
        <p:spPr>
          <a:xfrm>
            <a:off x="548640" y="6510528"/>
            <a:ext cx="9144000" cy="274320"/>
          </a:xfrm>
          <a:prstGeom prst="rect">
            <a:avLst/>
          </a:prstGeom>
          <a:noFill/>
        </p:spPr>
        <p:txBody>
          <a:bodyPr wrap="square" lIns="0" tIns="0" rIns="0" bIns="0" anchor="t">
            <a:spAutoFit/>
          </a:bodyPr>
          <a:lstStyle/>
          <a:p>
            <a:pPr algn="l">
              <a:lnSpc>
                <a:spcPct val="125000"/>
              </a:lnSpc>
            </a:pPr>
            <a:r>
              <a:rPr sz="900" b="0" i="0">
                <a:solidFill>
                  <a:srgbClr val="7A8290"/>
                </a:solidFill>
                <a:latin typeface="Inter"/>
              </a:rPr>
              <a:t>Language Learner Agent · AHF · 2026</a:t>
            </a:r>
          </a:p>
        </p:txBody>
      </p:sp>
      <p:sp>
        <p:nvSpPr>
          <p:cNvPr id="19" name="TextBox 18"/>
          <p:cNvSpPr txBox="1"/>
          <p:nvPr/>
        </p:nvSpPr>
        <p:spPr>
          <a:xfrm>
            <a:off x="11247120" y="6510528"/>
            <a:ext cx="731520" cy="274320"/>
          </a:xfrm>
          <a:prstGeom prst="rect">
            <a:avLst/>
          </a:prstGeom>
          <a:noFill/>
        </p:spPr>
        <p:txBody>
          <a:bodyPr wrap="square" lIns="0" tIns="0" rIns="0" bIns="0" anchor="t">
            <a:spAutoFit/>
          </a:bodyPr>
          <a:lstStyle/>
          <a:p>
            <a:pPr algn="r">
              <a:lnSpc>
                <a:spcPct val="125000"/>
              </a:lnSpc>
            </a:pPr>
            <a:r>
              <a:rPr sz="900" b="0" i="0">
                <a:solidFill>
                  <a:srgbClr val="7A8290"/>
                </a:solidFill>
                <a:latin typeface="Inter"/>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TextBox 1"/>
          <p:cNvSpPr txBox="1"/>
          <p:nvPr/>
        </p:nvSpPr>
        <p:spPr>
          <a:xfrm>
            <a:off x="548640" y="411480"/>
            <a:ext cx="6858000" cy="274320"/>
          </a:xfrm>
          <a:prstGeom prst="rect">
            <a:avLst/>
          </a:prstGeom>
          <a:noFill/>
        </p:spPr>
        <p:txBody>
          <a:bodyPr wrap="none">
            <a:spAutoFit/>
          </a:bodyPr>
          <a:lstStyle/>
          <a:p>
            <a:r>
              <a:rPr b="1" sz="1100">
                <a:solidFill>
                  <a:srgbClr val="7BE0B4"/>
                </a:solidFill>
                <a:latin typeface="Helvetica Neue"/>
              </a:rPr>
              <a:t>PROJECT CLOSE</a:t>
            </a:r>
          </a:p>
        </p:txBody>
      </p:sp>
      <p:sp>
        <p:nvSpPr>
          <p:cNvPr id="3" name="Rectangle 2"/>
          <p:cNvSpPr/>
          <p:nvPr/>
        </p:nvSpPr>
        <p:spPr>
          <a:xfrm>
            <a:off x="2560320" y="512064"/>
            <a:ext cx="9144000" cy="9144"/>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1091672" cy="1463040"/>
          </a:xfrm>
          <a:prstGeom prst="rect">
            <a:avLst/>
          </a:prstGeom>
          <a:noFill/>
        </p:spPr>
        <p:txBody>
          <a:bodyPr wrap="square">
            <a:spAutoFit/>
          </a:bodyPr>
          <a:lstStyle/>
          <a:p>
            <a:pPr algn="ctr"/>
            <a:r>
              <a:rPr sz="7200" b="1">
                <a:solidFill>
                  <a:srgbClr val="F2F3F5"/>
                </a:solidFill>
                <a:latin typeface="Helvetica Neue"/>
              </a:rPr>
              <a:t>Thank you.</a:t>
            </a:r>
          </a:p>
        </p:txBody>
      </p:sp>
      <p:sp>
        <p:nvSpPr>
          <p:cNvPr id="5" name="TextBox 4"/>
          <p:cNvSpPr txBox="1"/>
          <p:nvPr/>
        </p:nvSpPr>
        <p:spPr>
          <a:xfrm>
            <a:off x="548640" y="3703320"/>
            <a:ext cx="11091672" cy="548640"/>
          </a:xfrm>
          <a:prstGeom prst="rect">
            <a:avLst/>
          </a:prstGeom>
          <a:noFill/>
        </p:spPr>
        <p:txBody>
          <a:bodyPr wrap="none">
            <a:spAutoFit/>
          </a:bodyPr>
          <a:lstStyle/>
          <a:p>
            <a:pPr algn="ctr"/>
            <a:r>
              <a:rPr sz="2000" i="1">
                <a:solidFill>
                  <a:srgbClr val="9AA1AB"/>
                </a:solidFill>
                <a:latin typeface="Helvetica Neue"/>
              </a:rPr>
              <a:t>Recovery. Redundancy. Reduced cognitive load.</a:t>
            </a:r>
          </a:p>
        </p:txBody>
      </p:sp>
      <p:sp>
        <p:nvSpPr>
          <p:cNvPr id="6" name="Rectangle 5"/>
          <p:cNvSpPr/>
          <p:nvPr/>
        </p:nvSpPr>
        <p:spPr>
          <a:xfrm>
            <a:off x="3108960" y="4754880"/>
            <a:ext cx="5943600" cy="118872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0" y="4937760"/>
            <a:ext cx="5943600" cy="365760"/>
          </a:xfrm>
          <a:prstGeom prst="rect">
            <a:avLst/>
          </a:prstGeom>
          <a:noFill/>
        </p:spPr>
        <p:txBody>
          <a:bodyPr wrap="none">
            <a:spAutoFit/>
          </a:bodyPr>
          <a:lstStyle/>
          <a:p>
            <a:pPr algn="ctr"/>
            <a:r>
              <a:rPr b="1" sz="1100">
                <a:solidFill>
                  <a:srgbClr val="7B9FE0"/>
                </a:solidFill>
                <a:latin typeface="Helvetica Neue"/>
              </a:rPr>
              <a:t>PRESTON CUSICK · ANEESH HARWALKAR</a:t>
            </a:r>
          </a:p>
        </p:txBody>
      </p:sp>
      <p:sp>
        <p:nvSpPr>
          <p:cNvPr id="8" name="TextBox 7"/>
          <p:cNvSpPr txBox="1"/>
          <p:nvPr/>
        </p:nvSpPr>
        <p:spPr>
          <a:xfrm>
            <a:off x="3108960" y="5285232"/>
            <a:ext cx="5943600" cy="320040"/>
          </a:xfrm>
          <a:prstGeom prst="rect">
            <a:avLst/>
          </a:prstGeom>
          <a:noFill/>
        </p:spPr>
        <p:txBody>
          <a:bodyPr wrap="none">
            <a:spAutoFit/>
          </a:bodyPr>
          <a:lstStyle/>
          <a:p>
            <a:pPr algn="ctr"/>
            <a:r>
              <a:rPr sz="1300">
                <a:solidFill>
                  <a:srgbClr val="F2F3F5"/>
                </a:solidFill>
                <a:latin typeface="Helvetica Neue"/>
              </a:rPr>
              <a:t>Applied Human Factors · Spring 2026 · Prof. John L. Neumann, Ph.D.</a:t>
            </a:r>
          </a:p>
        </p:txBody>
      </p:sp>
      <p:sp>
        <p:nvSpPr>
          <p:cNvPr id="9" name="TextBox 8"/>
          <p:cNvSpPr txBox="1"/>
          <p:nvPr/>
        </p:nvSpPr>
        <p:spPr>
          <a:xfrm>
            <a:off x="3108960" y="5605272"/>
            <a:ext cx="5943600" cy="320040"/>
          </a:xfrm>
          <a:prstGeom prst="rect">
            <a:avLst/>
          </a:prstGeom>
          <a:noFill/>
        </p:spPr>
        <p:txBody>
          <a:bodyPr wrap="none">
            <a:spAutoFit/>
          </a:bodyPr>
          <a:lstStyle/>
          <a:p>
            <a:pPr algn="ctr"/>
            <a:r>
              <a:rPr sz="1100">
                <a:solidFill>
                  <a:srgbClr val="656B75"/>
                </a:solidFill>
                <a:latin typeface="Menlo"/>
              </a:rPr>
              <a:t>github.com/aneeshharwalkar/language-learner-agent</a:t>
            </a:r>
          </a:p>
        </p:txBody>
      </p:sp>
      <p:sp>
        <p:nvSpPr>
          <p:cNvPr id="10" name="TextBox 9"/>
          <p:cNvSpPr txBox="1"/>
          <p:nvPr/>
        </p:nvSpPr>
        <p:spPr>
          <a:xfrm>
            <a:off x="548640" y="6510528"/>
            <a:ext cx="9144000" cy="274320"/>
          </a:xfrm>
          <a:prstGeom prst="rect">
            <a:avLst/>
          </a:prstGeom>
          <a:noFill/>
        </p:spPr>
        <p:txBody>
          <a:bodyPr wrap="none">
            <a:spAutoFit/>
          </a:bodyPr>
          <a:lstStyle/>
          <a:p>
            <a:r>
              <a:rPr sz="900">
                <a:solidFill>
                  <a:srgbClr val="656B75"/>
                </a:solidFill>
                <a:latin typeface="Helvetica Neue"/>
              </a:rPr>
              <a:t>Language Learner Agent · AHF · 2026</a:t>
            </a:r>
          </a:p>
        </p:txBody>
      </p:sp>
      <p:sp>
        <p:nvSpPr>
          <p:cNvPr id="11" name="TextBox 10"/>
          <p:cNvSpPr txBox="1"/>
          <p:nvPr/>
        </p:nvSpPr>
        <p:spPr>
          <a:xfrm>
            <a:off x="11247120" y="6510528"/>
            <a:ext cx="731520" cy="274320"/>
          </a:xfrm>
          <a:prstGeom prst="rect">
            <a:avLst/>
          </a:prstGeom>
          <a:noFill/>
        </p:spPr>
        <p:txBody>
          <a:bodyPr wrap="none">
            <a:spAutoFit/>
          </a:bodyPr>
          <a:lstStyle/>
          <a:p>
            <a:pPr algn="r"/>
            <a:r>
              <a:rPr sz="900">
                <a:solidFill>
                  <a:srgbClr val="656B75"/>
                </a:solidFill>
                <a:latin typeface="Helvetica Neue"/>
              </a:rPr>
              <a:t>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138</TotalTime>
  <Words>6316</Words>
  <Application>Microsoft Macintosh PowerPoint</Application>
  <PresentationFormat>Widescreen</PresentationFormat>
  <Paragraphs>599</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Cusick, Preston V</cp:lastModifiedBy>
  <cp:revision>25</cp:revision>
  <dcterms:created xsi:type="dcterms:W3CDTF">2013-01-27T09:14:16Z</dcterms:created>
  <dcterms:modified xsi:type="dcterms:W3CDTF">2026-04-25T03:43:40Z</dcterms:modified>
  <cp:category/>
</cp:coreProperties>
</file>